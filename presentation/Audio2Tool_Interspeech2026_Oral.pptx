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Queries</c:v>
                </c:pt>
              </c:strCache>
            </c:strRef>
          </c:tx>
          <c:spPr>
            <a:solidFill>
              <a:srgbClr val="0FA3B1"/>
            </a:solidFill>
            <a:effectLst/>
          </c:spPr>
          <c:invertIfNegative val="0"/>
          <c:dLbls>
            <c:numFmt formatCode="#,##0" sourceLinked="0"/>
            <c:txPr>
              <a:bodyPr/>
              <a:lstStyle/>
              <a:p>
                <a:pPr>
                  <a:defRPr b="0" i="0" strike="noStrike" sz="1100" u="none">
                    <a:solidFill>
                      <a:srgbClr val="0F1B2D"/>
                    </a:solidFill>
                    <a:latin typeface="Calibri"/>
                  </a:defRPr>
                </a:pPr>
              </a:p>
            </c:txPr>
            <c:showLegendKey val="0"/>
            <c:showVal val="1"/>
            <c:showCatName val="0"/>
            <c:showSerName val="0"/>
            <c:showPercent val="0"/>
            <c:showBubbleSize val="0"/>
            <c:showLeaderLines val="0"/>
          </c:dLbls>
          <c:cat>
            <c:multiLvlStrRef>
              <c:f>Sheet1!$A$2:$A$9</c:f>
              <c:multiLvlStrCache>
                <c:ptCount val="8"/>
                <c:lvl>
                  <c:pt idx="0">
                    <c:v>T1</c:v>
                  </c:pt>
                  <c:pt idx="1">
                    <c:v>T2</c:v>
                  </c:pt>
                  <c:pt idx="2">
                    <c:v>T3</c:v>
                  </c:pt>
                  <c:pt idx="3">
                    <c:v>T4</c:v>
                  </c:pt>
                  <c:pt idx="4">
                    <c:v>T5</c:v>
                  </c:pt>
                  <c:pt idx="5">
                    <c:v>T6</c:v>
                  </c:pt>
                  <c:pt idx="6">
                    <c:v>T7</c:v>
                  </c:pt>
                  <c:pt idx="7">
                    <c:v>T8</c:v>
                  </c:pt>
                </c:lvl>
              </c:multiLvlStrCache>
            </c:multiLvlStrRef>
          </c:cat>
          <c:val>
            <c:numRef>
              <c:f>Sheet1!$B$2:$B$9</c:f>
              <c:numCache>
                <c:formatCode>General</c:formatCode>
                <c:ptCount val="8"/>
                <c:pt idx="0">
                  <c:v>1080</c:v>
                </c:pt>
                <c:pt idx="1">
                  <c:v>5800</c:v>
                </c:pt>
                <c:pt idx="2">
                  <c:v>4560</c:v>
                </c:pt>
                <c:pt idx="3">
                  <c:v>4560</c:v>
                </c:pt>
                <c:pt idx="4">
                  <c:v>4560</c:v>
                </c:pt>
                <c:pt idx="5">
                  <c:v>4560</c:v>
                </c:pt>
                <c:pt idx="6">
                  <c:v>4560</c:v>
                </c:pt>
                <c:pt idx="7">
                  <c:v>1000</c:v>
                </c:pt>
              </c:numCache>
            </c:numRef>
          </c:val>
        </c:ser>
        <c:dLbls>
          <c:numFmt formatCode="#,##0" sourceLinked="0"/>
          <c:txPr>
            <a:bodyPr/>
            <a:lstStyle/>
            <a:p>
              <a:pPr>
                <a:defRPr b="0" i="0" strike="noStrike" sz="1100" u="none">
                  <a:solidFill>
                    <a:srgbClr val="0F1B2D"/>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F"/>
                </a:solidFill>
                <a:latin typeface="Calibri"/>
              </a:defRPr>
            </a:pPr>
            <a:endParaRPr lang="en-US"/>
          </a:p>
        </c:txPr>
        <c:crossAx val="2094734552"/>
        <c:crosses val="autoZero"/>
        <c:auto val="1"/>
        <c:lblAlgn val="ctr"/>
        <c:noMultiLvlLbl val="1"/>
      </c:catAx>
      <c:valAx>
        <c:axId val="2094734552"/>
        <c:scaling>
          <c:orientation val="minMax"/>
          <c:max val="7000"/>
          <c:min val="0"/>
        </c:scaling>
        <c:delete val="0"/>
        <c:axPos val="l"/>
        <c:majorGridlines>
          <c:spPr>
            <a:ln w="6350" cap="flat">
              <a:solidFill>
                <a:srgbClr val="E5E9F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B7F"/>
                </a:solidFill>
                <a:latin typeface="Calibri"/>
              </a:defRPr>
            </a:pPr>
            <a:endParaRPr lang="en-US"/>
          </a:p>
        </c:txPr>
        <c:crossAx val="2094734554"/>
        <c:crosses val="autoZero"/>
        <c:crossBetween val="between"/>
        <c:majorUnit val="2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Qwen3-Omni-30B (end-to-end)</c:v>
                </c:pt>
              </c:strCache>
            </c:strRef>
          </c:tx>
          <c:spPr>
            <a:solidFill>
              <a:srgbClr val="0FA3B1"/>
            </a:solidFill>
            <a:ln w="31750" cap="flat">
              <a:solidFill>
                <a:srgbClr val="0FA3B1"/>
              </a:solidFill>
              <a:prstDash val="solid"/>
              <a:round/>
            </a:ln>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8"/>
            <c:spPr>
              <a:solidFill>
                <a:srgbClr val="0FA3B1"/>
              </a:solidFill>
              <a:ln w="9525" cap="flat">
                <a:solidFill>
                  <a:srgbClr val="0FA3B1"/>
                </a:solidFill>
                <a:prstDash val="solid"/>
                <a:round/>
              </a:ln>
              <a:effectLst/>
            </c:spPr>
          </c:marker>
          <c:cat>
            <c:multiLvlStrRef>
              <c:f>Sheet1!$A$2:$A$9</c:f>
              <c:multiLvlStrCache>
                <c:ptCount val="8"/>
                <c:lvl>
                  <c:pt idx="0">
                    <c:v>T1 Direct</c:v>
                  </c:pt>
                  <c:pt idx="1">
                    <c:v>T2 Parametric</c:v>
                  </c:pt>
                  <c:pt idx="2">
                    <c:v>T3 Multi-intent</c:v>
                  </c:pt>
                  <c:pt idx="3">
                    <c:v>T4 Implicit</c:v>
                  </c:pt>
                  <c:pt idx="4">
                    <c:v>T5 Needle</c:v>
                  </c:pt>
                  <c:pt idx="5">
                    <c:v>T6 Correction</c:v>
                  </c:pt>
                  <c:pt idx="6">
                    <c:v>T7 Conversation</c:v>
                  </c:pt>
                  <c:pt idx="7">
                    <c:v>T8 Intent blend</c:v>
                  </c:pt>
                </c:lvl>
              </c:multiLvlStrCache>
            </c:multiLvlStrRef>
          </c:cat>
          <c:val>
            <c:numRef>
              <c:f>Sheet1!$B$2:$B$9</c:f>
              <c:numCache>
                <c:formatCode>General</c:formatCode>
                <c:ptCount val="8"/>
                <c:pt idx="0">
                  <c:v>92.4</c:v>
                </c:pt>
                <c:pt idx="1">
                  <c:v>84.6</c:v>
                </c:pt>
                <c:pt idx="2">
                  <c:v>74.7</c:v>
                </c:pt>
                <c:pt idx="3">
                  <c:v>33.4</c:v>
                </c:pt>
                <c:pt idx="4">
                  <c:v>90.6</c:v>
                </c:pt>
                <c:pt idx="5">
                  <c:v>81.5</c:v>
                </c:pt>
                <c:pt idx="6">
                  <c:v>54.6</c:v>
                </c:pt>
                <c:pt idx="7">
                  <c:v>41.7</c:v>
                </c:pt>
              </c:numCache>
            </c:numRef>
          </c:val>
          <c:smooth val="0"/>
        </c:ser>
        <c:ser>
          <c:idx val="1"/>
          <c:order val="1"/>
          <c:tx>
            <c:strRef>
              <c:f>Sheet1!$C$1</c:f>
              <c:strCache>
                <c:ptCount val="1"/>
                <c:pt idx="0">
                  <c:v>Whisper-v3 + Gemma-3-27B (cascade)</c:v>
                </c:pt>
              </c:strCache>
            </c:strRef>
          </c:tx>
          <c:spPr>
            <a:solidFill>
              <a:srgbClr val="E4572E"/>
            </a:solidFill>
            <a:ln w="31750" cap="flat">
              <a:solidFill>
                <a:srgbClr val="E4572E"/>
              </a:solidFill>
              <a:prstDash val="solid"/>
              <a:round/>
            </a:ln>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8"/>
            <c:spPr>
              <a:solidFill>
                <a:srgbClr val="E4572E"/>
              </a:solidFill>
              <a:ln w="9525" cap="flat">
                <a:solidFill>
                  <a:srgbClr val="E4572E"/>
                </a:solidFill>
                <a:prstDash val="solid"/>
                <a:round/>
              </a:ln>
              <a:effectLst/>
            </c:spPr>
          </c:marker>
          <c:cat>
            <c:multiLvlStrRef>
              <c:f>Sheet1!$A$2:$A$9</c:f>
              <c:multiLvlStrCache>
                <c:ptCount val="8"/>
                <c:lvl>
                  <c:pt idx="0">
                    <c:v>T1 Direct</c:v>
                  </c:pt>
                  <c:pt idx="1">
                    <c:v>T2 Parametric</c:v>
                  </c:pt>
                  <c:pt idx="2">
                    <c:v>T3 Multi-intent</c:v>
                  </c:pt>
                  <c:pt idx="3">
                    <c:v>T4 Implicit</c:v>
                  </c:pt>
                  <c:pt idx="4">
                    <c:v>T5 Needle</c:v>
                  </c:pt>
                  <c:pt idx="5">
                    <c:v>T6 Correction</c:v>
                  </c:pt>
                  <c:pt idx="6">
                    <c:v>T7 Conversation</c:v>
                  </c:pt>
                  <c:pt idx="7">
                    <c:v>T8 Intent blend</c:v>
                  </c:pt>
                </c:lvl>
              </c:multiLvlStrCache>
            </c:multiLvlStrRef>
          </c:cat>
          <c:val>
            <c:numRef>
              <c:f>Sheet1!$C$2:$C$9</c:f>
              <c:numCache>
                <c:formatCode>General</c:formatCode>
                <c:ptCount val="8"/>
                <c:pt idx="0">
                  <c:v>87.9</c:v>
                </c:pt>
                <c:pt idx="1">
                  <c:v>78.9</c:v>
                </c:pt>
                <c:pt idx="2">
                  <c:v>62.8</c:v>
                </c:pt>
                <c:pt idx="3">
                  <c:v>26.3</c:v>
                </c:pt>
                <c:pt idx="4">
                  <c:v>82.7</c:v>
                </c:pt>
                <c:pt idx="5">
                  <c:v>77.1</c:v>
                </c:pt>
                <c:pt idx="6">
                  <c:v>56.2</c:v>
                </c:pt>
                <c:pt idx="7">
                  <c:v>50.5</c:v>
                </c:pt>
              </c:numCache>
            </c:numRef>
          </c:val>
          <c:smooth val="0"/>
        </c:ser>
        <c:ser>
          <c:idx val="2"/>
          <c:order val="2"/>
          <c:tx>
            <c:strRef>
              <c:f>Sheet1!$D$1</c:f>
              <c:strCache>
                <c:ptCount val="1"/>
                <c:pt idx="0">
                  <c:v>Kimi-Audio-7B (end-to-end)</c:v>
                </c:pt>
              </c:strCache>
            </c:strRef>
          </c:tx>
          <c:spPr>
            <a:solidFill>
              <a:srgbClr val="F2A93B"/>
            </a:solidFill>
            <a:ln w="31750" cap="flat">
              <a:solidFill>
                <a:srgbClr val="F2A93B"/>
              </a:solidFill>
              <a:prstDash val="solid"/>
              <a:round/>
            </a:ln>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8"/>
            <c:spPr>
              <a:solidFill>
                <a:srgbClr val="F2A93B"/>
              </a:solidFill>
              <a:ln w="9525" cap="flat">
                <a:solidFill>
                  <a:srgbClr val="F2A93B"/>
                </a:solidFill>
                <a:prstDash val="solid"/>
                <a:round/>
              </a:ln>
              <a:effectLst/>
            </c:spPr>
          </c:marker>
          <c:cat>
            <c:multiLvlStrRef>
              <c:f>Sheet1!$A$2:$A$9</c:f>
              <c:multiLvlStrCache>
                <c:ptCount val="8"/>
                <c:lvl>
                  <c:pt idx="0">
                    <c:v>T1 Direct</c:v>
                  </c:pt>
                  <c:pt idx="1">
                    <c:v>T2 Parametric</c:v>
                  </c:pt>
                  <c:pt idx="2">
                    <c:v>T3 Multi-intent</c:v>
                  </c:pt>
                  <c:pt idx="3">
                    <c:v>T4 Implicit</c:v>
                  </c:pt>
                  <c:pt idx="4">
                    <c:v>T5 Needle</c:v>
                  </c:pt>
                  <c:pt idx="5">
                    <c:v>T6 Correction</c:v>
                  </c:pt>
                  <c:pt idx="6">
                    <c:v>T7 Conversation</c:v>
                  </c:pt>
                  <c:pt idx="7">
                    <c:v>T8 Intent blend</c:v>
                  </c:pt>
                </c:lvl>
              </c:multiLvlStrCache>
            </c:multiLvlStrRef>
          </c:cat>
          <c:val>
            <c:numRef>
              <c:f>Sheet1!$D$2:$D$9</c:f>
              <c:numCache>
                <c:formatCode>General</c:formatCode>
                <c:ptCount val="8"/>
                <c:pt idx="0">
                  <c:v>75.4</c:v>
                </c:pt>
                <c:pt idx="1">
                  <c:v>75.6</c:v>
                </c:pt>
                <c:pt idx="2">
                  <c:v>46.5</c:v>
                </c:pt>
                <c:pt idx="3">
                  <c:v>20.5</c:v>
                </c:pt>
                <c:pt idx="4">
                  <c:v>70.6</c:v>
                </c:pt>
                <c:pt idx="5">
                  <c:v>65.3</c:v>
                </c:pt>
                <c:pt idx="6">
                  <c:v>45.7</c:v>
                </c:pt>
                <c:pt idx="7">
                  <c:v>37.8</c:v>
                </c:pt>
              </c:numCache>
            </c:numRef>
          </c:val>
          <c:smooth val="0"/>
        </c:ser>
        <c:ser>
          <c:idx val="3"/>
          <c:order val="3"/>
          <c:tx>
            <c:strRef>
              <c:f>Sheet1!$E$1</c:f>
              <c:strCache>
                <c:ptCount val="1"/>
                <c:pt idx="0">
                  <c:v>Step-Audio-2-7B (end-to-end)</c:v>
                </c:pt>
              </c:strCache>
            </c:strRef>
          </c:tx>
          <c:spPr>
            <a:solidFill>
              <a:srgbClr val="8A97A8"/>
            </a:solidFill>
            <a:ln w="31750" cap="flat">
              <a:solidFill>
                <a:srgbClr val="8A97A8"/>
              </a:solidFill>
              <a:prstDash val="solid"/>
              <a:round/>
            </a:ln>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8"/>
            <c:spPr>
              <a:solidFill>
                <a:srgbClr val="8A97A8"/>
              </a:solidFill>
              <a:ln w="9525" cap="flat">
                <a:solidFill>
                  <a:srgbClr val="8A97A8"/>
                </a:solidFill>
                <a:prstDash val="solid"/>
                <a:round/>
              </a:ln>
              <a:effectLst/>
            </c:spPr>
          </c:marker>
          <c:cat>
            <c:multiLvlStrRef>
              <c:f>Sheet1!$A$2:$A$9</c:f>
              <c:multiLvlStrCache>
                <c:ptCount val="8"/>
                <c:lvl>
                  <c:pt idx="0">
                    <c:v>T1 Direct</c:v>
                  </c:pt>
                  <c:pt idx="1">
                    <c:v>T2 Parametric</c:v>
                  </c:pt>
                  <c:pt idx="2">
                    <c:v>T3 Multi-intent</c:v>
                  </c:pt>
                  <c:pt idx="3">
                    <c:v>T4 Implicit</c:v>
                  </c:pt>
                  <c:pt idx="4">
                    <c:v>T5 Needle</c:v>
                  </c:pt>
                  <c:pt idx="5">
                    <c:v>T6 Correction</c:v>
                  </c:pt>
                  <c:pt idx="6">
                    <c:v>T7 Conversation</c:v>
                  </c:pt>
                  <c:pt idx="7">
                    <c:v>T8 Intent blend</c:v>
                  </c:pt>
                </c:lvl>
              </c:multiLvlStrCache>
            </c:multiLvlStrRef>
          </c:cat>
          <c:val>
            <c:numRef>
              <c:f>Sheet1!$E$2:$E$9</c:f>
              <c:numCache>
                <c:formatCode>General</c:formatCode>
                <c:ptCount val="8"/>
                <c:pt idx="0">
                  <c:v>77.9</c:v>
                </c:pt>
                <c:pt idx="1">
                  <c:v>76.5</c:v>
                </c:pt>
                <c:pt idx="2">
                  <c:v>41.4</c:v>
                </c:pt>
                <c:pt idx="3">
                  <c:v>15.1</c:v>
                </c:pt>
                <c:pt idx="4">
                  <c:v>64.4</c:v>
                </c:pt>
                <c:pt idx="5">
                  <c:v>58.2</c:v>
                </c:pt>
                <c:pt idx="6">
                  <c:v>40.8</c:v>
                </c:pt>
                <c:pt idx="7">
                  <c:v>34.2</c:v>
                </c:pt>
              </c:numCache>
            </c:numRef>
          </c:val>
          <c:smooth val="0"/>
        </c:ser>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7F"/>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9F0"/>
              </a:solidFill>
              <a:prstDash val="solid"/>
              <a:round/>
            </a:ln>
          </c:spPr>
        </c:majorGridlines>
        <c:title>
          <c:tx>
            <c:rich>
              <a:bodyPr/>
              <a:lstStyle/>
              <a:p>
                <a:pPr>
                  <a:defRPr sz="1100" b="0" i="0" u="none" strike="noStrike">
                    <a:solidFill>
                      <a:srgbClr val="5B6B7F"/>
                    </a:solidFill>
                    <a:latin typeface="Calibri"/>
                  </a:defRPr>
                </a:pPr>
                <a:r>
                  <a:rPr sz="1100" b="0" i="0" u="none" strike="noStrike">
                    <a:solidFill>
                      <a:srgbClr val="5B6B7F"/>
                    </a:solidFill>
                    <a:latin typeface="Calibri"/>
                  </a:rPr>
                  <a:t>Tool accuracy (%)</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5B6B7F"/>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0F1B2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Tool accuracy</c:v>
                </c:pt>
              </c:strCache>
            </c:strRef>
          </c:tx>
          <c:spPr>
            <a:solidFill>
              <a:srgbClr val="0FA3B1"/>
            </a:solidFill>
            <a:effectLst/>
          </c:spPr>
          <c:invertIfNegative val="0"/>
          <c:dLbls>
            <c:numFmt formatCode="0.0" sourceLinked="0"/>
            <c:txPr>
              <a:bodyPr/>
              <a:lstStyle/>
              <a:p>
                <a:pPr>
                  <a:defRPr b="0" i="0" strike="noStrike" sz="1050" u="none">
                    <a:solidFill>
                      <a:srgbClr val="0F1B2D"/>
                    </a:solidFill>
                    <a:latin typeface="Calibri"/>
                  </a:defRPr>
                </a:pPr>
              </a:p>
            </c:txPr>
            <c:showLegendKey val="0"/>
            <c:showVal val="1"/>
            <c:showCatName val="0"/>
            <c:showSerName val="0"/>
            <c:showPercent val="0"/>
            <c:showBubbleSize val="0"/>
            <c:showLeaderLines val="0"/>
          </c:dLbls>
          <c:cat>
            <c:multiLvlStrRef>
              <c:f>Sheet1!$A$2:$A$7</c:f>
              <c:multiLvlStrCache>
                <c:ptCount val="6"/>
                <c:lvl>
                  <c:pt idx="0">
                    <c:v>Qwen3-Omni-30B</c:v>
                  </c:pt>
                  <c:pt idx="1">
                    <c:v>Qwen2.5-Omni-7B</c:v>
                  </c:pt>
                  <c:pt idx="2">
                    <c:v>Step-Audio-2-7B</c:v>
                  </c:pt>
                  <c:pt idx="3">
                    <c:v>Kimi-Audio-7B</c:v>
                  </c:pt>
                  <c:pt idx="4">
                    <c:v>Whisper + Gemma-27B</c:v>
                  </c:pt>
                  <c:pt idx="5">
                    <c:v>Oracle text + Gemma-12B</c:v>
                  </c:pt>
                </c:lvl>
              </c:multiLvlStrCache>
            </c:multiLvlStrRef>
          </c:cat>
          <c:val>
            <c:numRef>
              <c:f>Sheet1!$B$2:$B$7</c:f>
              <c:numCache>
                <c:formatCode>General</c:formatCode>
                <c:ptCount val="6"/>
                <c:pt idx="0">
                  <c:v>84.6</c:v>
                </c:pt>
                <c:pt idx="1">
                  <c:v>80.6</c:v>
                </c:pt>
                <c:pt idx="2">
                  <c:v>76.5</c:v>
                </c:pt>
                <c:pt idx="3">
                  <c:v>75.6</c:v>
                </c:pt>
                <c:pt idx="4">
                  <c:v>78.9</c:v>
                </c:pt>
                <c:pt idx="5">
                  <c:v>78.3</c:v>
                </c:pt>
              </c:numCache>
            </c:numRef>
          </c:val>
        </c:ser>
        <c:ser>
          <c:idx val="1"/>
          <c:order val="1"/>
          <c:tx>
            <c:strRef>
              <c:f>Sheet1!$C$1</c:f>
              <c:strCache>
                <c:ptCount val="1"/>
                <c:pt idx="0">
                  <c:v>Exact match (tool + all arguments)</c:v>
                </c:pt>
              </c:strCache>
            </c:strRef>
          </c:tx>
          <c:spPr>
            <a:solidFill>
              <a:srgbClr val="E4572E"/>
            </a:solidFill>
            <a:effectLst/>
          </c:spPr>
          <c:invertIfNegative val="0"/>
          <c:dLbls>
            <c:numFmt formatCode="0.0" sourceLinked="0"/>
            <c:txPr>
              <a:bodyPr/>
              <a:lstStyle/>
              <a:p>
                <a:pPr>
                  <a:defRPr b="0" i="0" strike="noStrike" sz="1050" u="none">
                    <a:solidFill>
                      <a:srgbClr val="0F1B2D"/>
                    </a:solidFill>
                    <a:latin typeface="Calibri"/>
                  </a:defRPr>
                </a:pPr>
              </a:p>
            </c:txPr>
            <c:showLegendKey val="0"/>
            <c:showVal val="1"/>
            <c:showCatName val="0"/>
            <c:showSerName val="0"/>
            <c:showPercent val="0"/>
            <c:showBubbleSize val="0"/>
            <c:showLeaderLines val="0"/>
          </c:dLbls>
          <c:cat>
            <c:multiLvlStrRef>
              <c:f>Sheet1!$A$2:$A$7</c:f>
              <c:multiLvlStrCache>
                <c:ptCount val="6"/>
                <c:lvl>
                  <c:pt idx="0">
                    <c:v>Qwen3-Omni-30B</c:v>
                  </c:pt>
                  <c:pt idx="1">
                    <c:v>Qwen2.5-Omni-7B</c:v>
                  </c:pt>
                  <c:pt idx="2">
                    <c:v>Step-Audio-2-7B</c:v>
                  </c:pt>
                  <c:pt idx="3">
                    <c:v>Kimi-Audio-7B</c:v>
                  </c:pt>
                  <c:pt idx="4">
                    <c:v>Whisper + Gemma-27B</c:v>
                  </c:pt>
                  <c:pt idx="5">
                    <c:v>Oracle text + Gemma-12B</c:v>
                  </c:pt>
                </c:lvl>
              </c:multiLvlStrCache>
            </c:multiLvlStrRef>
          </c:cat>
          <c:val>
            <c:numRef>
              <c:f>Sheet1!$C$2:$C$7</c:f>
              <c:numCache>
                <c:formatCode>General</c:formatCode>
                <c:ptCount val="6"/>
                <c:pt idx="0">
                  <c:v>15.6</c:v>
                </c:pt>
                <c:pt idx="1">
                  <c:v>14.7</c:v>
                </c:pt>
                <c:pt idx="2">
                  <c:v>14.1</c:v>
                </c:pt>
                <c:pt idx="3">
                  <c:v>12.4</c:v>
                </c:pt>
                <c:pt idx="4">
                  <c:v>10.2</c:v>
                </c:pt>
                <c:pt idx="5">
                  <c:v>12.3</c:v>
                </c:pt>
              </c:numCache>
            </c:numRef>
          </c:val>
        </c:ser>
        <c:dLbls>
          <c:numFmt formatCode="0.0" sourceLinked="0"/>
          <c:txPr>
            <a:bodyPr/>
            <a:lstStyle/>
            <a:p>
              <a:pPr>
                <a:defRPr b="0" i="0" strike="noStrike" sz="1050" u="none">
                  <a:solidFill>
                    <a:srgbClr val="0F1B2D"/>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7F"/>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9F0"/>
              </a:solidFill>
              <a:prstDash val="solid"/>
              <a:round/>
            </a:ln>
          </c:spPr>
        </c:majorGridlines>
        <c:title>
          <c:tx>
            <c:rich>
              <a:bodyPr/>
              <a:lstStyle/>
              <a:p>
                <a:pPr>
                  <a:defRPr sz="1100" b="0" i="0" u="none" strike="noStrike">
                    <a:solidFill>
                      <a:srgbClr val="5B6B7F"/>
                    </a:solidFill>
                    <a:latin typeface="Calibri"/>
                  </a:defRPr>
                </a:pPr>
                <a:r>
                  <a:rPr sz="1100" b="0" i="0" u="none" strike="noStrike">
                    <a:solidFill>
                      <a:srgbClr val="5B6B7F"/>
                    </a:solidFill>
                    <a:latin typeface="Calibri"/>
                  </a:rPr>
                  <a:t>Tier 2 · Parametric (%)</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5B6B7F"/>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0F1B2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Qwen3-Omni-30B (end-to-end)</c:v>
                </c:pt>
              </c:strCache>
            </c:strRef>
          </c:tx>
          <c:spPr>
            <a:solidFill>
              <a:srgbClr val="0FA3B1"/>
            </a:solidFill>
            <a:ln w="31750" cap="flat">
              <a:solidFill>
                <a:srgbClr val="0FA3B1"/>
              </a:solidFill>
              <a:prstDash val="solid"/>
              <a:round/>
            </a:ln>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8"/>
            <c:spPr>
              <a:solidFill>
                <a:srgbClr val="0FA3B1"/>
              </a:solidFill>
              <a:ln w="9525" cap="flat">
                <a:solidFill>
                  <a:srgbClr val="0FA3B1"/>
                </a:solidFill>
                <a:prstDash val="solid"/>
                <a:round/>
              </a:ln>
              <a:effectLst/>
            </c:spPr>
          </c:marker>
          <c:cat>
            <c:multiLvlStrRef>
              <c:f>Sheet1!$A$2:$A$9</c:f>
              <c:multiLvlStrCache>
                <c:ptCount val="8"/>
                <c:lvl>
                  <c:pt idx="0">
                    <c:v>T1</c:v>
                  </c:pt>
                  <c:pt idx="1">
                    <c:v>T2</c:v>
                  </c:pt>
                  <c:pt idx="2">
                    <c:v>T3</c:v>
                  </c:pt>
                  <c:pt idx="3">
                    <c:v>T4</c:v>
                  </c:pt>
                  <c:pt idx="4">
                    <c:v>T5</c:v>
                  </c:pt>
                  <c:pt idx="5">
                    <c:v>T6</c:v>
                  </c:pt>
                  <c:pt idx="6">
                    <c:v>T7</c:v>
                  </c:pt>
                  <c:pt idx="7">
                    <c:v>T8</c:v>
                  </c:pt>
                </c:lvl>
              </c:multiLvlStrCache>
            </c:multiLvlStrRef>
          </c:cat>
          <c:val>
            <c:numRef>
              <c:f>Sheet1!$B$2:$B$9</c:f>
              <c:numCache>
                <c:formatCode>General</c:formatCode>
                <c:ptCount val="8"/>
                <c:pt idx="0">
                  <c:v>92.4</c:v>
                </c:pt>
                <c:pt idx="1">
                  <c:v>84.6</c:v>
                </c:pt>
                <c:pt idx="2">
                  <c:v>74.7</c:v>
                </c:pt>
                <c:pt idx="3">
                  <c:v>33.4</c:v>
                </c:pt>
                <c:pt idx="4">
                  <c:v>90.6</c:v>
                </c:pt>
                <c:pt idx="5">
                  <c:v>81.5</c:v>
                </c:pt>
                <c:pt idx="6">
                  <c:v>54.6</c:v>
                </c:pt>
                <c:pt idx="7">
                  <c:v>41.7</c:v>
                </c:pt>
              </c:numCache>
            </c:numRef>
          </c:val>
          <c:smooth val="0"/>
        </c:ser>
        <c:ser>
          <c:idx val="1"/>
          <c:order val="1"/>
          <c:tx>
            <c:strRef>
              <c:f>Sheet1!$C$1</c:f>
              <c:strCache>
                <c:ptCount val="1"/>
                <c:pt idx="0">
                  <c:v>Whisper-v3 + Gemma-3-27B (cascade)</c:v>
                </c:pt>
              </c:strCache>
            </c:strRef>
          </c:tx>
          <c:spPr>
            <a:solidFill>
              <a:srgbClr val="E4572E"/>
            </a:solidFill>
            <a:ln w="31750" cap="flat">
              <a:solidFill>
                <a:srgbClr val="E4572E"/>
              </a:solidFill>
              <a:prstDash val="solid"/>
              <a:round/>
            </a:ln>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8"/>
            <c:spPr>
              <a:solidFill>
                <a:srgbClr val="E4572E"/>
              </a:solidFill>
              <a:ln w="9525" cap="flat">
                <a:solidFill>
                  <a:srgbClr val="E4572E"/>
                </a:solidFill>
                <a:prstDash val="solid"/>
                <a:round/>
              </a:ln>
              <a:effectLst/>
            </c:spPr>
          </c:marker>
          <c:cat>
            <c:multiLvlStrRef>
              <c:f>Sheet1!$A$2:$A$9</c:f>
              <c:multiLvlStrCache>
                <c:ptCount val="8"/>
                <c:lvl>
                  <c:pt idx="0">
                    <c:v>T1</c:v>
                  </c:pt>
                  <c:pt idx="1">
                    <c:v>T2</c:v>
                  </c:pt>
                  <c:pt idx="2">
                    <c:v>T3</c:v>
                  </c:pt>
                  <c:pt idx="3">
                    <c:v>T4</c:v>
                  </c:pt>
                  <c:pt idx="4">
                    <c:v>T5</c:v>
                  </c:pt>
                  <c:pt idx="5">
                    <c:v>T6</c:v>
                  </c:pt>
                  <c:pt idx="6">
                    <c:v>T7</c:v>
                  </c:pt>
                  <c:pt idx="7">
                    <c:v>T8</c:v>
                  </c:pt>
                </c:lvl>
              </c:multiLvlStrCache>
            </c:multiLvlStrRef>
          </c:cat>
          <c:val>
            <c:numRef>
              <c:f>Sheet1!$C$2:$C$9</c:f>
              <c:numCache>
                <c:formatCode>General</c:formatCode>
                <c:ptCount val="8"/>
                <c:pt idx="0">
                  <c:v>87.9</c:v>
                </c:pt>
                <c:pt idx="1">
                  <c:v>78.9</c:v>
                </c:pt>
                <c:pt idx="2">
                  <c:v>62.8</c:v>
                </c:pt>
                <c:pt idx="3">
                  <c:v>26.3</c:v>
                </c:pt>
                <c:pt idx="4">
                  <c:v>82.7</c:v>
                </c:pt>
                <c:pt idx="5">
                  <c:v>77.1</c:v>
                </c:pt>
                <c:pt idx="6">
                  <c:v>56.2</c:v>
                </c:pt>
                <c:pt idx="7">
                  <c:v>50.5</c:v>
                </c:pt>
              </c:numCache>
            </c:numRef>
          </c:val>
          <c:smooth val="0"/>
        </c:ser>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F"/>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9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F"/>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0F1B2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Qwen3-Omni-30B (end-to-end)</c:v>
                </c:pt>
              </c:strCache>
            </c:strRef>
          </c:tx>
          <c:spPr>
            <a:solidFill>
              <a:srgbClr val="0FA3B1"/>
            </a:solidFill>
            <a:ln w="31750" cap="flat">
              <a:solidFill>
                <a:srgbClr val="0FA3B1"/>
              </a:solidFill>
              <a:prstDash val="solid"/>
              <a:round/>
            </a:ln>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8"/>
            <c:spPr>
              <a:solidFill>
                <a:srgbClr val="0FA3B1"/>
              </a:solidFill>
              <a:ln w="9525" cap="flat">
                <a:solidFill>
                  <a:srgbClr val="0FA3B1"/>
                </a:solidFill>
                <a:prstDash val="solid"/>
                <a:round/>
              </a:ln>
              <a:effectLst/>
            </c:spPr>
          </c:marker>
          <c:cat>
            <c:multiLvlStrRef>
              <c:f>Sheet1!$A$2:$A$8</c:f>
              <c:multiLvlStrCache>
                <c:ptCount val="7"/>
                <c:lvl>
                  <c:pt idx="0">
                    <c:v>T2</c:v>
                  </c:pt>
                  <c:pt idx="1">
                    <c:v>T3</c:v>
                  </c:pt>
                  <c:pt idx="2">
                    <c:v>T4</c:v>
                  </c:pt>
                  <c:pt idx="3">
                    <c:v>T5</c:v>
                  </c:pt>
                  <c:pt idx="4">
                    <c:v>T6</c:v>
                  </c:pt>
                  <c:pt idx="5">
                    <c:v>T7</c:v>
                  </c:pt>
                  <c:pt idx="6">
                    <c:v>T8</c:v>
                  </c:pt>
                </c:lvl>
              </c:multiLvlStrCache>
            </c:multiLvlStrRef>
          </c:cat>
          <c:val>
            <c:numRef>
              <c:f>Sheet1!$B$2:$B$8</c:f>
              <c:numCache>
                <c:formatCode>General</c:formatCode>
                <c:ptCount val="7"/>
                <c:pt idx="0">
                  <c:v>21.7</c:v>
                </c:pt>
                <c:pt idx="1">
                  <c:v>35</c:v>
                </c:pt>
                <c:pt idx="2">
                  <c:v>23.4</c:v>
                </c:pt>
                <c:pt idx="3">
                  <c:v>41.6</c:v>
                </c:pt>
                <c:pt idx="4">
                  <c:v>32.4</c:v>
                </c:pt>
                <c:pt idx="5">
                  <c:v>26.8</c:v>
                </c:pt>
                <c:pt idx="6">
                  <c:v>19.9</c:v>
                </c:pt>
              </c:numCache>
            </c:numRef>
          </c:val>
          <c:smooth val="0"/>
        </c:ser>
        <c:ser>
          <c:idx val="1"/>
          <c:order val="1"/>
          <c:tx>
            <c:strRef>
              <c:f>Sheet1!$C$1</c:f>
              <c:strCache>
                <c:ptCount val="1"/>
                <c:pt idx="0">
                  <c:v>Whisper-v3 + Gemma-3-27B (cascade)</c:v>
                </c:pt>
              </c:strCache>
            </c:strRef>
          </c:tx>
          <c:spPr>
            <a:solidFill>
              <a:srgbClr val="E4572E"/>
            </a:solidFill>
            <a:ln w="31750" cap="flat">
              <a:solidFill>
                <a:srgbClr val="E4572E"/>
              </a:solidFill>
              <a:prstDash val="solid"/>
              <a:round/>
            </a:ln>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8"/>
            <c:spPr>
              <a:solidFill>
                <a:srgbClr val="E4572E"/>
              </a:solidFill>
              <a:ln w="9525" cap="flat">
                <a:solidFill>
                  <a:srgbClr val="E4572E"/>
                </a:solidFill>
                <a:prstDash val="solid"/>
                <a:round/>
              </a:ln>
              <a:effectLst/>
            </c:spPr>
          </c:marker>
          <c:cat>
            <c:multiLvlStrRef>
              <c:f>Sheet1!$A$2:$A$8</c:f>
              <c:multiLvlStrCache>
                <c:ptCount val="7"/>
                <c:lvl>
                  <c:pt idx="0">
                    <c:v>T2</c:v>
                  </c:pt>
                  <c:pt idx="1">
                    <c:v>T3</c:v>
                  </c:pt>
                  <c:pt idx="2">
                    <c:v>T4</c:v>
                  </c:pt>
                  <c:pt idx="3">
                    <c:v>T5</c:v>
                  </c:pt>
                  <c:pt idx="4">
                    <c:v>T6</c:v>
                  </c:pt>
                  <c:pt idx="5">
                    <c:v>T7</c:v>
                  </c:pt>
                  <c:pt idx="6">
                    <c:v>T8</c:v>
                  </c:pt>
                </c:lvl>
              </c:multiLvlStrCache>
            </c:multiLvlStrRef>
          </c:cat>
          <c:val>
            <c:numRef>
              <c:f>Sheet1!$C$2:$C$8</c:f>
              <c:numCache>
                <c:formatCode>General</c:formatCode>
                <c:ptCount val="7"/>
                <c:pt idx="0">
                  <c:v>19.5</c:v>
                </c:pt>
                <c:pt idx="1">
                  <c:v>44.1</c:v>
                </c:pt>
                <c:pt idx="2">
                  <c:v>18.2</c:v>
                </c:pt>
                <c:pt idx="3">
                  <c:v>49.6</c:v>
                </c:pt>
                <c:pt idx="4">
                  <c:v>52.3</c:v>
                </c:pt>
                <c:pt idx="5">
                  <c:v>36.2</c:v>
                </c:pt>
                <c:pt idx="6">
                  <c:v>25.6</c:v>
                </c:pt>
              </c:numCache>
            </c:numRef>
          </c:val>
          <c:smooth val="0"/>
        </c:ser>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F"/>
                </a:solidFill>
                <a:latin typeface="Calibri"/>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5E9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F"/>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0F1B2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Qwen3-8B · gold transcript</c:v>
                </c:pt>
              </c:strCache>
            </c:strRef>
          </c:tx>
          <c:spPr>
            <a:solidFill>
              <a:srgbClr val="0FA3B1"/>
            </a:solidFill>
            <a:ln w="31750" cap="flat">
              <a:solidFill>
                <a:srgbClr val="0FA3B1"/>
              </a:solidFill>
              <a:prstDash val="solid"/>
              <a:round/>
            </a:ln>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7"/>
            <c:spPr>
              <a:solidFill>
                <a:srgbClr val="0FA3B1"/>
              </a:solidFill>
              <a:ln w="9525" cap="flat">
                <a:solidFill>
                  <a:srgbClr val="0FA3B1"/>
                </a:solidFill>
                <a:prstDash val="solid"/>
                <a:round/>
              </a:ln>
              <a:effectLst/>
            </c:spPr>
          </c:marker>
          <c:cat>
            <c:multiLvlStrRef>
              <c:f>Sheet1!$A$2:$A$8</c:f>
              <c:multiLvlStrCache>
                <c:ptCount val="7"/>
                <c:lvl>
                  <c:pt idx="0">
                    <c:v>T1</c:v>
                  </c:pt>
                  <c:pt idx="1">
                    <c:v>T2</c:v>
                  </c:pt>
                  <c:pt idx="2">
                    <c:v>T3</c:v>
                  </c:pt>
                  <c:pt idx="3">
                    <c:v>T4</c:v>
                  </c:pt>
                  <c:pt idx="4">
                    <c:v>T5</c:v>
                  </c:pt>
                  <c:pt idx="5">
                    <c:v>T6</c:v>
                  </c:pt>
                  <c:pt idx="6">
                    <c:v>T7</c:v>
                  </c:pt>
                </c:lvl>
              </c:multiLvlStrCache>
            </c:multiLvlStrRef>
          </c:cat>
          <c:val>
            <c:numRef>
              <c:f>Sheet1!$B$2:$B$8</c:f>
              <c:numCache>
                <c:formatCode>General</c:formatCode>
                <c:ptCount val="7"/>
                <c:pt idx="0">
                  <c:v>85.6</c:v>
                </c:pt>
                <c:pt idx="1">
                  <c:v>77.1</c:v>
                </c:pt>
                <c:pt idx="2">
                  <c:v>61.3</c:v>
                </c:pt>
                <c:pt idx="3">
                  <c:v>26.8</c:v>
                </c:pt>
                <c:pt idx="4">
                  <c:v>80.5</c:v>
                </c:pt>
                <c:pt idx="5">
                  <c:v>75.2</c:v>
                </c:pt>
                <c:pt idx="6">
                  <c:v>55.4</c:v>
                </c:pt>
              </c:numCache>
            </c:numRef>
          </c:val>
          <c:smooth val="0"/>
        </c:ser>
        <c:ser>
          <c:idx val="1"/>
          <c:order val="1"/>
          <c:tx>
            <c:strRef>
              <c:f>Sheet1!$C$1</c:f>
              <c:strCache>
                <c:ptCount val="1"/>
                <c:pt idx="0">
                  <c:v>Qwen3-8B · Whisper-v3</c:v>
                </c:pt>
              </c:strCache>
            </c:strRef>
          </c:tx>
          <c:spPr>
            <a:solidFill>
              <a:srgbClr val="7FCBD3"/>
            </a:solidFill>
            <a:ln w="31750" cap="flat">
              <a:solidFill>
                <a:srgbClr val="7FCBD3"/>
              </a:solidFill>
              <a:prstDash val="solid"/>
              <a:round/>
            </a:ln>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7"/>
            <c:spPr>
              <a:solidFill>
                <a:srgbClr val="7FCBD3"/>
              </a:solidFill>
              <a:ln w="9525" cap="flat">
                <a:solidFill>
                  <a:srgbClr val="7FCBD3"/>
                </a:solidFill>
                <a:prstDash val="solid"/>
                <a:round/>
              </a:ln>
              <a:effectLst/>
            </c:spPr>
          </c:marker>
          <c:cat>
            <c:multiLvlStrRef>
              <c:f>Sheet1!$A$2:$A$8</c:f>
              <c:multiLvlStrCache>
                <c:ptCount val="7"/>
                <c:lvl>
                  <c:pt idx="0">
                    <c:v>T1</c:v>
                  </c:pt>
                  <c:pt idx="1">
                    <c:v>T2</c:v>
                  </c:pt>
                  <c:pt idx="2">
                    <c:v>T3</c:v>
                  </c:pt>
                  <c:pt idx="3">
                    <c:v>T4</c:v>
                  </c:pt>
                  <c:pt idx="4">
                    <c:v>T5</c:v>
                  </c:pt>
                  <c:pt idx="5">
                    <c:v>T6</c:v>
                  </c:pt>
                  <c:pt idx="6">
                    <c:v>T7</c:v>
                  </c:pt>
                </c:lvl>
              </c:multiLvlStrCache>
            </c:multiLvlStrRef>
          </c:cat>
          <c:val>
            <c:numRef>
              <c:f>Sheet1!$C$2:$C$8</c:f>
              <c:numCache>
                <c:formatCode>General</c:formatCode>
                <c:ptCount val="7"/>
                <c:pt idx="0">
                  <c:v>78.1</c:v>
                </c:pt>
                <c:pt idx="1">
                  <c:v>67.4</c:v>
                </c:pt>
                <c:pt idx="2">
                  <c:v>48.1</c:v>
                </c:pt>
                <c:pt idx="3">
                  <c:v>17.6</c:v>
                </c:pt>
                <c:pt idx="4">
                  <c:v>66.9</c:v>
                </c:pt>
                <c:pt idx="5">
                  <c:v>61.8</c:v>
                </c:pt>
                <c:pt idx="6">
                  <c:v>42.7</c:v>
                </c:pt>
              </c:numCache>
            </c:numRef>
          </c:val>
          <c:smooth val="0"/>
        </c:ser>
        <c:ser>
          <c:idx val="2"/>
          <c:order val="2"/>
          <c:tx>
            <c:strRef>
              <c:f>Sheet1!$D$1</c:f>
              <c:strCache>
                <c:ptCount val="1"/>
                <c:pt idx="0">
                  <c:v>Gemma-3-12B · gold transcript</c:v>
                </c:pt>
              </c:strCache>
            </c:strRef>
          </c:tx>
          <c:spPr>
            <a:solidFill>
              <a:srgbClr val="E4572E"/>
            </a:solidFill>
            <a:ln w="31750" cap="flat">
              <a:solidFill>
                <a:srgbClr val="E4572E"/>
              </a:solidFill>
              <a:prstDash val="solid"/>
              <a:round/>
            </a:ln>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7"/>
            <c:spPr>
              <a:solidFill>
                <a:srgbClr val="E4572E"/>
              </a:solidFill>
              <a:ln w="9525" cap="flat">
                <a:solidFill>
                  <a:srgbClr val="E4572E"/>
                </a:solidFill>
                <a:prstDash val="solid"/>
                <a:round/>
              </a:ln>
              <a:effectLst/>
            </c:spPr>
          </c:marker>
          <c:cat>
            <c:multiLvlStrRef>
              <c:f>Sheet1!$A$2:$A$8</c:f>
              <c:multiLvlStrCache>
                <c:ptCount val="7"/>
                <c:lvl>
                  <c:pt idx="0">
                    <c:v>T1</c:v>
                  </c:pt>
                  <c:pt idx="1">
                    <c:v>T2</c:v>
                  </c:pt>
                  <c:pt idx="2">
                    <c:v>T3</c:v>
                  </c:pt>
                  <c:pt idx="3">
                    <c:v>T4</c:v>
                  </c:pt>
                  <c:pt idx="4">
                    <c:v>T5</c:v>
                  </c:pt>
                  <c:pt idx="5">
                    <c:v>T6</c:v>
                  </c:pt>
                  <c:pt idx="6">
                    <c:v>T7</c:v>
                  </c:pt>
                </c:lvl>
              </c:multiLvlStrCache>
            </c:multiLvlStrRef>
          </c:cat>
          <c:val>
            <c:numRef>
              <c:f>Sheet1!$D$2:$D$8</c:f>
              <c:numCache>
                <c:formatCode>General</c:formatCode>
                <c:ptCount val="7"/>
                <c:pt idx="0">
                  <c:v>84.1</c:v>
                </c:pt>
                <c:pt idx="1">
                  <c:v>78.3</c:v>
                </c:pt>
                <c:pt idx="2">
                  <c:v>59.2</c:v>
                </c:pt>
                <c:pt idx="3">
                  <c:v>27.4</c:v>
                </c:pt>
                <c:pt idx="4">
                  <c:v>80.8</c:v>
                </c:pt>
                <c:pt idx="5">
                  <c:v>73.6</c:v>
                </c:pt>
                <c:pt idx="6">
                  <c:v>55.7</c:v>
                </c:pt>
              </c:numCache>
            </c:numRef>
          </c:val>
          <c:smooth val="0"/>
        </c:ser>
        <c:ser>
          <c:idx val="3"/>
          <c:order val="3"/>
          <c:tx>
            <c:strRef>
              <c:f>Sheet1!$E$1</c:f>
              <c:strCache>
                <c:ptCount val="1"/>
                <c:pt idx="0">
                  <c:v>Gemma-3-12B · Whisper-v3</c:v>
                </c:pt>
              </c:strCache>
            </c:strRef>
          </c:tx>
          <c:spPr>
            <a:solidFill>
              <a:srgbClr val="F0A58E"/>
            </a:solidFill>
            <a:ln w="31750" cap="flat">
              <a:solidFill>
                <a:srgbClr val="F0A58E"/>
              </a:solidFill>
              <a:prstDash val="solid"/>
              <a:round/>
            </a:ln>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c:symbol val="circle"/>
            <c:size val="7"/>
            <c:spPr>
              <a:solidFill>
                <a:srgbClr val="F0A58E"/>
              </a:solidFill>
              <a:ln w="9525" cap="flat">
                <a:solidFill>
                  <a:srgbClr val="F0A58E"/>
                </a:solidFill>
                <a:prstDash val="solid"/>
                <a:round/>
              </a:ln>
              <a:effectLst/>
            </c:spPr>
          </c:marker>
          <c:cat>
            <c:multiLvlStrRef>
              <c:f>Sheet1!$A$2:$A$8</c:f>
              <c:multiLvlStrCache>
                <c:ptCount val="7"/>
                <c:lvl>
                  <c:pt idx="0">
                    <c:v>T1</c:v>
                  </c:pt>
                  <c:pt idx="1">
                    <c:v>T2</c:v>
                  </c:pt>
                  <c:pt idx="2">
                    <c:v>T3</c:v>
                  </c:pt>
                  <c:pt idx="3">
                    <c:v>T4</c:v>
                  </c:pt>
                  <c:pt idx="4">
                    <c:v>T5</c:v>
                  </c:pt>
                  <c:pt idx="5">
                    <c:v>T6</c:v>
                  </c:pt>
                  <c:pt idx="6">
                    <c:v>T7</c:v>
                  </c:pt>
                </c:lvl>
              </c:multiLvlStrCache>
            </c:multiLvlStrRef>
          </c:cat>
          <c:val>
            <c:numRef>
              <c:f>Sheet1!$E$2:$E$8</c:f>
              <c:numCache>
                <c:formatCode>General</c:formatCode>
                <c:ptCount val="7"/>
                <c:pt idx="0">
                  <c:v>80.3</c:v>
                </c:pt>
                <c:pt idx="1">
                  <c:v>75.2</c:v>
                </c:pt>
                <c:pt idx="2">
                  <c:v>50.4</c:v>
                </c:pt>
                <c:pt idx="3">
                  <c:v>18.9</c:v>
                </c:pt>
                <c:pt idx="4">
                  <c:v>69.1</c:v>
                </c:pt>
                <c:pt idx="5">
                  <c:v>64.2</c:v>
                </c:pt>
                <c:pt idx="6">
                  <c:v>44.9</c:v>
                </c:pt>
              </c:numCache>
            </c:numRef>
          </c:val>
          <c:smooth val="0"/>
        </c:ser>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F"/>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9F0"/>
              </a:solidFill>
              <a:prstDash val="solid"/>
              <a:round/>
            </a:ln>
          </c:spPr>
        </c:majorGridlines>
        <c:title>
          <c:tx>
            <c:rich>
              <a:bodyPr/>
              <a:lstStyle/>
              <a:p>
                <a:pPr>
                  <a:defRPr sz="1100" b="0" i="0" u="none" strike="noStrike">
                    <a:solidFill>
                      <a:srgbClr val="5B6B7F"/>
                    </a:solidFill>
                    <a:latin typeface="Calibri"/>
                  </a:defRPr>
                </a:pPr>
                <a:r>
                  <a:rPr sz="1100" b="0" i="0" u="none" strike="noStrike">
                    <a:solidFill>
                      <a:srgbClr val="5B6B7F"/>
                    </a:solidFill>
                    <a:latin typeface="Calibri"/>
                  </a:rPr>
                  <a:t>Tool accuracy (%)</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5B6B7F"/>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0F1B2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Good afternoon. I am Ramit Pahwa from Rivian and Volkswagen Group Technologies. Today I will present Audio2Tool: a benchmark for a capability that is quickly becoming the centre of voice assistants: going straight from speech to an executable tool call. The title says it all: the user speaks, the model calls a tool, the device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For a decade, spoken language understanding meant classification. ASR produced text, an NLU module produced an intent and a few slots, and hand-written logic did the rest. Speech language models change the contract. The model now emits the action itself: an API call with typed arguments. That raises the bar for correctness. The call must be schema-valid, every argument must be right, and for multi-step requests the order matters. A near-miss is not partially right. It is a wrong action, in a car, at highway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And speech adds failure modes that text never sees. "Fifteen" and "fifty" are one phoneme apart, but one is a comfortable cabin and the other is not. Real cabins have engine, wind and HVAC noise. People repair themselves mid-utterance: "set an alarm for seven... wait, make it eight". And there are other voices in the room: a podcast, a passenger, a radio ad, carrying perfectly valid commands that the system must not execute. In every one of these cases the error does not produce a wrong label. It produces a wrong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Existing resources cover pieces of this. Text function-calling benchmarks such as BFCL define the executable formalism, but have no audio. Classic SLU corpora, SLURP, STOP, MAC-SLU, are spoken, but they label intents and slots rather than executable calls. Recent audio tool-use sets, BFCL-Audio, VoiceAgentBench, MFCL, bring speech and executable calls together, but they are narrow in domain and acoustic conditions, and they do not tell you why a model fails. We wanted all five columns at once, and we wanted the benchmark to be diagnostic: to isolate failure modes rather than report one aggregate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So here is Audio2Tool in numbers. Roughly thirty thousand queries, each with a gold tool call, over 152 tools in 23 categories across three domains: smart car, smart home and wearables. Eight complexity tiers. 330 cloned voices produced by two zero-shot TTS engines, mixed with real in-car and indoor noise. To our knowledge this is the first speech-to-tool benchmark with this combination of domain breadth, acoustic diversity and tiered complexity. Samples are at audio2tool.github.io.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 The taxonomy is grounded in real, public APIs: Android Automotive functionality, smart-home device standards, wearable SDKs. Smart Car is the largest domain with 14 categories, from climate and driving dynamics to charging and maintenance, because hands-free in-cabin use is where mistakes are most costly. Two design rules. First, operational intent: we separate state-altering commands like "set temperature" from passive monitoring like "check battery". Second, domain specificity: device-specific categories such as driving dynamics or activity tracking are kept, not flattened. The treemap on the right shows how queries distribute over categories; climate and environment dominate, as they do in real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 Queries are organised into eight tiers, and each tier isolates a failure mode. Tiers 1 and 2 test the basics: pick the right tool, extract explicit parameters. Tiers 3 and 4 test composition and pragmatic inference; "I am freezing" contains no tool name at all. Tiers 5 to 8 test realism: an intent buried in 25 to 60 words of rambling, mid-utterance corrections, multi-turn USER/AGENT dialogue with persistent state, and, unique to audio, intent blending, where a background speaker issues a valid but unwanted command. Tier 8 is fundamentally a speaker-attribution problem, and it cannot be posed in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 How were the queries built? Tier-specific prompts over the 152-tool taxonomy, using three frontier LLMs: GPT-5.2, Gemini 2.5 Pro and Claude Opus. A disjoint set of judge models, GPT-5.1 and Gemini 2.5 Pro, scored every query for correctness, difficulty and variability, and every query a judge flagged was manually checked, including its ground-truth tool call. On the right you see the distribution. Tiers 3 to 7 have 4,560 queries each. Tier 2 is the largest, 5,800, because parameter coverage needs volume. Tier 8 has 1,000. Within Tier 3, 62% of queries need two calls, 36% need three, and a small tail needs four or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 For the audio, we clone 330 voices selected from a pool of almost 60,000 speakers across four public corpora covering the US, Europe, Asia and Latin America. Selection is stratified by region, then farthest-point sampling on speaker embeddings, so we keep maximal accent diversity while controlling benchmark size. Two zero-shot voice-cloning TTS engines, Qwen3-TTS and CosyVoice-3, render each query in several voices, and we mix in automotive and indoor noise: engine, road, wind, HVAC, rain, turn signals, cabin and room sounds. Synthetic speech is a limitation we state openly, and real recordings are the next step; but this is, to our knowledge, the broadest accent and acoustic coverage in a speech tool-calling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 We evaluate two families, zero-shot, open weights only. End-to-end SpeechLMs from 7 to 30 billion parameters: Qwen3-Omni, Qwen2.5-Omni, Kimi-Audio, Step-Audio-2 and Audio Flamingo 3. And cascades: Whisper-v3 transcripts fed with the tool definitions to Qwen3 or Gemma-3 text models. Plus an oracle that feeds the gold transcript to the same text models, which isolates the damage done by ASR. Three metrics. Tool accuracy: did you pick the right tool, in the right order? Exact match: is the entire call, tools and every argument, exactly right after normalisation? And parameter F1 over arguments. In the worked example, one of two arguments is right, so tool accuracy is 1, exact match is 0, and parameter F1 is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Finding one. On direct commands the best model, Qwen3-Omni-30B, picks the right tool 92% of the time. Add composition, two or three calls in one utterance, and it drops to 75%. Implicit intent, "I am freezing", drops it to 33%. Notice Tier 5: a long rambling input alone is fine, 91%. So length is not the problem; reasoning is. Conversation and intent blending land at 55 and 42%. The same shape holds for every model, with smaller 7B models 15 to 20 points lower across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 Finding two, and the one I would underline. Look at Tier 2, plain parametric commands like "set the temperature to 72". Tool accuracy is around 80% for everyone. Exact match is 10 to 16%. Models know what to call; they get the arguments wrong. And crucially, look at the last pair: Gemma with a perfect, oracle transcript is at 12%. So this is not an ASR problem. It is argument grounding and normalisation: units, ranges, enumerations, defaults. If you build voice agents, this is where the work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Finding three: end-to-end has not yet earned its promise. Compare the best SpeechLM, Qwen3-Omni-30B, with the strongest cascade, Whisper plus Gemma-3-27B. On the left, tool accuracy: the SpeechLM picks the right tool more often on six of eight tiers. On the right, parameter F1: the cascade fills arguments better on five of seven tiers, by 10 to 20 points on corrections and dialogue. So audio-native models hear the intent, but the text model is still the better argument filler. ASR is far from free, though: replacing Whisper with gold transcripts buys the cascade 10 to 14 points of tool accuracy on Tiers 2 to 7; that is in the backup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 Finding four: noise. We ablate three noise families from MS-SNSD, babble, mechanical hum and impulsive noise, at three levels: plus 15, plus 5 and minus 5 dB SNR. Every system degrades monotonically as SNR falls. The cascade degrades fastest, because Whisper errors compound downstream. Qwen3-Omni-30B is the most robust, but still loses substantially at minus 5 dB. That is exactly why noise is built into the benchmark distribution, not left as an ablation: a voice agent that only works in a quiet lab is not a voice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[12:45] So, four takeaways. Tool selection on simple commands is nearly solved; argument grounding is not, and it is not an ASR problem. Composition, implicit intent and multi-speaker audio are the open problems; long input by itself is fine. End-to-end SpeechLMs do not yet beat a strong cascade, so the audio-native promise is still unrealised. And robustness has to be measured, not assumed. Next, we are adding real recordings, safety-critical scenarios and more domains, and we hope the community will use the tiers to report where their models fail, not just how well they do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[13:45] Data, benchmark code and audio samples are at audio2tool dot github dot io; the QR code takes you there. Thank you, and thanks to my co-authors Apoorva, Parivesh, Rutu, Saloni, Aruna and Zengli.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Full Table 3 from the paper. Top block: oracle transcripts fed to text LLMs. Middle: Whisper-v3 cascades. Bottom: end-to-end SpeechLMs. Tier 8 is not scored for text systems because intent blending is an audio phenomenon.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Same text LLM, two inputs: Whisper-v3 transcript versus the gold transcript. For Qwen3-8B the gap is 7 points on direct commands and 10 to 14 points on Tiers 2 to 7; Gemma-3-12B shows the same pattern. This is the cost the cascade pays for ASR, and it is the headroom an audio-native model could in principle recover.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Against classic SLU corpora, Audio2Tool spans fewer domains but a much larger intent space, 152 tools, and it explicitly models multi-intent queries. The slot count is lower because tool arguments are typed parameters rather than free-text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generation recipe per tier: word budgets, what the generator sees, and which extra fields the gold label carries. Tier 6 labels store both the original call and the correction type; Tier 8 labels store additional tool calls attributed to the primary speaker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3" name="Shape 0"/>
          <p:cNvSpPr/>
          <p:nvPr/>
        </p:nvSpPr>
        <p:spPr>
          <a:xfrm>
            <a:off x="731520" y="1252728"/>
            <a:ext cx="195417" cy="283464"/>
          </a:xfrm>
          <a:prstGeom prst="roundRect">
            <a:avLst>
              <a:gd name="adj" fmla="val 50000"/>
            </a:avLst>
          </a:prstGeom>
          <a:solidFill>
            <a:srgbClr val="0FA3B1"/>
          </a:solidFill>
          <a:ln w="12700">
            <a:solidFill>
              <a:srgbClr val="0FA3B1"/>
            </a:solidFill>
            <a:prstDash val="solid"/>
          </a:ln>
        </p:spPr>
      </p:sp>
      <p:sp>
        <p:nvSpPr>
          <p:cNvPr id="4" name="Shape 1"/>
          <p:cNvSpPr/>
          <p:nvPr/>
        </p:nvSpPr>
        <p:spPr>
          <a:xfrm>
            <a:off x="1135484" y="1146429"/>
            <a:ext cx="195417" cy="496062"/>
          </a:xfrm>
          <a:prstGeom prst="roundRect">
            <a:avLst>
              <a:gd name="adj" fmla="val 50000"/>
            </a:avLst>
          </a:prstGeom>
          <a:solidFill>
            <a:srgbClr val="0FA3B1"/>
          </a:solidFill>
          <a:ln w="12700">
            <a:solidFill>
              <a:srgbClr val="0FA3B1"/>
            </a:solidFill>
            <a:prstDash val="solid"/>
          </a:ln>
        </p:spPr>
      </p:sp>
      <p:sp>
        <p:nvSpPr>
          <p:cNvPr id="5" name="Shape 2"/>
          <p:cNvSpPr/>
          <p:nvPr/>
        </p:nvSpPr>
        <p:spPr>
          <a:xfrm>
            <a:off x="1539448" y="1004697"/>
            <a:ext cx="195417" cy="779526"/>
          </a:xfrm>
          <a:prstGeom prst="roundRect">
            <a:avLst>
              <a:gd name="adj" fmla="val 50000"/>
            </a:avLst>
          </a:prstGeom>
          <a:solidFill>
            <a:srgbClr val="0FA3B1"/>
          </a:solidFill>
          <a:ln w="12700">
            <a:solidFill>
              <a:srgbClr val="0FA3B1"/>
            </a:solidFill>
            <a:prstDash val="solid"/>
          </a:ln>
        </p:spPr>
      </p:sp>
      <p:sp>
        <p:nvSpPr>
          <p:cNvPr id="6" name="Shape 3"/>
          <p:cNvSpPr/>
          <p:nvPr/>
        </p:nvSpPr>
        <p:spPr>
          <a:xfrm>
            <a:off x="1943412" y="827532"/>
            <a:ext cx="195417" cy="1133856"/>
          </a:xfrm>
          <a:prstGeom prst="roundRect">
            <a:avLst>
              <a:gd name="adj" fmla="val 50000"/>
            </a:avLst>
          </a:prstGeom>
          <a:solidFill>
            <a:srgbClr val="0FA3B1"/>
          </a:solidFill>
          <a:ln w="12700">
            <a:solidFill>
              <a:srgbClr val="0FA3B1"/>
            </a:solidFill>
            <a:prstDash val="solid"/>
          </a:ln>
        </p:spPr>
      </p:sp>
      <p:sp>
        <p:nvSpPr>
          <p:cNvPr id="7" name="Shape 4"/>
          <p:cNvSpPr/>
          <p:nvPr/>
        </p:nvSpPr>
        <p:spPr>
          <a:xfrm>
            <a:off x="2347376" y="685800"/>
            <a:ext cx="195417" cy="1417320"/>
          </a:xfrm>
          <a:prstGeom prst="roundRect">
            <a:avLst>
              <a:gd name="adj" fmla="val 50000"/>
            </a:avLst>
          </a:prstGeom>
          <a:solidFill>
            <a:srgbClr val="0FA3B1"/>
          </a:solidFill>
          <a:ln w="12700">
            <a:solidFill>
              <a:srgbClr val="0FA3B1"/>
            </a:solidFill>
            <a:prstDash val="solid"/>
          </a:ln>
        </p:spPr>
      </p:sp>
      <p:sp>
        <p:nvSpPr>
          <p:cNvPr id="8" name="Shape 5"/>
          <p:cNvSpPr/>
          <p:nvPr/>
        </p:nvSpPr>
        <p:spPr>
          <a:xfrm>
            <a:off x="2751340" y="898398"/>
            <a:ext cx="195417" cy="992124"/>
          </a:xfrm>
          <a:prstGeom prst="roundRect">
            <a:avLst>
              <a:gd name="adj" fmla="val 50000"/>
            </a:avLst>
          </a:prstGeom>
          <a:solidFill>
            <a:srgbClr val="0FA3B1"/>
          </a:solidFill>
          <a:ln w="12700">
            <a:solidFill>
              <a:srgbClr val="0FA3B1"/>
            </a:solidFill>
            <a:prstDash val="solid"/>
          </a:ln>
        </p:spPr>
      </p:sp>
      <p:sp>
        <p:nvSpPr>
          <p:cNvPr id="9" name="Shape 6"/>
          <p:cNvSpPr/>
          <p:nvPr/>
        </p:nvSpPr>
        <p:spPr>
          <a:xfrm>
            <a:off x="3155304" y="1075563"/>
            <a:ext cx="195417" cy="637794"/>
          </a:xfrm>
          <a:prstGeom prst="roundRect">
            <a:avLst>
              <a:gd name="adj" fmla="val 50000"/>
            </a:avLst>
          </a:prstGeom>
          <a:solidFill>
            <a:srgbClr val="0FA3B1"/>
          </a:solidFill>
          <a:ln w="12700">
            <a:solidFill>
              <a:srgbClr val="0FA3B1"/>
            </a:solidFill>
            <a:prstDash val="solid"/>
          </a:ln>
        </p:spPr>
      </p:sp>
      <p:sp>
        <p:nvSpPr>
          <p:cNvPr id="10" name="Shape 7"/>
          <p:cNvSpPr/>
          <p:nvPr/>
        </p:nvSpPr>
        <p:spPr>
          <a:xfrm>
            <a:off x="3559268" y="756666"/>
            <a:ext cx="195417" cy="1275588"/>
          </a:xfrm>
          <a:prstGeom prst="roundRect">
            <a:avLst>
              <a:gd name="adj" fmla="val 50000"/>
            </a:avLst>
          </a:prstGeom>
          <a:solidFill>
            <a:srgbClr val="0FA3B1"/>
          </a:solidFill>
          <a:ln w="12700">
            <a:solidFill>
              <a:srgbClr val="0FA3B1"/>
            </a:solidFill>
            <a:prstDash val="solid"/>
          </a:ln>
        </p:spPr>
      </p:sp>
      <p:sp>
        <p:nvSpPr>
          <p:cNvPr id="11" name="Shape 8"/>
          <p:cNvSpPr/>
          <p:nvPr/>
        </p:nvSpPr>
        <p:spPr>
          <a:xfrm>
            <a:off x="3963232" y="969264"/>
            <a:ext cx="195417" cy="850392"/>
          </a:xfrm>
          <a:prstGeom prst="roundRect">
            <a:avLst>
              <a:gd name="adj" fmla="val 50000"/>
            </a:avLst>
          </a:prstGeom>
          <a:solidFill>
            <a:srgbClr val="0FA3B1"/>
          </a:solidFill>
          <a:ln w="12700">
            <a:solidFill>
              <a:srgbClr val="0FA3B1"/>
            </a:solidFill>
            <a:prstDash val="solid"/>
          </a:ln>
        </p:spPr>
      </p:sp>
      <p:sp>
        <p:nvSpPr>
          <p:cNvPr id="12" name="Shape 9"/>
          <p:cNvSpPr/>
          <p:nvPr/>
        </p:nvSpPr>
        <p:spPr>
          <a:xfrm>
            <a:off x="4367196" y="1181862"/>
            <a:ext cx="195417" cy="425196"/>
          </a:xfrm>
          <a:prstGeom prst="roundRect">
            <a:avLst>
              <a:gd name="adj" fmla="val 50000"/>
            </a:avLst>
          </a:prstGeom>
          <a:solidFill>
            <a:srgbClr val="0FA3B1"/>
          </a:solidFill>
          <a:ln w="12700">
            <a:solidFill>
              <a:srgbClr val="0FA3B1"/>
            </a:solidFill>
            <a:prstDash val="solid"/>
          </a:ln>
        </p:spPr>
      </p:sp>
      <p:sp>
        <p:nvSpPr>
          <p:cNvPr id="13" name="Shape 10"/>
          <p:cNvSpPr/>
          <p:nvPr/>
        </p:nvSpPr>
        <p:spPr>
          <a:xfrm>
            <a:off x="4771160" y="1040130"/>
            <a:ext cx="195417" cy="708660"/>
          </a:xfrm>
          <a:prstGeom prst="roundRect">
            <a:avLst>
              <a:gd name="adj" fmla="val 50000"/>
            </a:avLst>
          </a:prstGeom>
          <a:solidFill>
            <a:srgbClr val="0FA3B1"/>
          </a:solidFill>
          <a:ln w="12700">
            <a:solidFill>
              <a:srgbClr val="0FA3B1"/>
            </a:solidFill>
            <a:prstDash val="solid"/>
          </a:ln>
        </p:spPr>
      </p:sp>
      <p:sp>
        <p:nvSpPr>
          <p:cNvPr id="14" name="Shape 11"/>
          <p:cNvSpPr/>
          <p:nvPr/>
        </p:nvSpPr>
        <p:spPr>
          <a:xfrm>
            <a:off x="5175124" y="792099"/>
            <a:ext cx="195417" cy="1204722"/>
          </a:xfrm>
          <a:prstGeom prst="roundRect">
            <a:avLst>
              <a:gd name="adj" fmla="val 50000"/>
            </a:avLst>
          </a:prstGeom>
          <a:solidFill>
            <a:srgbClr val="0FA3B1"/>
          </a:solidFill>
          <a:ln w="12700">
            <a:solidFill>
              <a:srgbClr val="0FA3B1"/>
            </a:solidFill>
            <a:prstDash val="solid"/>
          </a:ln>
        </p:spPr>
      </p:sp>
      <p:sp>
        <p:nvSpPr>
          <p:cNvPr id="15" name="Shape 12"/>
          <p:cNvSpPr/>
          <p:nvPr/>
        </p:nvSpPr>
        <p:spPr>
          <a:xfrm>
            <a:off x="5579088" y="933831"/>
            <a:ext cx="195417" cy="921258"/>
          </a:xfrm>
          <a:prstGeom prst="roundRect">
            <a:avLst>
              <a:gd name="adj" fmla="val 50000"/>
            </a:avLst>
          </a:prstGeom>
          <a:solidFill>
            <a:srgbClr val="0FA3B1"/>
          </a:solidFill>
          <a:ln w="12700">
            <a:solidFill>
              <a:srgbClr val="0FA3B1"/>
            </a:solidFill>
            <a:prstDash val="solid"/>
          </a:ln>
        </p:spPr>
      </p:sp>
      <p:sp>
        <p:nvSpPr>
          <p:cNvPr id="16" name="Shape 13"/>
          <p:cNvSpPr/>
          <p:nvPr/>
        </p:nvSpPr>
        <p:spPr>
          <a:xfrm>
            <a:off x="5983052" y="1110996"/>
            <a:ext cx="195417" cy="566928"/>
          </a:xfrm>
          <a:prstGeom prst="roundRect">
            <a:avLst>
              <a:gd name="adj" fmla="val 50000"/>
            </a:avLst>
          </a:prstGeom>
          <a:solidFill>
            <a:srgbClr val="0FA3B1"/>
          </a:solidFill>
          <a:ln w="12700">
            <a:solidFill>
              <a:srgbClr val="0FA3B1"/>
            </a:solidFill>
            <a:prstDash val="solid"/>
          </a:ln>
        </p:spPr>
      </p:sp>
      <p:sp>
        <p:nvSpPr>
          <p:cNvPr id="17" name="Shape 14"/>
          <p:cNvSpPr/>
          <p:nvPr/>
        </p:nvSpPr>
        <p:spPr>
          <a:xfrm>
            <a:off x="6387016" y="1217295"/>
            <a:ext cx="195417" cy="354330"/>
          </a:xfrm>
          <a:prstGeom prst="roundRect">
            <a:avLst>
              <a:gd name="adj" fmla="val 50000"/>
            </a:avLst>
          </a:prstGeom>
          <a:solidFill>
            <a:srgbClr val="0FA3B1"/>
          </a:solidFill>
          <a:ln w="12700">
            <a:solidFill>
              <a:srgbClr val="0FA3B1"/>
            </a:solidFill>
            <a:prstDash val="solid"/>
          </a:ln>
        </p:spPr>
      </p:sp>
      <p:sp>
        <p:nvSpPr>
          <p:cNvPr id="18" name="Shape 15"/>
          <p:cNvSpPr/>
          <p:nvPr/>
        </p:nvSpPr>
        <p:spPr>
          <a:xfrm>
            <a:off x="6790980" y="1004697"/>
            <a:ext cx="195417" cy="779526"/>
          </a:xfrm>
          <a:prstGeom prst="roundRect">
            <a:avLst>
              <a:gd name="adj" fmla="val 50000"/>
            </a:avLst>
          </a:prstGeom>
          <a:solidFill>
            <a:srgbClr val="0FA3B1"/>
          </a:solidFill>
          <a:ln w="12700">
            <a:solidFill>
              <a:srgbClr val="0FA3B1"/>
            </a:solidFill>
            <a:prstDash val="solid"/>
          </a:ln>
        </p:spPr>
      </p:sp>
      <p:sp>
        <p:nvSpPr>
          <p:cNvPr id="19" name="Shape 16"/>
          <p:cNvSpPr/>
          <p:nvPr/>
        </p:nvSpPr>
        <p:spPr>
          <a:xfrm>
            <a:off x="7194944" y="721233"/>
            <a:ext cx="195417" cy="1346454"/>
          </a:xfrm>
          <a:prstGeom prst="roundRect">
            <a:avLst>
              <a:gd name="adj" fmla="val 50000"/>
            </a:avLst>
          </a:prstGeom>
          <a:solidFill>
            <a:srgbClr val="0FA3B1"/>
          </a:solidFill>
          <a:ln w="12700">
            <a:solidFill>
              <a:srgbClr val="0FA3B1"/>
            </a:solidFill>
            <a:prstDash val="solid"/>
          </a:ln>
        </p:spPr>
      </p:sp>
      <p:sp>
        <p:nvSpPr>
          <p:cNvPr id="20" name="Shape 17"/>
          <p:cNvSpPr/>
          <p:nvPr/>
        </p:nvSpPr>
        <p:spPr>
          <a:xfrm>
            <a:off x="7598908" y="898398"/>
            <a:ext cx="195417" cy="992124"/>
          </a:xfrm>
          <a:prstGeom prst="roundRect">
            <a:avLst>
              <a:gd name="adj" fmla="val 50000"/>
            </a:avLst>
          </a:prstGeom>
          <a:solidFill>
            <a:srgbClr val="0FA3B1"/>
          </a:solidFill>
          <a:ln w="12700">
            <a:solidFill>
              <a:srgbClr val="0FA3B1"/>
            </a:solidFill>
            <a:prstDash val="solid"/>
          </a:ln>
        </p:spPr>
      </p:sp>
      <p:sp>
        <p:nvSpPr>
          <p:cNvPr id="21" name="Shape 18"/>
          <p:cNvSpPr/>
          <p:nvPr/>
        </p:nvSpPr>
        <p:spPr>
          <a:xfrm>
            <a:off x="8002872" y="1146429"/>
            <a:ext cx="195417" cy="496062"/>
          </a:xfrm>
          <a:prstGeom prst="roundRect">
            <a:avLst>
              <a:gd name="adj" fmla="val 50000"/>
            </a:avLst>
          </a:prstGeom>
          <a:solidFill>
            <a:srgbClr val="0FA3B1"/>
          </a:solidFill>
          <a:ln w="12700">
            <a:solidFill>
              <a:srgbClr val="0FA3B1"/>
            </a:solidFill>
            <a:prstDash val="solid"/>
          </a:ln>
        </p:spPr>
      </p:sp>
      <p:sp>
        <p:nvSpPr>
          <p:cNvPr id="22" name="Shape 19"/>
          <p:cNvSpPr/>
          <p:nvPr/>
        </p:nvSpPr>
        <p:spPr>
          <a:xfrm>
            <a:off x="8406836" y="969264"/>
            <a:ext cx="195417" cy="850392"/>
          </a:xfrm>
          <a:prstGeom prst="roundRect">
            <a:avLst>
              <a:gd name="adj" fmla="val 50000"/>
            </a:avLst>
          </a:prstGeom>
          <a:solidFill>
            <a:srgbClr val="0FA3B1"/>
          </a:solidFill>
          <a:ln w="12700">
            <a:solidFill>
              <a:srgbClr val="0FA3B1"/>
            </a:solidFill>
            <a:prstDash val="solid"/>
          </a:ln>
        </p:spPr>
      </p:sp>
      <p:sp>
        <p:nvSpPr>
          <p:cNvPr id="23" name="Shape 20"/>
          <p:cNvSpPr/>
          <p:nvPr/>
        </p:nvSpPr>
        <p:spPr>
          <a:xfrm>
            <a:off x="8810800" y="827532"/>
            <a:ext cx="195417" cy="1133856"/>
          </a:xfrm>
          <a:prstGeom prst="roundRect">
            <a:avLst>
              <a:gd name="adj" fmla="val 50000"/>
            </a:avLst>
          </a:prstGeom>
          <a:solidFill>
            <a:srgbClr val="0FA3B1"/>
          </a:solidFill>
          <a:ln w="12700">
            <a:solidFill>
              <a:srgbClr val="0FA3B1"/>
            </a:solidFill>
            <a:prstDash val="solid"/>
          </a:ln>
        </p:spPr>
      </p:sp>
      <p:sp>
        <p:nvSpPr>
          <p:cNvPr id="24" name="Shape 21"/>
          <p:cNvSpPr/>
          <p:nvPr/>
        </p:nvSpPr>
        <p:spPr>
          <a:xfrm>
            <a:off x="9214764" y="1075563"/>
            <a:ext cx="195417" cy="637794"/>
          </a:xfrm>
          <a:prstGeom prst="roundRect">
            <a:avLst>
              <a:gd name="adj" fmla="val 50000"/>
            </a:avLst>
          </a:prstGeom>
          <a:solidFill>
            <a:srgbClr val="0FA3B1"/>
          </a:solidFill>
          <a:ln w="12700">
            <a:solidFill>
              <a:srgbClr val="0FA3B1"/>
            </a:solidFill>
            <a:prstDash val="solid"/>
          </a:ln>
        </p:spPr>
      </p:sp>
      <p:sp>
        <p:nvSpPr>
          <p:cNvPr id="25" name="Shape 22"/>
          <p:cNvSpPr/>
          <p:nvPr/>
        </p:nvSpPr>
        <p:spPr>
          <a:xfrm>
            <a:off x="9618727" y="1181862"/>
            <a:ext cx="195417" cy="425196"/>
          </a:xfrm>
          <a:prstGeom prst="roundRect">
            <a:avLst>
              <a:gd name="adj" fmla="val 50000"/>
            </a:avLst>
          </a:prstGeom>
          <a:solidFill>
            <a:srgbClr val="0FA3B1"/>
          </a:solidFill>
          <a:ln w="12700">
            <a:solidFill>
              <a:srgbClr val="0FA3B1"/>
            </a:solidFill>
            <a:prstDash val="solid"/>
          </a:ln>
        </p:spPr>
      </p:sp>
      <p:sp>
        <p:nvSpPr>
          <p:cNvPr id="26" name="Shape 23"/>
          <p:cNvSpPr/>
          <p:nvPr/>
        </p:nvSpPr>
        <p:spPr>
          <a:xfrm>
            <a:off x="10022691" y="1040130"/>
            <a:ext cx="195417" cy="708660"/>
          </a:xfrm>
          <a:prstGeom prst="roundRect">
            <a:avLst>
              <a:gd name="adj" fmla="val 50000"/>
            </a:avLst>
          </a:prstGeom>
          <a:solidFill>
            <a:srgbClr val="0FA3B1"/>
          </a:solidFill>
          <a:ln w="12700">
            <a:solidFill>
              <a:srgbClr val="0FA3B1"/>
            </a:solidFill>
            <a:prstDash val="solid"/>
          </a:ln>
        </p:spPr>
      </p:sp>
      <p:sp>
        <p:nvSpPr>
          <p:cNvPr id="27" name="Shape 24"/>
          <p:cNvSpPr/>
          <p:nvPr/>
        </p:nvSpPr>
        <p:spPr>
          <a:xfrm>
            <a:off x="10426655" y="898398"/>
            <a:ext cx="195417" cy="992124"/>
          </a:xfrm>
          <a:prstGeom prst="roundRect">
            <a:avLst>
              <a:gd name="adj" fmla="val 50000"/>
            </a:avLst>
          </a:prstGeom>
          <a:solidFill>
            <a:srgbClr val="0FA3B1"/>
          </a:solidFill>
          <a:ln w="12700">
            <a:solidFill>
              <a:srgbClr val="0FA3B1"/>
            </a:solidFill>
            <a:prstDash val="solid"/>
          </a:ln>
        </p:spPr>
      </p:sp>
      <p:sp>
        <p:nvSpPr>
          <p:cNvPr id="28" name="Shape 25"/>
          <p:cNvSpPr/>
          <p:nvPr/>
        </p:nvSpPr>
        <p:spPr>
          <a:xfrm>
            <a:off x="10830619" y="1110996"/>
            <a:ext cx="195417" cy="566928"/>
          </a:xfrm>
          <a:prstGeom prst="roundRect">
            <a:avLst>
              <a:gd name="adj" fmla="val 50000"/>
            </a:avLst>
          </a:prstGeom>
          <a:solidFill>
            <a:srgbClr val="0FA3B1"/>
          </a:solidFill>
          <a:ln w="12700">
            <a:solidFill>
              <a:srgbClr val="0FA3B1"/>
            </a:solidFill>
            <a:prstDash val="solid"/>
          </a:ln>
        </p:spPr>
      </p:sp>
      <p:sp>
        <p:nvSpPr>
          <p:cNvPr id="29" name="Shape 26"/>
          <p:cNvSpPr/>
          <p:nvPr/>
        </p:nvSpPr>
        <p:spPr>
          <a:xfrm>
            <a:off x="11234583" y="1252728"/>
            <a:ext cx="195417" cy="283464"/>
          </a:xfrm>
          <a:prstGeom prst="roundRect">
            <a:avLst>
              <a:gd name="adj" fmla="val 50000"/>
            </a:avLst>
          </a:prstGeom>
          <a:solidFill>
            <a:srgbClr val="0FA3B1"/>
          </a:solidFill>
          <a:ln w="12700">
            <a:solidFill>
              <a:srgbClr val="0FA3B1"/>
            </a:solidFill>
            <a:prstDash val="solid"/>
          </a:ln>
        </p:spPr>
      </p:sp>
      <p:sp>
        <p:nvSpPr>
          <p:cNvPr id="30" name="Text 27"/>
          <p:cNvSpPr txBox="1"/>
          <p:nvPr/>
        </p:nvSpPr>
        <p:spPr>
          <a:xfrm>
            <a:off x="731520" y="2240280"/>
            <a:ext cx="10698480" cy="914400"/>
          </a:xfrm>
          <a:prstGeom prst="rect">
            <a:avLst/>
          </a:prstGeom>
          <a:noFill/>
          <a:ln/>
        </p:spPr>
        <p:txBody>
          <a:bodyPr wrap="square" lIns="0" tIns="0" rIns="0" bIns="0" rtlCol="0" anchor="t"/>
          <a:lstStyle/>
          <a:p>
            <a:pPr indent="0" marL="0">
              <a:buNone/>
            </a:pPr>
            <a:r>
              <a:rPr lang="en-US" sz="5600" b="1" dirty="0">
                <a:solidFill>
                  <a:srgbClr val="FFFFFF"/>
                </a:solidFill>
                <a:latin typeface="Calibri" pitchFamily="34" charset="0"/>
                <a:ea typeface="Calibri" pitchFamily="34" charset="-122"/>
                <a:cs typeface="Calibri" pitchFamily="34" charset="-120"/>
              </a:rPr>
              <a:t>Audio2Tool</a:t>
            </a:r>
            <a:endParaRPr lang="en-US" sz="5600" dirty="0"/>
          </a:p>
        </p:txBody>
      </p:sp>
      <p:sp>
        <p:nvSpPr>
          <p:cNvPr id="31" name="Text 28"/>
          <p:cNvSpPr txBox="1"/>
          <p:nvPr/>
        </p:nvSpPr>
        <p:spPr>
          <a:xfrm>
            <a:off x="731520" y="3200400"/>
            <a:ext cx="10698480" cy="502920"/>
          </a:xfrm>
          <a:prstGeom prst="rect">
            <a:avLst/>
          </a:prstGeom>
          <a:noFill/>
          <a:ln/>
        </p:spPr>
        <p:txBody>
          <a:bodyPr wrap="square" lIns="0" tIns="0" rIns="0" bIns="0" rtlCol="0" anchor="t"/>
          <a:lstStyle/>
          <a:p>
            <a:pPr indent="0" marL="0">
              <a:buNone/>
            </a:pPr>
            <a:r>
              <a:rPr lang="en-US" sz="2400" b="1" dirty="0">
                <a:solidFill>
                  <a:srgbClr val="0FA3B1"/>
                </a:solidFill>
                <a:latin typeface="Calibri" pitchFamily="34" charset="0"/>
                <a:ea typeface="Calibri" pitchFamily="34" charset="-122"/>
                <a:cs typeface="Calibri" pitchFamily="34" charset="-120"/>
              </a:rPr>
              <a:t>Speak</a:t>
            </a:r>
            <a:pPr indent="0" marL="0">
              <a:buNone/>
            </a:pPr>
            <a:r>
              <a:rPr lang="en-US" sz="2400" dirty="0">
                <a:solidFill>
                  <a:srgbClr val="FFFFFF"/>
                </a:solidFill>
                <a:latin typeface="Calibri" pitchFamily="34" charset="0"/>
                <a:ea typeface="Calibri" pitchFamily="34" charset="-122"/>
                <a:cs typeface="Calibri" pitchFamily="34" charset="-120"/>
              </a:rPr>
              <a:t>, </a:t>
            </a:r>
            <a:pPr indent="0" marL="0">
              <a:buNone/>
            </a:pPr>
            <a:r>
              <a:rPr lang="en-US" sz="2400" b="1" dirty="0">
                <a:solidFill>
                  <a:srgbClr val="F2A93B"/>
                </a:solidFill>
                <a:latin typeface="Calibri" pitchFamily="34" charset="0"/>
                <a:ea typeface="Calibri" pitchFamily="34" charset="-122"/>
                <a:cs typeface="Calibri" pitchFamily="34" charset="-120"/>
              </a:rPr>
              <a:t>Call</a:t>
            </a:r>
            <a:pPr indent="0" marL="0">
              <a:buNone/>
            </a:pPr>
            <a:r>
              <a:rPr lang="en-US" sz="2400" dirty="0">
                <a:solidFill>
                  <a:srgbClr val="FFFFFF"/>
                </a:solidFill>
                <a:latin typeface="Calibri" pitchFamily="34" charset="0"/>
                <a:ea typeface="Calibri" pitchFamily="34" charset="-122"/>
                <a:cs typeface="Calibri" pitchFamily="34" charset="-120"/>
              </a:rPr>
              <a:t>, </a:t>
            </a:r>
            <a:pPr indent="0" marL="0">
              <a:buNone/>
            </a:pPr>
            <a:r>
              <a:rPr lang="en-US" sz="2400" b="1" dirty="0">
                <a:solidFill>
                  <a:srgbClr val="E4572E"/>
                </a:solidFill>
                <a:latin typeface="Calibri" pitchFamily="34" charset="0"/>
                <a:ea typeface="Calibri" pitchFamily="34" charset="-122"/>
                <a:cs typeface="Calibri" pitchFamily="34" charset="-120"/>
              </a:rPr>
              <a:t>Act</a:t>
            </a:r>
            <a:pPr indent="0" marL="0">
              <a:buNone/>
            </a:pPr>
            <a:r>
              <a:rPr lang="en-US" sz="2400" dirty="0">
                <a:solidFill>
                  <a:srgbClr val="FFFFFF"/>
                </a:solidFill>
                <a:latin typeface="Calibri" pitchFamily="34" charset="0"/>
                <a:ea typeface="Calibri" pitchFamily="34" charset="-122"/>
                <a:cs typeface="Calibri" pitchFamily="34" charset="-120"/>
              </a:rPr>
              <a:t>  —  A Dataset for Benchmarking Speech Tool Use</a:t>
            </a:r>
            <a:endParaRPr lang="en-US" sz="2400" dirty="0"/>
          </a:p>
        </p:txBody>
      </p:sp>
      <p:sp>
        <p:nvSpPr>
          <p:cNvPr id="32" name="Text 29"/>
          <p:cNvSpPr txBox="1"/>
          <p:nvPr/>
        </p:nvSpPr>
        <p:spPr>
          <a:xfrm>
            <a:off x="731520" y="3977640"/>
            <a:ext cx="10698480" cy="731520"/>
          </a:xfrm>
          <a:prstGeom prst="rect">
            <a:avLst/>
          </a:prstGeom>
          <a:noFill/>
          <a:ln/>
        </p:spPr>
        <p:txBody>
          <a:bodyPr wrap="square" lIns="0" tIns="0" rIns="0" bIns="0" rtlCol="0" anchor="t"/>
          <a:lstStyle/>
          <a:p>
            <a:pPr indent="0" marL="0">
              <a:lnSpc>
                <a:spcPct val="115000"/>
              </a:lnSpc>
              <a:buNone/>
            </a:pPr>
            <a:r>
              <a:rPr lang="en-US" sz="1700" b="1" dirty="0">
                <a:solidFill>
                  <a:srgbClr val="DCE4EE"/>
                </a:solidFill>
                <a:latin typeface="Calibri" pitchFamily="34" charset="0"/>
                <a:ea typeface="Calibri" pitchFamily="34" charset="-122"/>
                <a:cs typeface="Calibri" pitchFamily="34" charset="-120"/>
              </a:rPr>
              <a:t>Ramit Pahwa</a:t>
            </a:r>
            <a:pPr indent="0" marL="0">
              <a:lnSpc>
                <a:spcPct val="115000"/>
              </a:lnSpc>
              <a:buNone/>
            </a:pPr>
            <a:r>
              <a:rPr lang="en-US" sz="1700" dirty="0">
                <a:solidFill>
                  <a:srgbClr val="DCE4EE"/>
                </a:solidFill>
                <a:latin typeface="Calibri" pitchFamily="34" charset="0"/>
                <a:ea typeface="Calibri" pitchFamily="34" charset="-122"/>
                <a:cs typeface="Calibri" pitchFamily="34" charset="-120"/>
              </a:rPr>
              <a:t>*, </a:t>
            </a:r>
            <a:pPr indent="0" marL="0">
              <a:lnSpc>
                <a:spcPct val="115000"/>
              </a:lnSpc>
              <a:buNone/>
            </a:pPr>
            <a:r>
              <a:rPr lang="en-US" sz="1700" b="1" dirty="0">
                <a:solidFill>
                  <a:srgbClr val="DCE4EE"/>
                </a:solidFill>
                <a:latin typeface="Calibri" pitchFamily="34" charset="0"/>
                <a:ea typeface="Calibri" pitchFamily="34" charset="-122"/>
                <a:cs typeface="Calibri" pitchFamily="34" charset="-120"/>
              </a:rPr>
              <a:t>Apoorva Beedu</a:t>
            </a:r>
            <a:pPr indent="0" marL="0">
              <a:lnSpc>
                <a:spcPct val="115000"/>
              </a:lnSpc>
              <a:buNone/>
            </a:pPr>
            <a:r>
              <a:rPr lang="en-US" sz="1700" dirty="0">
                <a:solidFill>
                  <a:srgbClr val="DCE4EE"/>
                </a:solidFill>
                <a:latin typeface="Calibri" pitchFamily="34" charset="0"/>
                <a:ea typeface="Calibri" pitchFamily="34" charset="-122"/>
                <a:cs typeface="Calibri" pitchFamily="34" charset="-120"/>
              </a:rPr>
              <a:t>*, Parivesh Priye, Rutu Gandhi†, Saloni Takawale†, Aruna Baijal, Zengli Yang</a:t>
            </a:r>
            <a:endParaRPr lang="en-US" sz="1700" dirty="0"/>
          </a:p>
        </p:txBody>
      </p:sp>
      <p:sp>
        <p:nvSpPr>
          <p:cNvPr id="33" name="Text 30"/>
          <p:cNvSpPr txBox="1"/>
          <p:nvPr/>
        </p:nvSpPr>
        <p:spPr>
          <a:xfrm>
            <a:off x="731520" y="4800600"/>
            <a:ext cx="10698480" cy="320040"/>
          </a:xfrm>
          <a:prstGeom prst="rect">
            <a:avLst/>
          </a:prstGeom>
          <a:noFill/>
          <a:ln/>
        </p:spPr>
        <p:txBody>
          <a:bodyPr wrap="square" lIns="0" tIns="0" rIns="0" bIns="0" rtlCol="0" anchor="t"/>
          <a:lstStyle/>
          <a:p>
            <a:pPr indent="0" marL="0">
              <a:buNone/>
            </a:pPr>
            <a:r>
              <a:rPr lang="en-US" sz="1400" dirty="0">
                <a:solidFill>
                  <a:srgbClr val="8A97A8"/>
                </a:solidFill>
                <a:latin typeface="Calibri" pitchFamily="34" charset="0"/>
                <a:ea typeface="Calibri" pitchFamily="34" charset="-122"/>
                <a:cs typeface="Calibri" pitchFamily="34" charset="-120"/>
              </a:rPr>
              <a:t>Rivian and Volkswagen Group Technologies      * equal contribution · † equal contribution</a:t>
            </a:r>
            <a:endParaRPr lang="en-US" sz="1400" dirty="0"/>
          </a:p>
        </p:txBody>
      </p:sp>
      <p:sp>
        <p:nvSpPr>
          <p:cNvPr id="34" name="Text 31"/>
          <p:cNvSpPr txBox="1"/>
          <p:nvPr/>
        </p:nvSpPr>
        <p:spPr>
          <a:xfrm>
            <a:off x="731520" y="5989320"/>
            <a:ext cx="5943600" cy="320040"/>
          </a:xfrm>
          <a:prstGeom prst="rect">
            <a:avLst/>
          </a:prstGeom>
          <a:noFill/>
          <a:ln/>
        </p:spPr>
        <p:txBody>
          <a:bodyPr wrap="square" lIns="0" tIns="0" rIns="0" bIns="0" rtlCol="0" anchor="t"/>
          <a:lstStyle/>
          <a:p>
            <a:pPr indent="0" marL="0">
              <a:buNone/>
            </a:pPr>
            <a:r>
              <a:rPr lang="en-US" sz="1400" dirty="0">
                <a:solidFill>
                  <a:srgbClr val="DCE4EE"/>
                </a:solidFill>
                <a:latin typeface="Calibri" pitchFamily="34" charset="0"/>
                <a:ea typeface="Calibri" pitchFamily="34" charset="-122"/>
                <a:cs typeface="Calibri" pitchFamily="34" charset="-120"/>
              </a:rPr>
              <a:t>Interspeech 2026  ·  Sydney  ·  Oral session</a:t>
            </a:r>
            <a:endParaRPr lang="en-US" sz="1400" dirty="0"/>
          </a:p>
        </p:txBody>
      </p:sp>
      <p:sp>
        <p:nvSpPr>
          <p:cNvPr id="35" name="Text 32"/>
          <p:cNvSpPr txBox="1"/>
          <p:nvPr/>
        </p:nvSpPr>
        <p:spPr>
          <a:xfrm>
            <a:off x="5943600" y="5989320"/>
            <a:ext cx="5486400" cy="320040"/>
          </a:xfrm>
          <a:prstGeom prst="rect">
            <a:avLst/>
          </a:prstGeom>
          <a:noFill/>
          <a:ln/>
        </p:spPr>
        <p:txBody>
          <a:bodyPr wrap="square" lIns="0" tIns="0" rIns="0" bIns="0" rtlCol="0" anchor="t"/>
          <a:lstStyle/>
          <a:p>
            <a:pPr algn="r" indent="0" marL="0">
              <a:buNone/>
            </a:pPr>
            <a:r>
              <a:rPr lang="en-US" sz="1400" dirty="0">
                <a:solidFill>
                  <a:srgbClr val="0FA3B1"/>
                </a:solidFill>
                <a:latin typeface="Calibri" pitchFamily="34" charset="0"/>
                <a:ea typeface="Calibri" pitchFamily="34" charset="-122"/>
                <a:cs typeface="Calibri" pitchFamily="34" charset="-120"/>
              </a:rPr>
              <a:t>arXiv:2604.22821   ·   audio2tool.github.io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0B7F8A"/>
                </a:solidFill>
                <a:latin typeface="Calibri" pitchFamily="34" charset="0"/>
                <a:ea typeface="Calibri" pitchFamily="34" charset="-122"/>
                <a:cs typeface="Calibri" pitchFamily="34" charset="-120"/>
              </a:rPr>
              <a:t>MOTIVATION</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Voice assistants are becoming agents: the output is now an action</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2</a:t>
            </a:r>
            <a:endParaRPr lang="en-US" sz="1000" dirty="0"/>
          </a:p>
        </p:txBody>
      </p:sp>
      <p:sp>
        <p:nvSpPr>
          <p:cNvPr id="14" name="Text 11"/>
          <p:cNvSpPr txBox="1"/>
          <p:nvPr/>
        </p:nvSpPr>
        <p:spPr>
          <a:xfrm>
            <a:off x="548640" y="1600200"/>
            <a:ext cx="5486400" cy="274320"/>
          </a:xfrm>
          <a:prstGeom prst="rect">
            <a:avLst/>
          </a:prstGeom>
          <a:noFill/>
          <a:ln/>
        </p:spPr>
        <p:txBody>
          <a:bodyPr wrap="square" lIns="0" tIns="0" rIns="0" bIns="0" rtlCol="0" anchor="t"/>
          <a:lstStyle/>
          <a:p>
            <a:pPr indent="0" marL="0">
              <a:buNone/>
            </a:pPr>
            <a:r>
              <a:rPr lang="en-US" sz="1200" b="1" spc="200" kern="0" dirty="0">
                <a:solidFill>
                  <a:srgbClr val="5B6B7F"/>
                </a:solidFill>
                <a:latin typeface="Calibri" pitchFamily="34" charset="0"/>
                <a:ea typeface="Calibri" pitchFamily="34" charset="-122"/>
                <a:cs typeface="Calibri" pitchFamily="34" charset="-120"/>
              </a:rPr>
              <a:t>THEN  ·  classify the intent</a:t>
            </a:r>
            <a:endParaRPr lang="en-US" sz="1200" dirty="0"/>
          </a:p>
        </p:txBody>
      </p:sp>
      <p:sp>
        <p:nvSpPr>
          <p:cNvPr id="15" name="Shape 12"/>
          <p:cNvSpPr/>
          <p:nvPr/>
        </p:nvSpPr>
        <p:spPr>
          <a:xfrm>
            <a:off x="548640" y="1901952"/>
            <a:ext cx="1463040" cy="777240"/>
          </a:xfrm>
          <a:prstGeom prst="roundRect">
            <a:avLst>
              <a:gd name="adj" fmla="val 14118"/>
            </a:avLst>
          </a:prstGeom>
          <a:solidFill>
            <a:srgbClr val="F1F5F9"/>
          </a:solidFill>
          <a:ln w="12700">
            <a:solidFill>
              <a:srgbClr val="F1F5F9"/>
            </a:solidFill>
            <a:prstDash val="solid"/>
          </a:ln>
        </p:spPr>
      </p:sp>
      <p:pic>
        <p:nvPicPr>
          <p:cNvPr id="16" name="Image 0" descr="preencoded.png">    </p:cNvPr>
          <p:cNvPicPr>
            <a:picLocks noChangeAspect="1"/>
          </p:cNvPicPr>
          <p:nvPr/>
        </p:nvPicPr>
        <p:blipFill>
          <a:blip r:embed="rId1"/>
          <a:stretch>
            <a:fillRect/>
          </a:stretch>
        </p:blipFill>
        <p:spPr>
          <a:xfrm>
            <a:off x="749808" y="2130552"/>
            <a:ext cx="329184" cy="329184"/>
          </a:xfrm>
          <a:prstGeom prst="rect">
            <a:avLst/>
          </a:prstGeom>
        </p:spPr>
      </p:pic>
      <p:sp>
        <p:nvSpPr>
          <p:cNvPr id="17" name="Text 13"/>
          <p:cNvSpPr txBox="1"/>
          <p:nvPr/>
        </p:nvSpPr>
        <p:spPr>
          <a:xfrm>
            <a:off x="1143000" y="1901952"/>
            <a:ext cx="822960" cy="777240"/>
          </a:xfrm>
          <a:prstGeom prst="rect">
            <a:avLst/>
          </a:prstGeom>
          <a:noFill/>
          <a:ln/>
        </p:spPr>
        <p:txBody>
          <a:bodyPr wrap="square" lIns="0" tIns="0" rIns="0" bIns="0" rtlCol="0" anchor="ctr"/>
          <a:lstStyle/>
          <a:p>
            <a:pPr indent="0" marL="0">
              <a:buNone/>
            </a:pPr>
            <a:r>
              <a:rPr lang="en-US" sz="1500" b="1" dirty="0">
                <a:solidFill>
                  <a:srgbClr val="0F1B2D"/>
                </a:solidFill>
                <a:latin typeface="Calibri" pitchFamily="34" charset="0"/>
                <a:ea typeface="Calibri" pitchFamily="34" charset="-122"/>
                <a:cs typeface="Calibri" pitchFamily="34" charset="-120"/>
              </a:rPr>
              <a:t>Speech</a:t>
            </a:r>
            <a:endParaRPr lang="en-US" sz="1500" dirty="0"/>
          </a:p>
        </p:txBody>
      </p:sp>
      <p:sp>
        <p:nvSpPr>
          <p:cNvPr id="18" name="Shape 14"/>
          <p:cNvSpPr/>
          <p:nvPr/>
        </p:nvSpPr>
        <p:spPr>
          <a:xfrm>
            <a:off x="2084832" y="2144268"/>
            <a:ext cx="310896" cy="292608"/>
          </a:xfrm>
          <a:prstGeom prst="rightArrow">
            <a:avLst/>
          </a:prstGeom>
          <a:solidFill>
            <a:srgbClr val="8A97A8"/>
          </a:solidFill>
          <a:ln w="12700">
            <a:solidFill>
              <a:srgbClr val="8A97A8"/>
            </a:solidFill>
            <a:prstDash val="solid"/>
          </a:ln>
        </p:spPr>
      </p:sp>
      <p:sp>
        <p:nvSpPr>
          <p:cNvPr id="19" name="Shape 15"/>
          <p:cNvSpPr/>
          <p:nvPr/>
        </p:nvSpPr>
        <p:spPr>
          <a:xfrm>
            <a:off x="2468880" y="1901952"/>
            <a:ext cx="1600200" cy="777240"/>
          </a:xfrm>
          <a:prstGeom prst="roundRect">
            <a:avLst>
              <a:gd name="adj" fmla="val 14118"/>
            </a:avLst>
          </a:prstGeom>
          <a:solidFill>
            <a:srgbClr val="F1F5F9"/>
          </a:solidFill>
          <a:ln w="12700">
            <a:solidFill>
              <a:srgbClr val="F1F5F9"/>
            </a:solidFill>
            <a:prstDash val="solid"/>
          </a:ln>
        </p:spPr>
      </p:sp>
      <p:sp>
        <p:nvSpPr>
          <p:cNvPr id="20" name="Text 16"/>
          <p:cNvSpPr txBox="1"/>
          <p:nvPr/>
        </p:nvSpPr>
        <p:spPr>
          <a:xfrm>
            <a:off x="2560320" y="1901952"/>
            <a:ext cx="1417320" cy="77724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ASR</a:t>
            </a:r>
            <a:endParaRPr lang="en-US" sz="1500" dirty="0"/>
          </a:p>
        </p:txBody>
      </p:sp>
      <p:sp>
        <p:nvSpPr>
          <p:cNvPr id="21" name="Shape 17"/>
          <p:cNvSpPr/>
          <p:nvPr/>
        </p:nvSpPr>
        <p:spPr>
          <a:xfrm>
            <a:off x="4142232" y="2144268"/>
            <a:ext cx="310896" cy="292608"/>
          </a:xfrm>
          <a:prstGeom prst="rightArrow">
            <a:avLst/>
          </a:prstGeom>
          <a:solidFill>
            <a:srgbClr val="8A97A8"/>
          </a:solidFill>
          <a:ln w="12700">
            <a:solidFill>
              <a:srgbClr val="8A97A8"/>
            </a:solidFill>
            <a:prstDash val="solid"/>
          </a:ln>
        </p:spPr>
      </p:sp>
      <p:sp>
        <p:nvSpPr>
          <p:cNvPr id="22" name="Shape 18"/>
          <p:cNvSpPr/>
          <p:nvPr/>
        </p:nvSpPr>
        <p:spPr>
          <a:xfrm>
            <a:off x="4526280" y="1901952"/>
            <a:ext cx="1600200" cy="777240"/>
          </a:xfrm>
          <a:prstGeom prst="roundRect">
            <a:avLst>
              <a:gd name="adj" fmla="val 14118"/>
            </a:avLst>
          </a:prstGeom>
          <a:solidFill>
            <a:srgbClr val="F1F5F9"/>
          </a:solidFill>
          <a:ln w="12700">
            <a:solidFill>
              <a:srgbClr val="F1F5F9"/>
            </a:solidFill>
            <a:prstDash val="solid"/>
          </a:ln>
        </p:spPr>
      </p:sp>
      <p:sp>
        <p:nvSpPr>
          <p:cNvPr id="23" name="Text 19"/>
          <p:cNvSpPr txBox="1"/>
          <p:nvPr/>
        </p:nvSpPr>
        <p:spPr>
          <a:xfrm>
            <a:off x="4617720" y="1901952"/>
            <a:ext cx="1417320" cy="77724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NLU</a:t>
            </a:r>
            <a:endParaRPr lang="en-US" sz="1500" dirty="0"/>
          </a:p>
          <a:p>
            <a:pPr algn="ctr" indent="0" marL="0">
              <a:buNone/>
            </a:pPr>
            <a:r>
              <a:rPr lang="en-US" sz="1500" b="1" dirty="0">
                <a:solidFill>
                  <a:srgbClr val="0F1B2D"/>
                </a:solidFill>
                <a:latin typeface="Calibri" pitchFamily="34" charset="0"/>
                <a:ea typeface="Calibri" pitchFamily="34" charset="-122"/>
                <a:cs typeface="Calibri" pitchFamily="34" charset="-120"/>
              </a:rPr>
              <a:t>intent + slots</a:t>
            </a:r>
            <a:endParaRPr lang="en-US" sz="1500" dirty="0"/>
          </a:p>
        </p:txBody>
      </p:sp>
      <p:sp>
        <p:nvSpPr>
          <p:cNvPr id="24" name="Shape 20"/>
          <p:cNvSpPr/>
          <p:nvPr/>
        </p:nvSpPr>
        <p:spPr>
          <a:xfrm>
            <a:off x="6199632" y="2144268"/>
            <a:ext cx="310896" cy="292608"/>
          </a:xfrm>
          <a:prstGeom prst="rightArrow">
            <a:avLst/>
          </a:prstGeom>
          <a:solidFill>
            <a:srgbClr val="8A97A8"/>
          </a:solidFill>
          <a:ln w="12700">
            <a:solidFill>
              <a:srgbClr val="8A97A8"/>
            </a:solidFill>
            <a:prstDash val="solid"/>
          </a:ln>
        </p:spPr>
      </p:sp>
      <p:sp>
        <p:nvSpPr>
          <p:cNvPr id="25" name="Shape 21"/>
          <p:cNvSpPr/>
          <p:nvPr/>
        </p:nvSpPr>
        <p:spPr>
          <a:xfrm>
            <a:off x="6583680" y="1901952"/>
            <a:ext cx="1600200" cy="777240"/>
          </a:xfrm>
          <a:prstGeom prst="roundRect">
            <a:avLst>
              <a:gd name="adj" fmla="val 14118"/>
            </a:avLst>
          </a:prstGeom>
          <a:solidFill>
            <a:srgbClr val="F1F5F9"/>
          </a:solidFill>
          <a:ln w="12700">
            <a:solidFill>
              <a:srgbClr val="F1F5F9"/>
            </a:solidFill>
            <a:prstDash val="solid"/>
          </a:ln>
        </p:spPr>
      </p:sp>
      <p:sp>
        <p:nvSpPr>
          <p:cNvPr id="26" name="Text 22"/>
          <p:cNvSpPr txBox="1"/>
          <p:nvPr/>
        </p:nvSpPr>
        <p:spPr>
          <a:xfrm>
            <a:off x="6675120" y="1901952"/>
            <a:ext cx="1417320" cy="77724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Rules / dialog</a:t>
            </a:r>
            <a:endParaRPr lang="en-US" sz="1500" dirty="0"/>
          </a:p>
          <a:p>
            <a:pPr algn="ctr" indent="0" marL="0">
              <a:buNone/>
            </a:pPr>
            <a:r>
              <a:rPr lang="en-US" sz="1500" b="1" dirty="0">
                <a:solidFill>
                  <a:srgbClr val="0F1B2D"/>
                </a:solidFill>
                <a:latin typeface="Calibri" pitchFamily="34" charset="0"/>
                <a:ea typeface="Calibri" pitchFamily="34" charset="-122"/>
                <a:cs typeface="Calibri" pitchFamily="34" charset="-120"/>
              </a:rPr>
              <a:t>manager</a:t>
            </a:r>
            <a:endParaRPr lang="en-US" sz="1500" dirty="0"/>
          </a:p>
        </p:txBody>
      </p:sp>
      <p:sp>
        <p:nvSpPr>
          <p:cNvPr id="27" name="Shape 23"/>
          <p:cNvSpPr/>
          <p:nvPr/>
        </p:nvSpPr>
        <p:spPr>
          <a:xfrm>
            <a:off x="8458200" y="1901952"/>
            <a:ext cx="3182112" cy="777240"/>
          </a:xfrm>
          <a:prstGeom prst="roundRect">
            <a:avLst>
              <a:gd name="adj" fmla="val 14118"/>
            </a:avLst>
          </a:prstGeom>
          <a:solidFill>
            <a:srgbClr val="E3EAF2"/>
          </a:solidFill>
          <a:ln w="12700">
            <a:solidFill>
              <a:srgbClr val="E3EAF2"/>
            </a:solidFill>
            <a:prstDash val="solid"/>
          </a:ln>
        </p:spPr>
      </p:sp>
      <p:sp>
        <p:nvSpPr>
          <p:cNvPr id="28" name="Text 24"/>
          <p:cNvSpPr txBox="1"/>
          <p:nvPr/>
        </p:nvSpPr>
        <p:spPr>
          <a:xfrm>
            <a:off x="8641080" y="1901952"/>
            <a:ext cx="2926080" cy="777240"/>
          </a:xfrm>
          <a:prstGeom prst="rect">
            <a:avLst/>
          </a:prstGeom>
          <a:noFill/>
          <a:ln/>
        </p:spPr>
        <p:txBody>
          <a:bodyPr wrap="square" lIns="0" tIns="0" rIns="0" bIns="0" rtlCol="0" anchor="ctr"/>
          <a:lstStyle/>
          <a:p>
            <a:pPr indent="0" marL="0">
              <a:buNone/>
            </a:pPr>
            <a:r>
              <a:rPr lang="en-US" sz="1300" dirty="0">
                <a:solidFill>
                  <a:srgbClr val="5B6B7F"/>
                </a:solidFill>
                <a:latin typeface="Courier New" pitchFamily="34" charset="0"/>
                <a:ea typeface="Courier New" pitchFamily="34" charset="-122"/>
                <a:cs typeface="Courier New" pitchFamily="34" charset="-120"/>
              </a:rPr>
              <a:t>intent = set_temperature</a:t>
            </a:r>
            <a:endParaRPr lang="en-US" sz="1300" dirty="0"/>
          </a:p>
          <a:p>
            <a:pPr indent="0" marL="0">
              <a:buNone/>
            </a:pPr>
            <a:r>
              <a:rPr lang="en-US" sz="1300" dirty="0">
                <a:solidFill>
                  <a:srgbClr val="5B6B7F"/>
                </a:solidFill>
                <a:latin typeface="Courier New" pitchFamily="34" charset="0"/>
                <a:ea typeface="Courier New" pitchFamily="34" charset="-122"/>
                <a:cs typeface="Courier New" pitchFamily="34" charset="-120"/>
              </a:rPr>
              <a:t>slot: value = 72</a:t>
            </a:r>
            <a:endParaRPr lang="en-US" sz="1300" dirty="0"/>
          </a:p>
        </p:txBody>
      </p:sp>
      <p:sp>
        <p:nvSpPr>
          <p:cNvPr id="29" name="Text 25"/>
          <p:cNvSpPr txBox="1"/>
          <p:nvPr/>
        </p:nvSpPr>
        <p:spPr>
          <a:xfrm>
            <a:off x="8458200" y="2724912"/>
            <a:ext cx="3182112" cy="274320"/>
          </a:xfrm>
          <a:prstGeom prst="rect">
            <a:avLst/>
          </a:prstGeom>
          <a:noFill/>
          <a:ln/>
        </p:spPr>
        <p:txBody>
          <a:bodyPr wrap="square" lIns="0" tIns="0" rIns="0" bIns="0" rtlCol="0" anchor="t"/>
          <a:lstStyle/>
          <a:p>
            <a:pPr algn="ctr" indent="0" marL="0">
              <a:buNone/>
            </a:pPr>
            <a:r>
              <a:rPr lang="en-US" sz="1100" i="1" dirty="0">
                <a:solidFill>
                  <a:srgbClr val="5B6B7F"/>
                </a:solidFill>
                <a:latin typeface="Calibri" pitchFamily="34" charset="0"/>
                <a:ea typeface="Calibri" pitchFamily="34" charset="-122"/>
                <a:cs typeface="Calibri" pitchFamily="34" charset="-120"/>
              </a:rPr>
              <a:t>a label the app has to interpret</a:t>
            </a:r>
            <a:endParaRPr lang="en-US" sz="1100" dirty="0"/>
          </a:p>
        </p:txBody>
      </p:sp>
      <p:sp>
        <p:nvSpPr>
          <p:cNvPr id="30" name="Text 26"/>
          <p:cNvSpPr txBox="1"/>
          <p:nvPr/>
        </p:nvSpPr>
        <p:spPr>
          <a:xfrm>
            <a:off x="548640" y="3337560"/>
            <a:ext cx="5486400" cy="274320"/>
          </a:xfrm>
          <a:prstGeom prst="rect">
            <a:avLst/>
          </a:prstGeom>
          <a:noFill/>
          <a:ln/>
        </p:spPr>
        <p:txBody>
          <a:bodyPr wrap="square" lIns="0" tIns="0" rIns="0" bIns="0" rtlCol="0" anchor="t"/>
          <a:lstStyle/>
          <a:p>
            <a:pPr indent="0" marL="0">
              <a:buNone/>
            </a:pPr>
            <a:r>
              <a:rPr lang="en-US" sz="1200" b="1" spc="200" kern="0" dirty="0">
                <a:solidFill>
                  <a:srgbClr val="0B7F8A"/>
                </a:solidFill>
                <a:latin typeface="Calibri" pitchFamily="34" charset="0"/>
                <a:ea typeface="Calibri" pitchFamily="34" charset="-122"/>
                <a:cs typeface="Calibri" pitchFamily="34" charset="-120"/>
              </a:rPr>
              <a:t>NOW  ·  emit the executable call</a:t>
            </a:r>
            <a:endParaRPr lang="en-US" sz="1200" dirty="0"/>
          </a:p>
        </p:txBody>
      </p:sp>
      <p:sp>
        <p:nvSpPr>
          <p:cNvPr id="31" name="Shape 27"/>
          <p:cNvSpPr/>
          <p:nvPr/>
        </p:nvSpPr>
        <p:spPr>
          <a:xfrm>
            <a:off x="548640" y="3657600"/>
            <a:ext cx="1463040" cy="777240"/>
          </a:xfrm>
          <a:prstGeom prst="roundRect">
            <a:avLst>
              <a:gd name="adj" fmla="val 14118"/>
            </a:avLst>
          </a:prstGeom>
          <a:solidFill>
            <a:srgbClr val="DDF3F5"/>
          </a:solidFill>
          <a:ln w="12700">
            <a:solidFill>
              <a:srgbClr val="DDF3F5"/>
            </a:solidFill>
            <a:prstDash val="solid"/>
          </a:ln>
        </p:spPr>
      </p:sp>
      <p:pic>
        <p:nvPicPr>
          <p:cNvPr id="32" name="Image 1" descr="preencoded.png">    </p:cNvPr>
          <p:cNvPicPr>
            <a:picLocks noChangeAspect="1"/>
          </p:cNvPicPr>
          <p:nvPr/>
        </p:nvPicPr>
        <p:blipFill>
          <a:blip r:embed="rId2"/>
          <a:stretch>
            <a:fillRect/>
          </a:stretch>
        </p:blipFill>
        <p:spPr>
          <a:xfrm>
            <a:off x="749808" y="3886200"/>
            <a:ext cx="329184" cy="329184"/>
          </a:xfrm>
          <a:prstGeom prst="rect">
            <a:avLst/>
          </a:prstGeom>
        </p:spPr>
      </p:pic>
      <p:sp>
        <p:nvSpPr>
          <p:cNvPr id="33" name="Text 28"/>
          <p:cNvSpPr txBox="1"/>
          <p:nvPr/>
        </p:nvSpPr>
        <p:spPr>
          <a:xfrm>
            <a:off x="1143000" y="3657600"/>
            <a:ext cx="822960" cy="777240"/>
          </a:xfrm>
          <a:prstGeom prst="rect">
            <a:avLst/>
          </a:prstGeom>
          <a:noFill/>
          <a:ln/>
        </p:spPr>
        <p:txBody>
          <a:bodyPr wrap="square" lIns="0" tIns="0" rIns="0" bIns="0" rtlCol="0" anchor="ctr"/>
          <a:lstStyle/>
          <a:p>
            <a:pPr indent="0" marL="0">
              <a:buNone/>
            </a:pPr>
            <a:r>
              <a:rPr lang="en-US" sz="1500" b="1" dirty="0">
                <a:solidFill>
                  <a:srgbClr val="0F1B2D"/>
                </a:solidFill>
                <a:latin typeface="Calibri" pitchFamily="34" charset="0"/>
                <a:ea typeface="Calibri" pitchFamily="34" charset="-122"/>
                <a:cs typeface="Calibri" pitchFamily="34" charset="-120"/>
              </a:rPr>
              <a:t>Speech</a:t>
            </a:r>
            <a:endParaRPr lang="en-US" sz="1500" dirty="0"/>
          </a:p>
        </p:txBody>
      </p:sp>
      <p:sp>
        <p:nvSpPr>
          <p:cNvPr id="34" name="Shape 29"/>
          <p:cNvSpPr/>
          <p:nvPr/>
        </p:nvSpPr>
        <p:spPr>
          <a:xfrm>
            <a:off x="2084832" y="3899916"/>
            <a:ext cx="310896" cy="292608"/>
          </a:xfrm>
          <a:prstGeom prst="rightArrow">
            <a:avLst/>
          </a:prstGeom>
          <a:solidFill>
            <a:srgbClr val="0FA3B1"/>
          </a:solidFill>
          <a:ln w="12700">
            <a:solidFill>
              <a:srgbClr val="0FA3B1"/>
            </a:solidFill>
            <a:prstDash val="solid"/>
          </a:ln>
        </p:spPr>
      </p:sp>
      <p:sp>
        <p:nvSpPr>
          <p:cNvPr id="35" name="Shape 30"/>
          <p:cNvSpPr/>
          <p:nvPr/>
        </p:nvSpPr>
        <p:spPr>
          <a:xfrm>
            <a:off x="2468880" y="3657600"/>
            <a:ext cx="3063240" cy="777240"/>
          </a:xfrm>
          <a:prstGeom prst="roundRect">
            <a:avLst>
              <a:gd name="adj" fmla="val 14118"/>
            </a:avLst>
          </a:prstGeom>
          <a:solidFill>
            <a:srgbClr val="DDF3F5"/>
          </a:solidFill>
          <a:ln w="12700">
            <a:solidFill>
              <a:srgbClr val="DDF3F5"/>
            </a:solidFill>
            <a:prstDash val="solid"/>
          </a:ln>
        </p:spPr>
      </p:sp>
      <p:sp>
        <p:nvSpPr>
          <p:cNvPr id="36" name="Text 31"/>
          <p:cNvSpPr txBox="1"/>
          <p:nvPr/>
        </p:nvSpPr>
        <p:spPr>
          <a:xfrm>
            <a:off x="2560320" y="3657600"/>
            <a:ext cx="2880360" cy="777240"/>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SpeechLM</a:t>
            </a:r>
            <a:endParaRPr lang="en-US" sz="1500" dirty="0"/>
          </a:p>
          <a:p>
            <a:pPr algn="ctr" indent="0" marL="0">
              <a:buNone/>
            </a:pPr>
            <a:r>
              <a:rPr lang="en-US" sz="1500" b="1" dirty="0">
                <a:solidFill>
                  <a:srgbClr val="0F1B2D"/>
                </a:solidFill>
                <a:latin typeface="Calibri" pitchFamily="34" charset="0"/>
                <a:ea typeface="Calibri" pitchFamily="34" charset="-122"/>
                <a:cs typeface="Calibri" pitchFamily="34" charset="-120"/>
              </a:rPr>
              <a:t>audio-native, single model</a:t>
            </a:r>
            <a:endParaRPr lang="en-US" sz="1500" dirty="0"/>
          </a:p>
        </p:txBody>
      </p:sp>
      <p:sp>
        <p:nvSpPr>
          <p:cNvPr id="37" name="Shape 32"/>
          <p:cNvSpPr/>
          <p:nvPr/>
        </p:nvSpPr>
        <p:spPr>
          <a:xfrm>
            <a:off x="5605272" y="3899916"/>
            <a:ext cx="310896" cy="292608"/>
          </a:xfrm>
          <a:prstGeom prst="rightArrow">
            <a:avLst/>
          </a:prstGeom>
          <a:solidFill>
            <a:srgbClr val="0FA3B1"/>
          </a:solidFill>
          <a:ln w="12700">
            <a:solidFill>
              <a:srgbClr val="0FA3B1"/>
            </a:solidFill>
            <a:prstDash val="solid"/>
          </a:ln>
        </p:spPr>
      </p:sp>
      <p:sp>
        <p:nvSpPr>
          <p:cNvPr id="38" name="Shape 33"/>
          <p:cNvSpPr/>
          <p:nvPr/>
        </p:nvSpPr>
        <p:spPr>
          <a:xfrm>
            <a:off x="5989320" y="3657600"/>
            <a:ext cx="5650992" cy="777240"/>
          </a:xfrm>
          <a:prstGeom prst="roundRect">
            <a:avLst>
              <a:gd name="adj" fmla="val 14118"/>
            </a:avLst>
          </a:prstGeom>
          <a:solidFill>
            <a:srgbClr val="0F1B2D"/>
          </a:solidFill>
          <a:ln w="12700">
            <a:solidFill>
              <a:srgbClr val="0F1B2D"/>
            </a:solidFill>
            <a:prstDash val="solid"/>
          </a:ln>
        </p:spPr>
      </p:sp>
      <p:sp>
        <p:nvSpPr>
          <p:cNvPr id="39" name="Text 34"/>
          <p:cNvSpPr txBox="1"/>
          <p:nvPr/>
        </p:nvSpPr>
        <p:spPr>
          <a:xfrm>
            <a:off x="6172200" y="3657600"/>
            <a:ext cx="5394960" cy="777240"/>
          </a:xfrm>
          <a:prstGeom prst="rect">
            <a:avLst/>
          </a:prstGeom>
          <a:noFill/>
          <a:ln/>
        </p:spPr>
        <p:txBody>
          <a:bodyPr wrap="square" lIns="0" tIns="0" rIns="0" bIns="0" rtlCol="0" anchor="ctr"/>
          <a:lstStyle/>
          <a:p>
            <a:pPr indent="0" marL="0">
              <a:buNone/>
            </a:pPr>
            <a:r>
              <a:rPr lang="en-US" sz="1400" dirty="0">
                <a:solidFill>
                  <a:srgbClr val="0FA3B1"/>
                </a:solidFill>
                <a:latin typeface="Courier New" pitchFamily="34" charset="0"/>
                <a:ea typeface="Courier New" pitchFamily="34" charset="-122"/>
                <a:cs typeface="Courier New" pitchFamily="34" charset="-120"/>
              </a:rPr>
              <a:t>setZoneTemperature(zone="Driver",</a:t>
            </a:r>
            <a:endParaRPr lang="en-US" sz="1400" dirty="0"/>
          </a:p>
          <a:p>
            <a:pPr indent="0" marL="0">
              <a:buNone/>
            </a:pPr>
            <a:r>
              <a:rPr lang="en-US" sz="1400" dirty="0">
                <a:solidFill>
                  <a:srgbClr val="0FA3B1"/>
                </a:solidFill>
                <a:latin typeface="Courier New" pitchFamily="34" charset="0"/>
                <a:ea typeface="Courier New" pitchFamily="34" charset="-122"/>
                <a:cs typeface="Courier New" pitchFamily="34" charset="-120"/>
              </a:rPr>
              <a:t>                   temperature=72)</a:t>
            </a:r>
            <a:endParaRPr lang="en-US" sz="1400" dirty="0"/>
          </a:p>
        </p:txBody>
      </p:sp>
      <p:sp>
        <p:nvSpPr>
          <p:cNvPr id="40" name="Text 35"/>
          <p:cNvSpPr txBox="1"/>
          <p:nvPr/>
        </p:nvSpPr>
        <p:spPr>
          <a:xfrm>
            <a:off x="5989320" y="4480560"/>
            <a:ext cx="5650992" cy="274320"/>
          </a:xfrm>
          <a:prstGeom prst="rect">
            <a:avLst/>
          </a:prstGeom>
          <a:noFill/>
          <a:ln/>
        </p:spPr>
        <p:txBody>
          <a:bodyPr wrap="square" lIns="0" tIns="0" rIns="0" bIns="0" rtlCol="0" anchor="t"/>
          <a:lstStyle/>
          <a:p>
            <a:pPr algn="ctr" indent="0" marL="0">
              <a:buNone/>
            </a:pPr>
            <a:r>
              <a:rPr lang="en-US" sz="1100" i="1" dirty="0">
                <a:solidFill>
                  <a:srgbClr val="5B6B7F"/>
                </a:solidFill>
                <a:latin typeface="Calibri" pitchFamily="34" charset="0"/>
                <a:ea typeface="Calibri" pitchFamily="34" charset="-122"/>
                <a:cs typeface="Calibri" pitchFamily="34" charset="-120"/>
              </a:rPr>
              <a:t>an action the device executes</a:t>
            </a:r>
            <a:endParaRPr lang="en-US" sz="1100" dirty="0"/>
          </a:p>
        </p:txBody>
      </p:sp>
      <p:sp>
        <p:nvSpPr>
          <p:cNvPr id="41" name="Shape 36"/>
          <p:cNvSpPr/>
          <p:nvPr/>
        </p:nvSpPr>
        <p:spPr>
          <a:xfrm>
            <a:off x="548640" y="5074920"/>
            <a:ext cx="11091672" cy="1097280"/>
          </a:xfrm>
          <a:prstGeom prst="roundRect">
            <a:avLst>
              <a:gd name="adj" fmla="val 10000"/>
            </a:avLst>
          </a:prstGeom>
          <a:solidFill>
            <a:srgbClr val="F1F5F9"/>
          </a:solidFill>
          <a:ln w="9525">
            <a:solidFill>
              <a:srgbClr val="D5DCE5"/>
            </a:solidFill>
            <a:prstDash val="solid"/>
          </a:ln>
        </p:spPr>
      </p:sp>
      <p:sp>
        <p:nvSpPr>
          <p:cNvPr id="42" name="Text 37"/>
          <p:cNvSpPr txBox="1"/>
          <p:nvPr/>
        </p:nvSpPr>
        <p:spPr>
          <a:xfrm>
            <a:off x="822960" y="5074920"/>
            <a:ext cx="10515600" cy="1097280"/>
          </a:xfrm>
          <a:prstGeom prst="rect">
            <a:avLst/>
          </a:prstGeom>
          <a:noFill/>
          <a:ln/>
        </p:spPr>
        <p:txBody>
          <a:bodyPr wrap="square" lIns="0" tIns="0" rIns="0" bIns="0" rtlCol="0" anchor="ctr"/>
          <a:lstStyle/>
          <a:p>
            <a:pPr indent="0" marL="0">
              <a:buNone/>
            </a:pPr>
            <a:r>
              <a:rPr lang="en-US" sz="1700" b="1" dirty="0">
                <a:solidFill>
                  <a:srgbClr val="0F1B2D"/>
                </a:solidFill>
                <a:latin typeface="Calibri" pitchFamily="34" charset="0"/>
                <a:ea typeface="Calibri" pitchFamily="34" charset="-122"/>
                <a:cs typeface="Calibri" pitchFamily="34" charset="-120"/>
              </a:rPr>
              <a:t>Stricter correctness than SLU. </a:t>
            </a:r>
            <a:pPr indent="0" marL="0">
              <a:buNone/>
            </a:pPr>
            <a:r>
              <a:rPr lang="en-US" sz="1700" dirty="0">
                <a:solidFill>
                  <a:srgbClr val="0F1B2D"/>
                </a:solidFill>
                <a:latin typeface="Calibri" pitchFamily="34" charset="0"/>
                <a:ea typeface="Calibri" pitchFamily="34" charset="-122"/>
                <a:cs typeface="Calibri" pitchFamily="34" charset="-120"/>
              </a:rPr>
              <a:t>A tool call must be schema-valid, fully specified, and correctly ordered. A semantically plausible output with one wrong argument is not "almost right"; it is the wrong action.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0B7F8A"/>
                </a:solidFill>
                <a:latin typeface="Calibri" pitchFamily="34" charset="0"/>
                <a:ea typeface="Calibri" pitchFamily="34" charset="-122"/>
                <a:cs typeface="Calibri" pitchFamily="34" charset="-120"/>
              </a:rPr>
              <a:t>MOTIVATION</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Speech adds failure modes that text benchmarks never see</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3</a:t>
            </a:r>
            <a:endParaRPr lang="en-US" sz="1000" dirty="0"/>
          </a:p>
        </p:txBody>
      </p:sp>
      <p:sp>
        <p:nvSpPr>
          <p:cNvPr id="14" name="Shape 11"/>
          <p:cNvSpPr/>
          <p:nvPr/>
        </p:nvSpPr>
        <p:spPr>
          <a:xfrm>
            <a:off x="548640" y="1600200"/>
            <a:ext cx="2651760" cy="3657600"/>
          </a:xfrm>
          <a:prstGeom prst="roundRect">
            <a:avLst>
              <a:gd name="adj" fmla="val 4138"/>
            </a:avLst>
          </a:prstGeom>
          <a:solidFill>
            <a:srgbClr val="F1F5F9"/>
          </a:solidFill>
          <a:ln w="12700">
            <a:solidFill>
              <a:srgbClr val="F1F5F9"/>
            </a:solidFill>
            <a:prstDash val="solid"/>
          </a:ln>
        </p:spPr>
      </p:sp>
      <p:sp>
        <p:nvSpPr>
          <p:cNvPr id="15" name="Shape 12"/>
          <p:cNvSpPr/>
          <p:nvPr/>
        </p:nvSpPr>
        <p:spPr>
          <a:xfrm>
            <a:off x="822960" y="1874520"/>
            <a:ext cx="731520" cy="731520"/>
          </a:xfrm>
          <a:prstGeom prst="ellipse">
            <a:avLst/>
          </a:prstGeom>
          <a:solidFill>
            <a:srgbClr val="0FA3B1"/>
          </a:solidFill>
          <a:ln w="12700">
            <a:solidFill>
              <a:srgbClr val="0FA3B1"/>
            </a:solidFill>
            <a:prstDash val="solid"/>
          </a:ln>
        </p:spPr>
      </p:sp>
      <p:pic>
        <p:nvPicPr>
          <p:cNvPr id="16" name="Image 0" descr="preencoded.png">    </p:cNvPr>
          <p:cNvPicPr>
            <a:picLocks noChangeAspect="1"/>
          </p:cNvPicPr>
          <p:nvPr/>
        </p:nvPicPr>
        <p:blipFill>
          <a:blip r:embed="rId1"/>
          <a:stretch>
            <a:fillRect/>
          </a:stretch>
        </p:blipFill>
        <p:spPr>
          <a:xfrm>
            <a:off x="983894" y="2035454"/>
            <a:ext cx="409651" cy="409651"/>
          </a:xfrm>
          <a:prstGeom prst="rect">
            <a:avLst/>
          </a:prstGeom>
        </p:spPr>
      </p:pic>
      <p:sp>
        <p:nvSpPr>
          <p:cNvPr id="17" name="Text 13"/>
          <p:cNvSpPr txBox="1"/>
          <p:nvPr/>
        </p:nvSpPr>
        <p:spPr>
          <a:xfrm>
            <a:off x="822960" y="2743200"/>
            <a:ext cx="2194560" cy="777240"/>
          </a:xfrm>
          <a:prstGeom prst="rect">
            <a:avLst/>
          </a:prstGeom>
          <a:noFill/>
          <a:ln/>
        </p:spPr>
        <p:txBody>
          <a:bodyPr wrap="square" lIns="0" tIns="0" rIns="0" bIns="0" rtlCol="0" anchor="b"/>
          <a:lstStyle/>
          <a:p>
            <a:pPr indent="0" marL="0">
              <a:buNone/>
            </a:pPr>
            <a:r>
              <a:rPr lang="en-US" sz="1700" b="1" dirty="0">
                <a:solidFill>
                  <a:srgbClr val="0F1B2D"/>
                </a:solidFill>
                <a:latin typeface="Calibri" pitchFamily="34" charset="0"/>
                <a:ea typeface="Calibri" pitchFamily="34" charset="-122"/>
                <a:cs typeface="Calibri" pitchFamily="34" charset="-120"/>
              </a:rPr>
              <a:t>Phonetic ambiguity</a:t>
            </a:r>
            <a:endParaRPr lang="en-US" sz="1700" dirty="0"/>
          </a:p>
        </p:txBody>
      </p:sp>
      <p:sp>
        <p:nvSpPr>
          <p:cNvPr id="18" name="Text 14"/>
          <p:cNvSpPr txBox="1"/>
          <p:nvPr/>
        </p:nvSpPr>
        <p:spPr>
          <a:xfrm>
            <a:off x="822960" y="3593592"/>
            <a:ext cx="2148840" cy="960120"/>
          </a:xfrm>
          <a:prstGeom prst="rect">
            <a:avLst/>
          </a:prstGeom>
          <a:noFill/>
          <a:ln/>
        </p:spPr>
        <p:txBody>
          <a:bodyPr wrap="square" lIns="0" tIns="0" rIns="0" bIns="0" rtlCol="0" anchor="t"/>
          <a:lstStyle/>
          <a:p>
            <a:pPr indent="0" marL="0">
              <a:lnSpc>
                <a:spcPct val="108000"/>
              </a:lnSpc>
              <a:buNone/>
            </a:pPr>
            <a:r>
              <a:rPr lang="en-US" sz="1300" dirty="0">
                <a:solidFill>
                  <a:srgbClr val="1B2A41"/>
                </a:solidFill>
                <a:latin typeface="Calibri" pitchFamily="34" charset="0"/>
                <a:ea typeface="Calibri" pitchFamily="34" charset="-122"/>
                <a:cs typeface="Calibri" pitchFamily="34" charset="-120"/>
              </a:rPr>
              <a:t>"Fifteen" vs. "fifty", "seventy-two" vs. "seventy". Arguments are where sound-alikes bite.</a:t>
            </a:r>
            <a:endParaRPr lang="en-US" sz="1300" dirty="0"/>
          </a:p>
        </p:txBody>
      </p:sp>
      <p:sp>
        <p:nvSpPr>
          <p:cNvPr id="19" name="Text 15"/>
          <p:cNvSpPr txBox="1"/>
          <p:nvPr/>
        </p:nvSpPr>
        <p:spPr>
          <a:xfrm>
            <a:off x="822960" y="4572000"/>
            <a:ext cx="2148840" cy="640080"/>
          </a:xfrm>
          <a:prstGeom prst="rect">
            <a:avLst/>
          </a:prstGeom>
          <a:noFill/>
          <a:ln/>
        </p:spPr>
        <p:txBody>
          <a:bodyPr wrap="square" lIns="0" tIns="0" rIns="0" bIns="0" rtlCol="0" anchor="t"/>
          <a:lstStyle/>
          <a:p>
            <a:pPr indent="0" marL="0">
              <a:buNone/>
            </a:pPr>
            <a:r>
              <a:rPr lang="en-US" sz="1200" i="1" dirty="0">
                <a:solidFill>
                  <a:srgbClr val="0FA3B1"/>
                </a:solidFill>
                <a:latin typeface="Calibri" pitchFamily="34" charset="0"/>
                <a:ea typeface="Calibri" pitchFamily="34" charset="-122"/>
                <a:cs typeface="Calibri" pitchFamily="34" charset="-120"/>
              </a:rPr>
              <a:t>"Set the fan to fifteen"  →  setCabinFanLevel(50)?</a:t>
            </a:r>
            <a:endParaRPr lang="en-US" sz="1200" dirty="0"/>
          </a:p>
        </p:txBody>
      </p:sp>
      <p:sp>
        <p:nvSpPr>
          <p:cNvPr id="20" name="Shape 16"/>
          <p:cNvSpPr/>
          <p:nvPr/>
        </p:nvSpPr>
        <p:spPr>
          <a:xfrm>
            <a:off x="3364992" y="1600200"/>
            <a:ext cx="2651760" cy="3657600"/>
          </a:xfrm>
          <a:prstGeom prst="roundRect">
            <a:avLst>
              <a:gd name="adj" fmla="val 4138"/>
            </a:avLst>
          </a:prstGeom>
          <a:solidFill>
            <a:srgbClr val="F1F5F9"/>
          </a:solidFill>
          <a:ln w="12700">
            <a:solidFill>
              <a:srgbClr val="F1F5F9"/>
            </a:solidFill>
            <a:prstDash val="solid"/>
          </a:ln>
        </p:spPr>
      </p:sp>
      <p:sp>
        <p:nvSpPr>
          <p:cNvPr id="21" name="Shape 17"/>
          <p:cNvSpPr/>
          <p:nvPr/>
        </p:nvSpPr>
        <p:spPr>
          <a:xfrm>
            <a:off x="3639312" y="1874520"/>
            <a:ext cx="731520" cy="731520"/>
          </a:xfrm>
          <a:prstGeom prst="ellipse">
            <a:avLst/>
          </a:prstGeom>
          <a:solidFill>
            <a:srgbClr val="F2A93B"/>
          </a:solidFill>
          <a:ln w="12700">
            <a:solidFill>
              <a:srgbClr val="F2A93B"/>
            </a:solidFill>
            <a:prstDash val="solid"/>
          </a:ln>
        </p:spPr>
      </p:sp>
      <p:pic>
        <p:nvPicPr>
          <p:cNvPr id="22" name="Image 1" descr="preencoded.png">    </p:cNvPr>
          <p:cNvPicPr>
            <a:picLocks noChangeAspect="1"/>
          </p:cNvPicPr>
          <p:nvPr/>
        </p:nvPicPr>
        <p:blipFill>
          <a:blip r:embed="rId2"/>
          <a:stretch>
            <a:fillRect/>
          </a:stretch>
        </p:blipFill>
        <p:spPr>
          <a:xfrm>
            <a:off x="3800246" y="2035454"/>
            <a:ext cx="409651" cy="409651"/>
          </a:xfrm>
          <a:prstGeom prst="rect">
            <a:avLst/>
          </a:prstGeom>
        </p:spPr>
      </p:pic>
      <p:sp>
        <p:nvSpPr>
          <p:cNvPr id="23" name="Text 18"/>
          <p:cNvSpPr txBox="1"/>
          <p:nvPr/>
        </p:nvSpPr>
        <p:spPr>
          <a:xfrm>
            <a:off x="3639312" y="2743200"/>
            <a:ext cx="2194560" cy="777240"/>
          </a:xfrm>
          <a:prstGeom prst="rect">
            <a:avLst/>
          </a:prstGeom>
          <a:noFill/>
          <a:ln/>
        </p:spPr>
        <p:txBody>
          <a:bodyPr wrap="square" lIns="0" tIns="0" rIns="0" bIns="0" rtlCol="0" anchor="b"/>
          <a:lstStyle/>
          <a:p>
            <a:pPr indent="0" marL="0">
              <a:buNone/>
            </a:pPr>
            <a:r>
              <a:rPr lang="en-US" sz="1700" b="1" dirty="0">
                <a:solidFill>
                  <a:srgbClr val="0F1B2D"/>
                </a:solidFill>
                <a:latin typeface="Calibri" pitchFamily="34" charset="0"/>
                <a:ea typeface="Calibri" pitchFamily="34" charset="-122"/>
                <a:cs typeface="Calibri" pitchFamily="34" charset="-120"/>
              </a:rPr>
              <a:t>In-the-wild acoustics</a:t>
            </a:r>
            <a:endParaRPr lang="en-US" sz="1700" dirty="0"/>
          </a:p>
        </p:txBody>
      </p:sp>
      <p:sp>
        <p:nvSpPr>
          <p:cNvPr id="24" name="Text 19"/>
          <p:cNvSpPr txBox="1"/>
          <p:nvPr/>
        </p:nvSpPr>
        <p:spPr>
          <a:xfrm>
            <a:off x="3639312" y="3593592"/>
            <a:ext cx="2148840" cy="960120"/>
          </a:xfrm>
          <a:prstGeom prst="rect">
            <a:avLst/>
          </a:prstGeom>
          <a:noFill/>
          <a:ln/>
        </p:spPr>
        <p:txBody>
          <a:bodyPr wrap="square" lIns="0" tIns="0" rIns="0" bIns="0" rtlCol="0" anchor="t"/>
          <a:lstStyle/>
          <a:p>
            <a:pPr indent="0" marL="0">
              <a:lnSpc>
                <a:spcPct val="108000"/>
              </a:lnSpc>
              <a:buNone/>
            </a:pPr>
            <a:r>
              <a:rPr lang="en-US" sz="1300" dirty="0">
                <a:solidFill>
                  <a:srgbClr val="1B2A41"/>
                </a:solidFill>
                <a:latin typeface="Calibri" pitchFamily="34" charset="0"/>
                <a:ea typeface="Calibri" pitchFamily="34" charset="-122"/>
                <a:cs typeface="Calibri" pitchFamily="34" charset="-120"/>
              </a:rPr>
              <a:t>Engine, road, wind, HVAC, rain, turn signals, babble. Signal-to-noise can go negative.</a:t>
            </a:r>
            <a:endParaRPr lang="en-US" sz="1300" dirty="0"/>
          </a:p>
        </p:txBody>
      </p:sp>
      <p:sp>
        <p:nvSpPr>
          <p:cNvPr id="25" name="Text 20"/>
          <p:cNvSpPr txBox="1"/>
          <p:nvPr/>
        </p:nvSpPr>
        <p:spPr>
          <a:xfrm>
            <a:off x="3639312" y="4572000"/>
            <a:ext cx="2148840" cy="640080"/>
          </a:xfrm>
          <a:prstGeom prst="rect">
            <a:avLst/>
          </a:prstGeom>
          <a:noFill/>
          <a:ln/>
        </p:spPr>
        <p:txBody>
          <a:bodyPr wrap="square" lIns="0" tIns="0" rIns="0" bIns="0" rtlCol="0" anchor="t"/>
          <a:lstStyle/>
          <a:p>
            <a:pPr indent="0" marL="0">
              <a:buNone/>
            </a:pPr>
            <a:r>
              <a:rPr lang="en-US" sz="1200" i="1" dirty="0">
                <a:solidFill>
                  <a:srgbClr val="C9821A"/>
                </a:solidFill>
                <a:latin typeface="Calibri" pitchFamily="34" charset="0"/>
                <a:ea typeface="Calibri" pitchFamily="34" charset="-122"/>
                <a:cs typeface="Calibri" pitchFamily="34" charset="-120"/>
              </a:rPr>
              <a:t>−5 dB SNR on the highway</a:t>
            </a:r>
            <a:endParaRPr lang="en-US" sz="1200" dirty="0"/>
          </a:p>
        </p:txBody>
      </p:sp>
      <p:sp>
        <p:nvSpPr>
          <p:cNvPr id="26" name="Shape 21"/>
          <p:cNvSpPr/>
          <p:nvPr/>
        </p:nvSpPr>
        <p:spPr>
          <a:xfrm>
            <a:off x="6181344" y="1600200"/>
            <a:ext cx="2651760" cy="3657600"/>
          </a:xfrm>
          <a:prstGeom prst="roundRect">
            <a:avLst>
              <a:gd name="adj" fmla="val 4138"/>
            </a:avLst>
          </a:prstGeom>
          <a:solidFill>
            <a:srgbClr val="F1F5F9"/>
          </a:solidFill>
          <a:ln w="12700">
            <a:solidFill>
              <a:srgbClr val="F1F5F9"/>
            </a:solidFill>
            <a:prstDash val="solid"/>
          </a:ln>
        </p:spPr>
      </p:sp>
      <p:sp>
        <p:nvSpPr>
          <p:cNvPr id="27" name="Shape 22"/>
          <p:cNvSpPr/>
          <p:nvPr/>
        </p:nvSpPr>
        <p:spPr>
          <a:xfrm>
            <a:off x="6455664" y="1874520"/>
            <a:ext cx="731520" cy="731520"/>
          </a:xfrm>
          <a:prstGeom prst="ellipse">
            <a:avLst/>
          </a:prstGeom>
          <a:solidFill>
            <a:srgbClr val="E4572E"/>
          </a:solidFill>
          <a:ln w="12700">
            <a:solidFill>
              <a:srgbClr val="E4572E"/>
            </a:solidFill>
            <a:prstDash val="solid"/>
          </a:ln>
        </p:spPr>
      </p:sp>
      <p:pic>
        <p:nvPicPr>
          <p:cNvPr id="28" name="Image 2" descr="preencoded.png">    </p:cNvPr>
          <p:cNvPicPr>
            <a:picLocks noChangeAspect="1"/>
          </p:cNvPicPr>
          <p:nvPr/>
        </p:nvPicPr>
        <p:blipFill>
          <a:blip r:embed="rId3"/>
          <a:stretch>
            <a:fillRect/>
          </a:stretch>
        </p:blipFill>
        <p:spPr>
          <a:xfrm>
            <a:off x="6616598" y="2035454"/>
            <a:ext cx="409651" cy="409651"/>
          </a:xfrm>
          <a:prstGeom prst="rect">
            <a:avLst/>
          </a:prstGeom>
        </p:spPr>
      </p:pic>
      <p:sp>
        <p:nvSpPr>
          <p:cNvPr id="29" name="Text 23"/>
          <p:cNvSpPr txBox="1"/>
          <p:nvPr/>
        </p:nvSpPr>
        <p:spPr>
          <a:xfrm>
            <a:off x="6455664" y="2743200"/>
            <a:ext cx="2194560" cy="777240"/>
          </a:xfrm>
          <a:prstGeom prst="rect">
            <a:avLst/>
          </a:prstGeom>
          <a:noFill/>
          <a:ln/>
        </p:spPr>
        <p:txBody>
          <a:bodyPr wrap="square" lIns="0" tIns="0" rIns="0" bIns="0" rtlCol="0" anchor="b"/>
          <a:lstStyle/>
          <a:p>
            <a:pPr indent="0" marL="0">
              <a:buNone/>
            </a:pPr>
            <a:r>
              <a:rPr lang="en-US" sz="1700" b="1" dirty="0">
                <a:solidFill>
                  <a:srgbClr val="0F1B2D"/>
                </a:solidFill>
                <a:latin typeface="Calibri" pitchFamily="34" charset="0"/>
                <a:ea typeface="Calibri" pitchFamily="34" charset="-122"/>
                <a:cs typeface="Calibri" pitchFamily="34" charset="-120"/>
              </a:rPr>
              <a:t>Self-repair</a:t>
            </a:r>
            <a:endParaRPr lang="en-US" sz="1700" dirty="0"/>
          </a:p>
        </p:txBody>
      </p:sp>
      <p:sp>
        <p:nvSpPr>
          <p:cNvPr id="30" name="Text 24"/>
          <p:cNvSpPr txBox="1"/>
          <p:nvPr/>
        </p:nvSpPr>
        <p:spPr>
          <a:xfrm>
            <a:off x="6455664" y="3593592"/>
            <a:ext cx="2148840" cy="960120"/>
          </a:xfrm>
          <a:prstGeom prst="rect">
            <a:avLst/>
          </a:prstGeom>
          <a:noFill/>
          <a:ln/>
        </p:spPr>
        <p:txBody>
          <a:bodyPr wrap="square" lIns="0" tIns="0" rIns="0" bIns="0" rtlCol="0" anchor="t"/>
          <a:lstStyle/>
          <a:p>
            <a:pPr indent="0" marL="0">
              <a:lnSpc>
                <a:spcPct val="108000"/>
              </a:lnSpc>
              <a:buNone/>
            </a:pPr>
            <a:r>
              <a:rPr lang="en-US" sz="1300" dirty="0">
                <a:solidFill>
                  <a:srgbClr val="1B2A41"/>
                </a:solidFill>
                <a:latin typeface="Calibri" pitchFamily="34" charset="0"/>
                <a:ea typeface="Calibri" pitchFamily="34" charset="-122"/>
                <a:cs typeface="Calibri" pitchFamily="34" charset="-120"/>
              </a:rPr>
              <a:t>People change their mind mid-sentence. The final state, not the first mention, is the intent.</a:t>
            </a:r>
            <a:endParaRPr lang="en-US" sz="1300" dirty="0"/>
          </a:p>
        </p:txBody>
      </p:sp>
      <p:sp>
        <p:nvSpPr>
          <p:cNvPr id="31" name="Text 25"/>
          <p:cNvSpPr txBox="1"/>
          <p:nvPr/>
        </p:nvSpPr>
        <p:spPr>
          <a:xfrm>
            <a:off x="6455664" y="4572000"/>
            <a:ext cx="2148840" cy="640080"/>
          </a:xfrm>
          <a:prstGeom prst="rect">
            <a:avLst/>
          </a:prstGeom>
          <a:noFill/>
          <a:ln/>
        </p:spPr>
        <p:txBody>
          <a:bodyPr wrap="square" lIns="0" tIns="0" rIns="0" bIns="0" rtlCol="0" anchor="t"/>
          <a:lstStyle/>
          <a:p>
            <a:pPr indent="0" marL="0">
              <a:buNone/>
            </a:pPr>
            <a:r>
              <a:rPr lang="en-US" sz="1200" i="1" dirty="0">
                <a:solidFill>
                  <a:srgbClr val="E4572E"/>
                </a:solidFill>
                <a:latin typeface="Calibri" pitchFamily="34" charset="0"/>
                <a:ea typeface="Calibri" pitchFamily="34" charset="-122"/>
                <a:cs typeface="Calibri" pitchFamily="34" charset="-120"/>
              </a:rPr>
              <a:t>"Set an alarm for 7… wait, make it 8."</a:t>
            </a:r>
            <a:endParaRPr lang="en-US" sz="1200" dirty="0"/>
          </a:p>
        </p:txBody>
      </p:sp>
      <p:sp>
        <p:nvSpPr>
          <p:cNvPr id="32" name="Shape 26"/>
          <p:cNvSpPr/>
          <p:nvPr/>
        </p:nvSpPr>
        <p:spPr>
          <a:xfrm>
            <a:off x="8997696" y="1600200"/>
            <a:ext cx="2651760" cy="3657600"/>
          </a:xfrm>
          <a:prstGeom prst="roundRect">
            <a:avLst>
              <a:gd name="adj" fmla="val 4138"/>
            </a:avLst>
          </a:prstGeom>
          <a:solidFill>
            <a:srgbClr val="F1F5F9"/>
          </a:solidFill>
          <a:ln w="12700">
            <a:solidFill>
              <a:srgbClr val="F1F5F9"/>
            </a:solidFill>
            <a:prstDash val="solid"/>
          </a:ln>
        </p:spPr>
      </p:sp>
      <p:sp>
        <p:nvSpPr>
          <p:cNvPr id="33" name="Shape 27"/>
          <p:cNvSpPr/>
          <p:nvPr/>
        </p:nvSpPr>
        <p:spPr>
          <a:xfrm>
            <a:off x="9272016" y="1874520"/>
            <a:ext cx="731520" cy="731520"/>
          </a:xfrm>
          <a:prstGeom prst="ellipse">
            <a:avLst/>
          </a:prstGeom>
          <a:solidFill>
            <a:srgbClr val="1B2A41"/>
          </a:solidFill>
          <a:ln w="12700">
            <a:solidFill>
              <a:srgbClr val="1B2A41"/>
            </a:solidFill>
            <a:prstDash val="solid"/>
          </a:ln>
        </p:spPr>
      </p:sp>
      <p:pic>
        <p:nvPicPr>
          <p:cNvPr id="34" name="Image 3" descr="preencoded.png">    </p:cNvPr>
          <p:cNvPicPr>
            <a:picLocks noChangeAspect="1"/>
          </p:cNvPicPr>
          <p:nvPr/>
        </p:nvPicPr>
        <p:blipFill>
          <a:blip r:embed="rId4"/>
          <a:stretch>
            <a:fillRect/>
          </a:stretch>
        </p:blipFill>
        <p:spPr>
          <a:xfrm>
            <a:off x="9432950" y="2035454"/>
            <a:ext cx="409651" cy="409651"/>
          </a:xfrm>
          <a:prstGeom prst="rect">
            <a:avLst/>
          </a:prstGeom>
        </p:spPr>
      </p:pic>
      <p:sp>
        <p:nvSpPr>
          <p:cNvPr id="35" name="Text 28"/>
          <p:cNvSpPr txBox="1"/>
          <p:nvPr/>
        </p:nvSpPr>
        <p:spPr>
          <a:xfrm>
            <a:off x="9272016" y="2743200"/>
            <a:ext cx="2194560" cy="777240"/>
          </a:xfrm>
          <a:prstGeom prst="rect">
            <a:avLst/>
          </a:prstGeom>
          <a:noFill/>
          <a:ln/>
        </p:spPr>
        <p:txBody>
          <a:bodyPr wrap="square" lIns="0" tIns="0" rIns="0" bIns="0" rtlCol="0" anchor="b"/>
          <a:lstStyle/>
          <a:p>
            <a:pPr indent="0" marL="0">
              <a:buNone/>
            </a:pPr>
            <a:r>
              <a:rPr lang="en-US" sz="1700" b="1" dirty="0">
                <a:solidFill>
                  <a:srgbClr val="0F1B2D"/>
                </a:solidFill>
                <a:latin typeface="Calibri" pitchFamily="34" charset="0"/>
                <a:ea typeface="Calibri" pitchFamily="34" charset="-122"/>
                <a:cs typeface="Calibri" pitchFamily="34" charset="-120"/>
              </a:rPr>
              <a:t>Competing speakers</a:t>
            </a:r>
            <a:endParaRPr lang="en-US" sz="1700" dirty="0"/>
          </a:p>
        </p:txBody>
      </p:sp>
      <p:sp>
        <p:nvSpPr>
          <p:cNvPr id="36" name="Text 29"/>
          <p:cNvSpPr txBox="1"/>
          <p:nvPr/>
        </p:nvSpPr>
        <p:spPr>
          <a:xfrm>
            <a:off x="9272016" y="3593592"/>
            <a:ext cx="2148840" cy="960120"/>
          </a:xfrm>
          <a:prstGeom prst="rect">
            <a:avLst/>
          </a:prstGeom>
          <a:noFill/>
          <a:ln/>
        </p:spPr>
        <p:txBody>
          <a:bodyPr wrap="square" lIns="0" tIns="0" rIns="0" bIns="0" rtlCol="0" anchor="t"/>
          <a:lstStyle/>
          <a:p>
            <a:pPr indent="0" marL="0">
              <a:lnSpc>
                <a:spcPct val="108000"/>
              </a:lnSpc>
              <a:buNone/>
            </a:pPr>
            <a:r>
              <a:rPr lang="en-US" sz="1300" dirty="0">
                <a:solidFill>
                  <a:srgbClr val="1B2A41"/>
                </a:solidFill>
                <a:latin typeface="Calibri" pitchFamily="34" charset="0"/>
                <a:ea typeface="Calibri" pitchFamily="34" charset="-122"/>
                <a:cs typeface="Calibri" pitchFamily="34" charset="-120"/>
              </a:rPr>
              <a:t>Background speech carries valid commands. Only the primary speaker should be obeyed.</a:t>
            </a:r>
            <a:endParaRPr lang="en-US" sz="1300" dirty="0"/>
          </a:p>
        </p:txBody>
      </p:sp>
      <p:sp>
        <p:nvSpPr>
          <p:cNvPr id="37" name="Text 30"/>
          <p:cNvSpPr txBox="1"/>
          <p:nvPr/>
        </p:nvSpPr>
        <p:spPr>
          <a:xfrm>
            <a:off x="9272016" y="4572000"/>
            <a:ext cx="2148840" cy="64008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Driver: "Navigate home."</a:t>
            </a:r>
            <a:endParaRPr lang="en-US" sz="1200" dirty="0"/>
          </a:p>
          <a:p>
            <a:pPr indent="0" marL="0">
              <a:buNone/>
            </a:pPr>
            <a:r>
              <a:rPr lang="en-US" sz="1200" i="1" dirty="0">
                <a:solidFill>
                  <a:srgbClr val="5B6B7F"/>
                </a:solidFill>
                <a:latin typeface="Calibri" pitchFamily="34" charset="0"/>
                <a:ea typeface="Calibri" pitchFamily="34" charset="-122"/>
                <a:cs typeface="Calibri" pitchFamily="34" charset="-120"/>
              </a:rPr>
              <a:t>Radio: "Set temperature to 72."</a:t>
            </a:r>
            <a:endParaRPr lang="en-US" sz="1200" dirty="0"/>
          </a:p>
        </p:txBody>
      </p:sp>
      <p:sp>
        <p:nvSpPr>
          <p:cNvPr id="38" name="Text 31"/>
          <p:cNvSpPr txBox="1"/>
          <p:nvPr/>
        </p:nvSpPr>
        <p:spPr>
          <a:xfrm>
            <a:off x="548640" y="5440680"/>
            <a:ext cx="11064240" cy="731520"/>
          </a:xfrm>
          <a:prstGeom prst="rect">
            <a:avLst/>
          </a:prstGeom>
          <a:noFill/>
          <a:ln/>
        </p:spPr>
        <p:txBody>
          <a:bodyPr wrap="square" lIns="0" tIns="0" rIns="0" bIns="0" rtlCol="0" anchor="ctr"/>
          <a:lstStyle/>
          <a:p>
            <a:pPr indent="0" marL="0">
              <a:buNone/>
            </a:pPr>
            <a:r>
              <a:rPr lang="en-US" sz="1700" b="1" dirty="0">
                <a:solidFill>
                  <a:srgbClr val="0F1B2D"/>
                </a:solidFill>
                <a:latin typeface="Calibri" pitchFamily="34" charset="0"/>
                <a:ea typeface="Calibri" pitchFamily="34" charset="-122"/>
                <a:cs typeface="Calibri" pitchFamily="34" charset="-120"/>
              </a:rPr>
              <a:t>Errors here do not produce a wrong label. </a:t>
            </a:r>
            <a:pPr indent="0" marL="0">
              <a:buNone/>
            </a:pPr>
            <a:r>
              <a:rPr lang="en-US" sz="1700" dirty="0">
                <a:solidFill>
                  <a:srgbClr val="0F1B2D"/>
                </a:solidFill>
                <a:latin typeface="Calibri" pitchFamily="34" charset="0"/>
                <a:ea typeface="Calibri" pitchFamily="34" charset="-122"/>
                <a:cs typeface="Calibri" pitchFamily="34" charset="-120"/>
              </a:rPr>
              <a:t>They produce a wrong action: the wrong temperature, the wrong door, the wrong destination.</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0B7F8A"/>
                </a:solidFill>
                <a:latin typeface="Calibri" pitchFamily="34" charset="0"/>
                <a:ea typeface="Calibri" pitchFamily="34" charset="-122"/>
                <a:cs typeface="Calibri" pitchFamily="34" charset="-120"/>
              </a:rPr>
              <a:t>MOTIVATION</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Existing benchmarks each cover part of the problem</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91672" cy="914400"/>
        </p:xfrm>
        <a:graphic>
          <a:graphicData uri="http://schemas.openxmlformats.org/drawingml/2006/table">
            <a:tbl>
              <a:tblPr/>
              <a:tblGrid>
                <a:gridCol w="3044952"/>
                <a:gridCol w="1463040"/>
                <a:gridCol w="1737360"/>
                <a:gridCol w="1737360"/>
                <a:gridCol w="1554480"/>
                <a:gridCol w="1554480"/>
              </a:tblGrid>
              <a:tr h="502920">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Speech input</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Executable tool calls</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Multi-intent &amp; multi-turn</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Accent &amp; noise diversity</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Diagnostic complexity tiers</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r>
              <a:tr h="713232">
                <a:tc>
                  <a:txBody>
                    <a:bodyPr/>
                    <a:lstStyle/>
                    <a:p>
                      <a:pPr algn="l" indent="0" marL="0">
                        <a:buNone/>
                      </a:pPr>
                      <a:r>
                        <a:rPr lang="en-US" sz="1400" b="1" dirty="0">
                          <a:solidFill>
                            <a:srgbClr val="0F1B2D"/>
                          </a:solidFill>
                          <a:latin typeface="Calibri" pitchFamily="34" charset="0"/>
                          <a:ea typeface="Calibri" pitchFamily="34" charset="-122"/>
                          <a:cs typeface="Calibri" pitchFamily="34" charset="-120"/>
                        </a:rPr>
                        <a:t>Text function calling</a:t>
                      </a:r>
                      <a:endParaRPr lang="en-US" sz="1300" dirty="0">
                        <a:latin typeface="Calibri" charset="0"/>
                        <a:ea typeface="Calibri" charset="0"/>
                        <a:cs typeface="Calibri" charset="0"/>
                      </a:endParaRPr>
                    </a:p>
                    <a:p>
                      <a:pPr algn="l" indent="0" marL="0">
                        <a:buNone/>
                      </a:pPr>
                      <a:r>
                        <a:rPr lang="en-US" sz="1150" dirty="0">
                          <a:solidFill>
                            <a:srgbClr val="5B6B7F"/>
                          </a:solidFill>
                          <a:latin typeface="Calibri" pitchFamily="34" charset="0"/>
                          <a:ea typeface="Calibri" pitchFamily="34" charset="-122"/>
                          <a:cs typeface="Calibri" pitchFamily="34" charset="-120"/>
                        </a:rPr>
                        <a:t>BFCL, ComplexFuncBench</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B7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1F5F9"/>
                    </a:solidFill>
                  </a:tcPr>
                </a:tc>
                <a:tc>
                  <a:txBody>
                    <a:bodyPr/>
                    <a:lstStyle/>
                    <a:p>
                      <a:pPr algn="ctr" indent="0" marL="0">
                        <a:buNone/>
                      </a:pPr>
                      <a:r>
                        <a:rPr lang="en-US" sz="1300" b="1" dirty="0">
                          <a:solidFill>
                            <a:srgbClr val="0B7F8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DDF3F5"/>
                    </a:solidFill>
                  </a:tcPr>
                </a:tc>
                <a:tc>
                  <a:txBody>
                    <a:bodyPr/>
                    <a:lstStyle/>
                    <a:p>
                      <a:pPr algn="ctr" indent="0" marL="0">
                        <a:buNone/>
                      </a:pPr>
                      <a:r>
                        <a:rPr lang="en-US" sz="1300" b="1" dirty="0">
                          <a:solidFill>
                            <a:srgbClr val="0B7F8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DDF3F5"/>
                    </a:solidFill>
                  </a:tcPr>
                </a:tc>
                <a:tc>
                  <a:txBody>
                    <a:bodyPr/>
                    <a:lstStyle/>
                    <a:p>
                      <a:pPr algn="ctr" indent="0" marL="0">
                        <a:buNone/>
                      </a:pPr>
                      <a:r>
                        <a:rPr lang="en-US" sz="1300" dirty="0">
                          <a:solidFill>
                            <a:srgbClr val="5B6B7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1F5F9"/>
                    </a:solidFill>
                  </a:tcPr>
                </a:tc>
                <a:tc>
                  <a:txBody>
                    <a:bodyPr/>
                    <a:lstStyle/>
                    <a:p>
                      <a:pPr algn="ctr" indent="0" marL="0">
                        <a:buNone/>
                      </a:pPr>
                      <a:r>
                        <a:rPr lang="en-US" sz="1300" b="1" dirty="0">
                          <a:solidFill>
                            <a:srgbClr val="C9821A"/>
                          </a:solidFill>
                          <a:latin typeface="Calibri" pitchFamily="34" charset="0"/>
                          <a:ea typeface="Calibri" pitchFamily="34" charset="-122"/>
                          <a:cs typeface="Calibri" pitchFamily="34" charset="-120"/>
                        </a:rPr>
                        <a:t>Limited</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CEFD8"/>
                    </a:solidFill>
                  </a:tcPr>
                </a:tc>
              </a:tr>
              <a:tr h="713232">
                <a:tc>
                  <a:txBody>
                    <a:bodyPr/>
                    <a:lstStyle/>
                    <a:p>
                      <a:pPr algn="l" indent="0" marL="0">
                        <a:buNone/>
                      </a:pPr>
                      <a:r>
                        <a:rPr lang="en-US" sz="1400" b="1" dirty="0">
                          <a:solidFill>
                            <a:srgbClr val="0F1B2D"/>
                          </a:solidFill>
                          <a:latin typeface="Calibri" pitchFamily="34" charset="0"/>
                          <a:ea typeface="Calibri" pitchFamily="34" charset="-122"/>
                          <a:cs typeface="Calibri" pitchFamily="34" charset="-120"/>
                        </a:rPr>
                        <a:t>Spoken language understanding</a:t>
                      </a:r>
                      <a:endParaRPr lang="en-US" sz="1300" dirty="0">
                        <a:latin typeface="Calibri" charset="0"/>
                        <a:ea typeface="Calibri" charset="0"/>
                        <a:cs typeface="Calibri" charset="0"/>
                      </a:endParaRPr>
                    </a:p>
                    <a:p>
                      <a:pPr algn="l" indent="0" marL="0">
                        <a:buNone/>
                      </a:pPr>
                      <a:r>
                        <a:rPr lang="en-US" sz="1150" dirty="0">
                          <a:solidFill>
                            <a:srgbClr val="5B6B7F"/>
                          </a:solidFill>
                          <a:latin typeface="Calibri" pitchFamily="34" charset="0"/>
                          <a:ea typeface="Calibri" pitchFamily="34" charset="-122"/>
                          <a:cs typeface="Calibri" pitchFamily="34" charset="-120"/>
                        </a:rPr>
                        <a:t>SLURP, STOP, MAC-SLU</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7F8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DDF3F5"/>
                    </a:solidFill>
                  </a:tcPr>
                </a:tc>
                <a:tc>
                  <a:txBody>
                    <a:bodyPr/>
                    <a:lstStyle/>
                    <a:p>
                      <a:pPr algn="ctr" indent="0" marL="0">
                        <a:buNone/>
                      </a:pPr>
                      <a:r>
                        <a:rPr lang="en-US" sz="1300" dirty="0">
                          <a:solidFill>
                            <a:srgbClr val="5B6B7F"/>
                          </a:solidFill>
                          <a:latin typeface="Calibri" pitchFamily="34" charset="0"/>
                          <a:ea typeface="Calibri" pitchFamily="34" charset="-122"/>
                          <a:cs typeface="Calibri" pitchFamily="34" charset="-120"/>
                        </a:rPr>
                        <a:t>No  (intents + slots)</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1F5F9"/>
                    </a:solidFill>
                  </a:tcPr>
                </a:tc>
                <a:tc>
                  <a:txBody>
                    <a:bodyPr/>
                    <a:lstStyle/>
                    <a:p>
                      <a:pPr algn="ctr" indent="0" marL="0">
                        <a:buNone/>
                      </a:pPr>
                      <a:r>
                        <a:rPr lang="en-US" sz="1300" b="1" dirty="0">
                          <a:solidFill>
                            <a:srgbClr val="C9821A"/>
                          </a:solidFill>
                          <a:latin typeface="Calibri" pitchFamily="34" charset="0"/>
                          <a:ea typeface="Calibri" pitchFamily="34" charset="-122"/>
                          <a:cs typeface="Calibri" pitchFamily="34" charset="-120"/>
                        </a:rPr>
                        <a:t>Limited</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CEFD8"/>
                    </a:solidFill>
                  </a:tcPr>
                </a:tc>
                <a:tc>
                  <a:txBody>
                    <a:bodyPr/>
                    <a:lstStyle/>
                    <a:p>
                      <a:pPr algn="ctr" indent="0" marL="0">
                        <a:buNone/>
                      </a:pPr>
                      <a:r>
                        <a:rPr lang="en-US" sz="1300" b="1" dirty="0">
                          <a:solidFill>
                            <a:srgbClr val="C9821A"/>
                          </a:solidFill>
                          <a:latin typeface="Calibri" pitchFamily="34" charset="0"/>
                          <a:ea typeface="Calibri" pitchFamily="34" charset="-122"/>
                          <a:cs typeface="Calibri" pitchFamily="34" charset="-120"/>
                        </a:rPr>
                        <a:t>Limited</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CEFD8"/>
                    </a:solidFill>
                  </a:tcPr>
                </a:tc>
                <a:tc>
                  <a:txBody>
                    <a:bodyPr/>
                    <a:lstStyle/>
                    <a:p>
                      <a:pPr algn="ctr" indent="0" marL="0">
                        <a:buNone/>
                      </a:pPr>
                      <a:r>
                        <a:rPr lang="en-US" sz="1300" dirty="0">
                          <a:solidFill>
                            <a:srgbClr val="5B6B7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1F5F9"/>
                    </a:solidFill>
                  </a:tcPr>
                </a:tc>
              </a:tr>
              <a:tr h="713232">
                <a:tc>
                  <a:txBody>
                    <a:bodyPr/>
                    <a:lstStyle/>
                    <a:p>
                      <a:pPr algn="l" indent="0" marL="0">
                        <a:buNone/>
                      </a:pPr>
                      <a:r>
                        <a:rPr lang="en-US" sz="1400" b="1" dirty="0">
                          <a:solidFill>
                            <a:srgbClr val="0F1B2D"/>
                          </a:solidFill>
                          <a:latin typeface="Calibri" pitchFamily="34" charset="0"/>
                          <a:ea typeface="Calibri" pitchFamily="34" charset="-122"/>
                          <a:cs typeface="Calibri" pitchFamily="34" charset="-120"/>
                        </a:rPr>
                        <a:t>Audio tool use</a:t>
                      </a:r>
                      <a:endParaRPr lang="en-US" sz="1300" dirty="0">
                        <a:latin typeface="Calibri" charset="0"/>
                        <a:ea typeface="Calibri" charset="0"/>
                        <a:cs typeface="Calibri" charset="0"/>
                      </a:endParaRPr>
                    </a:p>
                    <a:p>
                      <a:pPr algn="l" indent="0" marL="0">
                        <a:buNone/>
                      </a:pPr>
                      <a:r>
                        <a:rPr lang="en-US" sz="1150" dirty="0">
                          <a:solidFill>
                            <a:srgbClr val="5B6B7F"/>
                          </a:solidFill>
                          <a:latin typeface="Calibri" pitchFamily="34" charset="0"/>
                          <a:ea typeface="Calibri" pitchFamily="34" charset="-122"/>
                          <a:cs typeface="Calibri" pitchFamily="34" charset="-120"/>
                        </a:rPr>
                        <a:t>BFCL-Audio, VoiceAgentBench, MFCL</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7F8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DDF3F5"/>
                    </a:solidFill>
                  </a:tcPr>
                </a:tc>
                <a:tc>
                  <a:txBody>
                    <a:bodyPr/>
                    <a:lstStyle/>
                    <a:p>
                      <a:pPr algn="ctr" indent="0" marL="0">
                        <a:buNone/>
                      </a:pPr>
                      <a:r>
                        <a:rPr lang="en-US" sz="1300" b="1" dirty="0">
                          <a:solidFill>
                            <a:srgbClr val="0B7F8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DDF3F5"/>
                    </a:solidFill>
                  </a:tcPr>
                </a:tc>
                <a:tc>
                  <a:txBody>
                    <a:bodyPr/>
                    <a:lstStyle/>
                    <a:p>
                      <a:pPr algn="ctr" indent="0" marL="0">
                        <a:buNone/>
                      </a:pPr>
                      <a:r>
                        <a:rPr lang="en-US" sz="1300" b="1" dirty="0">
                          <a:solidFill>
                            <a:srgbClr val="C9821A"/>
                          </a:solidFill>
                          <a:latin typeface="Calibri" pitchFamily="34" charset="0"/>
                          <a:ea typeface="Calibri" pitchFamily="34" charset="-122"/>
                          <a:cs typeface="Calibri" pitchFamily="34" charset="-120"/>
                        </a:rPr>
                        <a:t>Limited</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CEFD8"/>
                    </a:solidFill>
                  </a:tcPr>
                </a:tc>
                <a:tc>
                  <a:txBody>
                    <a:bodyPr/>
                    <a:lstStyle/>
                    <a:p>
                      <a:pPr algn="ctr" indent="0" marL="0">
                        <a:buNone/>
                      </a:pPr>
                      <a:r>
                        <a:rPr lang="en-US" sz="1300" b="1" dirty="0">
                          <a:solidFill>
                            <a:srgbClr val="C9821A"/>
                          </a:solidFill>
                          <a:latin typeface="Calibri" pitchFamily="34" charset="0"/>
                          <a:ea typeface="Calibri" pitchFamily="34" charset="-122"/>
                          <a:cs typeface="Calibri" pitchFamily="34" charset="-120"/>
                        </a:rPr>
                        <a:t>Limited</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CEFD8"/>
                    </a:solidFill>
                  </a:tcPr>
                </a:tc>
                <a:tc>
                  <a:txBody>
                    <a:bodyPr/>
                    <a:lstStyle/>
                    <a:p>
                      <a:pPr algn="ctr" indent="0" marL="0">
                        <a:buNone/>
                      </a:pPr>
                      <a:r>
                        <a:rPr lang="en-US" sz="1300" dirty="0">
                          <a:solidFill>
                            <a:srgbClr val="5B6B7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1F5F9"/>
                    </a:solidFill>
                  </a:tcPr>
                </a:tc>
              </a:tr>
              <a:tr h="713232">
                <a:tc>
                  <a:txBody>
                    <a:bodyPr/>
                    <a:lstStyle/>
                    <a:p>
                      <a:pPr algn="l" indent="0" marL="0">
                        <a:buNone/>
                      </a:pPr>
                      <a:r>
                        <a:rPr lang="en-US" sz="1500" b="1" dirty="0">
                          <a:solidFill>
                            <a:srgbClr val="0B7F8A"/>
                          </a:solidFill>
                          <a:latin typeface="Calibri" pitchFamily="34" charset="0"/>
                          <a:ea typeface="Calibri" pitchFamily="34" charset="-122"/>
                          <a:cs typeface="Calibri" pitchFamily="34" charset="-120"/>
                        </a:rPr>
                        <a:t>Audio2Tool</a:t>
                      </a:r>
                      <a:endParaRPr lang="en-US" sz="1300" dirty="0">
                        <a:latin typeface="Calibri" charset="0"/>
                        <a:ea typeface="Calibri" charset="0"/>
                        <a:cs typeface="Calibri" charset="0"/>
                      </a:endParaRPr>
                    </a:p>
                    <a:p>
                      <a:pPr algn="l" indent="0" marL="0">
                        <a:buNone/>
                      </a:pPr>
                      <a:r>
                        <a:rPr lang="en-US" sz="1150" dirty="0">
                          <a:solidFill>
                            <a:srgbClr val="5B6B7F"/>
                          </a:solidFill>
                          <a:latin typeface="Calibri" pitchFamily="34" charset="0"/>
                          <a:ea typeface="Calibri" pitchFamily="34" charset="-122"/>
                          <a:cs typeface="Calibri" pitchFamily="34" charset="-120"/>
                        </a:rPr>
                        <a:t>this work</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7F8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DDF3F5"/>
                    </a:solidFill>
                  </a:tcPr>
                </a:tc>
                <a:tc>
                  <a:txBody>
                    <a:bodyPr/>
                    <a:lstStyle/>
                    <a:p>
                      <a:pPr algn="ctr" indent="0" marL="0">
                        <a:buNone/>
                      </a:pPr>
                      <a:r>
                        <a:rPr lang="en-US" sz="1300" b="1" dirty="0">
                          <a:solidFill>
                            <a:srgbClr val="0B7F8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DDF3F5"/>
                    </a:solidFill>
                  </a:tcPr>
                </a:tc>
                <a:tc>
                  <a:txBody>
                    <a:bodyPr/>
                    <a:lstStyle/>
                    <a:p>
                      <a:pPr algn="ctr" indent="0" marL="0">
                        <a:buNone/>
                      </a:pPr>
                      <a:r>
                        <a:rPr lang="en-US" sz="1300" b="1" dirty="0">
                          <a:solidFill>
                            <a:srgbClr val="0B7F8A"/>
                          </a:solidFill>
                          <a:latin typeface="Calibri" pitchFamily="34" charset="0"/>
                          <a:ea typeface="Calibri" pitchFamily="34" charset="-122"/>
                          <a:cs typeface="Calibri" pitchFamily="34" charset="-120"/>
                        </a:rPr>
                        <a:t>Yes  (8 tiers)</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DDF3F5"/>
                    </a:solidFill>
                  </a:tcPr>
                </a:tc>
                <a:tc>
                  <a:txBody>
                    <a:bodyPr/>
                    <a:lstStyle/>
                    <a:p>
                      <a:pPr algn="ctr" indent="0" marL="0">
                        <a:buNone/>
                      </a:pPr>
                      <a:r>
                        <a:rPr lang="en-US" sz="1300" b="1" dirty="0">
                          <a:solidFill>
                            <a:srgbClr val="0B7F8A"/>
                          </a:solidFill>
                          <a:latin typeface="Calibri" pitchFamily="34" charset="0"/>
                          <a:ea typeface="Calibri" pitchFamily="34" charset="-122"/>
                          <a:cs typeface="Calibri" pitchFamily="34" charset="-120"/>
                        </a:rPr>
                        <a:t>Yes  (330 voices, noise)</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DDF3F5"/>
                    </a:solidFill>
                  </a:tcPr>
                </a:tc>
                <a:tc>
                  <a:txBody>
                    <a:bodyPr/>
                    <a:lstStyle/>
                    <a:p>
                      <a:pPr algn="ctr" indent="0" marL="0">
                        <a:buNone/>
                      </a:pPr>
                      <a:r>
                        <a:rPr lang="en-US" sz="1300" b="1" dirty="0">
                          <a:solidFill>
                            <a:srgbClr val="0B7F8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DDF3F5"/>
                    </a:solidFill>
                  </a:tcPr>
                </a:tc>
              </a:tr>
            </a:tbl>
          </a:graphicData>
        </a:graphic>
      </p:graphicFrame>
      <p:sp>
        <p:nvSpPr>
          <p:cNvPr id="15" name="Text 11"/>
          <p:cNvSpPr txBox="1"/>
          <p:nvPr/>
        </p:nvSpPr>
        <p:spPr>
          <a:xfrm>
            <a:off x="548640" y="5349240"/>
            <a:ext cx="11064240" cy="822960"/>
          </a:xfrm>
          <a:prstGeom prst="rect">
            <a:avLst/>
          </a:prstGeom>
          <a:noFill/>
          <a:ln/>
        </p:spPr>
        <p:txBody>
          <a:bodyPr wrap="square" lIns="0" tIns="0" rIns="0" bIns="0" rtlCol="0" anchor="ctr"/>
          <a:lstStyle/>
          <a:p>
            <a:pPr indent="0" marL="0">
              <a:buNone/>
            </a:pPr>
            <a:r>
              <a:rPr lang="en-US" sz="1600" b="1" dirty="0">
                <a:solidFill>
                  <a:srgbClr val="1B2A41"/>
                </a:solidFill>
                <a:latin typeface="Calibri" pitchFamily="34" charset="0"/>
                <a:ea typeface="Calibri" pitchFamily="34" charset="-122"/>
                <a:cs typeface="Calibri" pitchFamily="34" charset="-120"/>
              </a:rPr>
              <a:t>Complementary, not competing. </a:t>
            </a:r>
            <a:pPr indent="0" marL="0">
              <a:buNone/>
            </a:pPr>
            <a:r>
              <a:rPr lang="en-US" sz="1600" dirty="0">
                <a:solidFill>
                  <a:srgbClr val="1B2A41"/>
                </a:solidFill>
                <a:latin typeface="Calibri" pitchFamily="34" charset="0"/>
                <a:ea typeface="Calibri" pitchFamily="34" charset="-122"/>
                <a:cs typeface="Calibri" pitchFamily="34" charset="-120"/>
              </a:rPr>
              <a:t>Audio2Tool keeps the executable-call formalism of BFCL, but makes the input spoken, acoustically diverse, and organised so each tier isolates a distinct failure mode.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0B7F8A"/>
                </a:solidFill>
                <a:latin typeface="Calibri" pitchFamily="34" charset="0"/>
                <a:ea typeface="Calibri" pitchFamily="34" charset="-122"/>
                <a:cs typeface="Calibri" pitchFamily="34" charset="-120"/>
              </a:rPr>
              <a:t>BENCHMARK</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Audio2Tool at a glance</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5</a:t>
            </a:r>
            <a:endParaRPr lang="en-US" sz="1000" dirty="0"/>
          </a:p>
        </p:txBody>
      </p:sp>
      <p:sp>
        <p:nvSpPr>
          <p:cNvPr id="14" name="Shape 11"/>
          <p:cNvSpPr/>
          <p:nvPr/>
        </p:nvSpPr>
        <p:spPr>
          <a:xfrm>
            <a:off x="548640" y="1600200"/>
            <a:ext cx="2651760" cy="1828800"/>
          </a:xfrm>
          <a:prstGeom prst="roundRect">
            <a:avLst>
              <a:gd name="adj" fmla="val 6000"/>
            </a:avLst>
          </a:prstGeom>
          <a:solidFill>
            <a:srgbClr val="F1F5F9"/>
          </a:solidFill>
          <a:ln w="12700">
            <a:solidFill>
              <a:srgbClr val="F1F5F9"/>
            </a:solidFill>
            <a:prstDash val="solid"/>
          </a:ln>
        </p:spPr>
      </p:sp>
      <p:sp>
        <p:nvSpPr>
          <p:cNvPr id="15" name="Text 12"/>
          <p:cNvSpPr txBox="1"/>
          <p:nvPr/>
        </p:nvSpPr>
        <p:spPr>
          <a:xfrm>
            <a:off x="822960" y="1828800"/>
            <a:ext cx="2194560" cy="868680"/>
          </a:xfrm>
          <a:prstGeom prst="rect">
            <a:avLst/>
          </a:prstGeom>
          <a:noFill/>
          <a:ln/>
        </p:spPr>
        <p:txBody>
          <a:bodyPr wrap="square" lIns="0" tIns="0" rIns="0" bIns="0" rtlCol="0" anchor="t"/>
          <a:lstStyle/>
          <a:p>
            <a:pPr indent="0" marL="0">
              <a:buNone/>
            </a:pPr>
            <a:r>
              <a:rPr lang="en-US" sz="4800" b="1" dirty="0">
                <a:solidFill>
                  <a:srgbClr val="0FA3B1"/>
                </a:solidFill>
                <a:latin typeface="Calibri" pitchFamily="34" charset="0"/>
                <a:ea typeface="Calibri" pitchFamily="34" charset="-122"/>
                <a:cs typeface="Calibri" pitchFamily="34" charset="-120"/>
              </a:rPr>
              <a:t>~30K</a:t>
            </a:r>
            <a:endParaRPr lang="en-US" sz="4800" dirty="0"/>
          </a:p>
        </p:txBody>
      </p:sp>
      <p:sp>
        <p:nvSpPr>
          <p:cNvPr id="16" name="Text 13"/>
          <p:cNvSpPr txBox="1"/>
          <p:nvPr/>
        </p:nvSpPr>
        <p:spPr>
          <a:xfrm>
            <a:off x="822960" y="2743200"/>
            <a:ext cx="2148840" cy="640080"/>
          </a:xfrm>
          <a:prstGeom prst="rect">
            <a:avLst/>
          </a:prstGeom>
          <a:noFill/>
          <a:ln/>
        </p:spPr>
        <p:txBody>
          <a:bodyPr wrap="square" lIns="0" tIns="0" rIns="0" bIns="0" rtlCol="0" anchor="t"/>
          <a:lstStyle/>
          <a:p>
            <a:pPr indent="0" marL="0">
              <a:lnSpc>
                <a:spcPct val="105000"/>
              </a:lnSpc>
              <a:buNone/>
            </a:pPr>
            <a:r>
              <a:rPr lang="en-US" sz="1350" dirty="0">
                <a:solidFill>
                  <a:srgbClr val="1B2A41"/>
                </a:solidFill>
                <a:latin typeface="Calibri" pitchFamily="34" charset="0"/>
                <a:ea typeface="Calibri" pitchFamily="34" charset="-122"/>
                <a:cs typeface="Calibri" pitchFamily="34" charset="-120"/>
              </a:rPr>
              <a:t>spoken queries, each with a gold tool call</a:t>
            </a:r>
            <a:endParaRPr lang="en-US" sz="1350" dirty="0"/>
          </a:p>
        </p:txBody>
      </p:sp>
      <p:sp>
        <p:nvSpPr>
          <p:cNvPr id="17" name="Shape 14"/>
          <p:cNvSpPr/>
          <p:nvPr/>
        </p:nvSpPr>
        <p:spPr>
          <a:xfrm>
            <a:off x="3364992" y="1600200"/>
            <a:ext cx="2651760" cy="1828800"/>
          </a:xfrm>
          <a:prstGeom prst="roundRect">
            <a:avLst>
              <a:gd name="adj" fmla="val 6000"/>
            </a:avLst>
          </a:prstGeom>
          <a:solidFill>
            <a:srgbClr val="F1F5F9"/>
          </a:solidFill>
          <a:ln w="12700">
            <a:solidFill>
              <a:srgbClr val="F1F5F9"/>
            </a:solidFill>
            <a:prstDash val="solid"/>
          </a:ln>
        </p:spPr>
      </p:sp>
      <p:sp>
        <p:nvSpPr>
          <p:cNvPr id="18" name="Text 15"/>
          <p:cNvSpPr txBox="1"/>
          <p:nvPr/>
        </p:nvSpPr>
        <p:spPr>
          <a:xfrm>
            <a:off x="3639312" y="1828800"/>
            <a:ext cx="2194560" cy="868680"/>
          </a:xfrm>
          <a:prstGeom prst="rect">
            <a:avLst/>
          </a:prstGeom>
          <a:noFill/>
          <a:ln/>
        </p:spPr>
        <p:txBody>
          <a:bodyPr wrap="square" lIns="0" tIns="0" rIns="0" bIns="0" rtlCol="0" anchor="t"/>
          <a:lstStyle/>
          <a:p>
            <a:pPr indent="0" marL="0">
              <a:buNone/>
            </a:pPr>
            <a:r>
              <a:rPr lang="en-US" sz="4800" b="1" dirty="0">
                <a:solidFill>
                  <a:srgbClr val="0FA3B1"/>
                </a:solidFill>
                <a:latin typeface="Calibri" pitchFamily="34" charset="0"/>
                <a:ea typeface="Calibri" pitchFamily="34" charset="-122"/>
                <a:cs typeface="Calibri" pitchFamily="34" charset="-120"/>
              </a:rPr>
              <a:t>152</a:t>
            </a:r>
            <a:endParaRPr lang="en-US" sz="4800" dirty="0"/>
          </a:p>
        </p:txBody>
      </p:sp>
      <p:sp>
        <p:nvSpPr>
          <p:cNvPr id="19" name="Text 16"/>
          <p:cNvSpPr txBox="1"/>
          <p:nvPr/>
        </p:nvSpPr>
        <p:spPr>
          <a:xfrm>
            <a:off x="3639312" y="2743200"/>
            <a:ext cx="2148840" cy="640080"/>
          </a:xfrm>
          <a:prstGeom prst="rect">
            <a:avLst/>
          </a:prstGeom>
          <a:noFill/>
          <a:ln/>
        </p:spPr>
        <p:txBody>
          <a:bodyPr wrap="square" lIns="0" tIns="0" rIns="0" bIns="0" rtlCol="0" anchor="t"/>
          <a:lstStyle/>
          <a:p>
            <a:pPr indent="0" marL="0">
              <a:lnSpc>
                <a:spcPct val="105000"/>
              </a:lnSpc>
              <a:buNone/>
            </a:pPr>
            <a:r>
              <a:rPr lang="en-US" sz="1350" dirty="0">
                <a:solidFill>
                  <a:srgbClr val="1B2A41"/>
                </a:solidFill>
                <a:latin typeface="Calibri" pitchFamily="34" charset="0"/>
                <a:ea typeface="Calibri" pitchFamily="34" charset="-122"/>
                <a:cs typeface="Calibri" pitchFamily="34" charset="-120"/>
              </a:rPr>
              <a:t>verified tools grounded in real APIs</a:t>
            </a:r>
            <a:endParaRPr lang="en-US" sz="1350" dirty="0"/>
          </a:p>
        </p:txBody>
      </p:sp>
      <p:sp>
        <p:nvSpPr>
          <p:cNvPr id="20" name="Shape 17"/>
          <p:cNvSpPr/>
          <p:nvPr/>
        </p:nvSpPr>
        <p:spPr>
          <a:xfrm>
            <a:off x="6181344" y="1600200"/>
            <a:ext cx="2651760" cy="1828800"/>
          </a:xfrm>
          <a:prstGeom prst="roundRect">
            <a:avLst>
              <a:gd name="adj" fmla="val 6000"/>
            </a:avLst>
          </a:prstGeom>
          <a:solidFill>
            <a:srgbClr val="F1F5F9"/>
          </a:solidFill>
          <a:ln w="12700">
            <a:solidFill>
              <a:srgbClr val="F1F5F9"/>
            </a:solidFill>
            <a:prstDash val="solid"/>
          </a:ln>
        </p:spPr>
      </p:sp>
      <p:sp>
        <p:nvSpPr>
          <p:cNvPr id="21" name="Text 18"/>
          <p:cNvSpPr txBox="1"/>
          <p:nvPr/>
        </p:nvSpPr>
        <p:spPr>
          <a:xfrm>
            <a:off x="6455664" y="1828800"/>
            <a:ext cx="2194560" cy="868680"/>
          </a:xfrm>
          <a:prstGeom prst="rect">
            <a:avLst/>
          </a:prstGeom>
          <a:noFill/>
          <a:ln/>
        </p:spPr>
        <p:txBody>
          <a:bodyPr wrap="square" lIns="0" tIns="0" rIns="0" bIns="0" rtlCol="0" anchor="t"/>
          <a:lstStyle/>
          <a:p>
            <a:pPr indent="0" marL="0">
              <a:buNone/>
            </a:pPr>
            <a:r>
              <a:rPr lang="en-US" sz="4800" b="1" dirty="0">
                <a:solidFill>
                  <a:srgbClr val="0FA3B1"/>
                </a:solidFill>
                <a:latin typeface="Calibri" pitchFamily="34" charset="0"/>
                <a:ea typeface="Calibri" pitchFamily="34" charset="-122"/>
                <a:cs typeface="Calibri" pitchFamily="34" charset="-120"/>
              </a:rPr>
              <a:t>23</a:t>
            </a:r>
            <a:endParaRPr lang="en-US" sz="4800" dirty="0"/>
          </a:p>
        </p:txBody>
      </p:sp>
      <p:sp>
        <p:nvSpPr>
          <p:cNvPr id="22" name="Text 19"/>
          <p:cNvSpPr txBox="1"/>
          <p:nvPr/>
        </p:nvSpPr>
        <p:spPr>
          <a:xfrm>
            <a:off x="6455664" y="2743200"/>
            <a:ext cx="2148840" cy="640080"/>
          </a:xfrm>
          <a:prstGeom prst="rect">
            <a:avLst/>
          </a:prstGeom>
          <a:noFill/>
          <a:ln/>
        </p:spPr>
        <p:txBody>
          <a:bodyPr wrap="square" lIns="0" tIns="0" rIns="0" bIns="0" rtlCol="0" anchor="t"/>
          <a:lstStyle/>
          <a:p>
            <a:pPr indent="0" marL="0">
              <a:lnSpc>
                <a:spcPct val="105000"/>
              </a:lnSpc>
              <a:buNone/>
            </a:pPr>
            <a:r>
              <a:rPr lang="en-US" sz="1350" dirty="0">
                <a:solidFill>
                  <a:srgbClr val="1B2A41"/>
                </a:solidFill>
                <a:latin typeface="Calibri" pitchFamily="34" charset="0"/>
                <a:ea typeface="Calibri" pitchFamily="34" charset="-122"/>
                <a:cs typeface="Calibri" pitchFamily="34" charset="-120"/>
              </a:rPr>
              <a:t>functional categories</a:t>
            </a:r>
            <a:endParaRPr lang="en-US" sz="1350" dirty="0"/>
          </a:p>
        </p:txBody>
      </p:sp>
      <p:sp>
        <p:nvSpPr>
          <p:cNvPr id="23" name="Shape 20"/>
          <p:cNvSpPr/>
          <p:nvPr/>
        </p:nvSpPr>
        <p:spPr>
          <a:xfrm>
            <a:off x="8997696" y="1600200"/>
            <a:ext cx="2651760" cy="1828800"/>
          </a:xfrm>
          <a:prstGeom prst="roundRect">
            <a:avLst>
              <a:gd name="adj" fmla="val 6000"/>
            </a:avLst>
          </a:prstGeom>
          <a:solidFill>
            <a:srgbClr val="F1F5F9"/>
          </a:solidFill>
          <a:ln w="12700">
            <a:solidFill>
              <a:srgbClr val="F1F5F9"/>
            </a:solidFill>
            <a:prstDash val="solid"/>
          </a:ln>
        </p:spPr>
      </p:sp>
      <p:sp>
        <p:nvSpPr>
          <p:cNvPr id="24" name="Text 21"/>
          <p:cNvSpPr txBox="1"/>
          <p:nvPr/>
        </p:nvSpPr>
        <p:spPr>
          <a:xfrm>
            <a:off x="9272016" y="1828800"/>
            <a:ext cx="2194560" cy="868680"/>
          </a:xfrm>
          <a:prstGeom prst="rect">
            <a:avLst/>
          </a:prstGeom>
          <a:noFill/>
          <a:ln/>
        </p:spPr>
        <p:txBody>
          <a:bodyPr wrap="square" lIns="0" tIns="0" rIns="0" bIns="0" rtlCol="0" anchor="t"/>
          <a:lstStyle/>
          <a:p>
            <a:pPr indent="0" marL="0">
              <a:buNone/>
            </a:pPr>
            <a:r>
              <a:rPr lang="en-US" sz="4800" b="1" dirty="0">
                <a:solidFill>
                  <a:srgbClr val="0FA3B1"/>
                </a:solidFill>
                <a:latin typeface="Calibri" pitchFamily="34" charset="0"/>
                <a:ea typeface="Calibri" pitchFamily="34" charset="-122"/>
                <a:cs typeface="Calibri" pitchFamily="34" charset="-120"/>
              </a:rPr>
              <a:t>3</a:t>
            </a:r>
            <a:endParaRPr lang="en-US" sz="4800" dirty="0"/>
          </a:p>
        </p:txBody>
      </p:sp>
      <p:sp>
        <p:nvSpPr>
          <p:cNvPr id="25" name="Text 22"/>
          <p:cNvSpPr txBox="1"/>
          <p:nvPr/>
        </p:nvSpPr>
        <p:spPr>
          <a:xfrm>
            <a:off x="9272016" y="2743200"/>
            <a:ext cx="2148840" cy="640080"/>
          </a:xfrm>
          <a:prstGeom prst="rect">
            <a:avLst/>
          </a:prstGeom>
          <a:noFill/>
          <a:ln/>
        </p:spPr>
        <p:txBody>
          <a:bodyPr wrap="square" lIns="0" tIns="0" rIns="0" bIns="0" rtlCol="0" anchor="t"/>
          <a:lstStyle/>
          <a:p>
            <a:pPr indent="0" marL="0">
              <a:lnSpc>
                <a:spcPct val="105000"/>
              </a:lnSpc>
              <a:buNone/>
            </a:pPr>
            <a:r>
              <a:rPr lang="en-US" sz="1350" dirty="0">
                <a:solidFill>
                  <a:srgbClr val="1B2A41"/>
                </a:solidFill>
                <a:latin typeface="Calibri" pitchFamily="34" charset="0"/>
                <a:ea typeface="Calibri" pitchFamily="34" charset="-122"/>
                <a:cs typeface="Calibri" pitchFamily="34" charset="-120"/>
              </a:rPr>
              <a:t>domains: smart car · smart home · wearables</a:t>
            </a:r>
            <a:endParaRPr lang="en-US" sz="1350" dirty="0"/>
          </a:p>
        </p:txBody>
      </p:sp>
      <p:sp>
        <p:nvSpPr>
          <p:cNvPr id="26" name="Shape 23"/>
          <p:cNvSpPr/>
          <p:nvPr/>
        </p:nvSpPr>
        <p:spPr>
          <a:xfrm>
            <a:off x="548640" y="3593592"/>
            <a:ext cx="2651760" cy="1828800"/>
          </a:xfrm>
          <a:prstGeom prst="roundRect">
            <a:avLst>
              <a:gd name="adj" fmla="val 6000"/>
            </a:avLst>
          </a:prstGeom>
          <a:solidFill>
            <a:srgbClr val="F1F5F9"/>
          </a:solidFill>
          <a:ln w="12700">
            <a:solidFill>
              <a:srgbClr val="F1F5F9"/>
            </a:solidFill>
            <a:prstDash val="solid"/>
          </a:ln>
        </p:spPr>
      </p:sp>
      <p:sp>
        <p:nvSpPr>
          <p:cNvPr id="27" name="Text 24"/>
          <p:cNvSpPr txBox="1"/>
          <p:nvPr/>
        </p:nvSpPr>
        <p:spPr>
          <a:xfrm>
            <a:off x="822960" y="3822192"/>
            <a:ext cx="2194560" cy="868680"/>
          </a:xfrm>
          <a:prstGeom prst="rect">
            <a:avLst/>
          </a:prstGeom>
          <a:noFill/>
          <a:ln/>
        </p:spPr>
        <p:txBody>
          <a:bodyPr wrap="square" lIns="0" tIns="0" rIns="0" bIns="0" rtlCol="0" anchor="t"/>
          <a:lstStyle/>
          <a:p>
            <a:pPr indent="0" marL="0">
              <a:buNone/>
            </a:pPr>
            <a:r>
              <a:rPr lang="en-US" sz="4800" b="1" dirty="0">
                <a:solidFill>
                  <a:srgbClr val="F2A93B"/>
                </a:solidFill>
                <a:latin typeface="Calibri" pitchFamily="34" charset="0"/>
                <a:ea typeface="Calibri" pitchFamily="34" charset="-122"/>
                <a:cs typeface="Calibri" pitchFamily="34" charset="-120"/>
              </a:rPr>
              <a:t>8</a:t>
            </a:r>
            <a:endParaRPr lang="en-US" sz="4800" dirty="0"/>
          </a:p>
        </p:txBody>
      </p:sp>
      <p:sp>
        <p:nvSpPr>
          <p:cNvPr id="28" name="Text 25"/>
          <p:cNvSpPr txBox="1"/>
          <p:nvPr/>
        </p:nvSpPr>
        <p:spPr>
          <a:xfrm>
            <a:off x="822960" y="4736592"/>
            <a:ext cx="2148840" cy="640080"/>
          </a:xfrm>
          <a:prstGeom prst="rect">
            <a:avLst/>
          </a:prstGeom>
          <a:noFill/>
          <a:ln/>
        </p:spPr>
        <p:txBody>
          <a:bodyPr wrap="square" lIns="0" tIns="0" rIns="0" bIns="0" rtlCol="0" anchor="t"/>
          <a:lstStyle/>
          <a:p>
            <a:pPr indent="0" marL="0">
              <a:lnSpc>
                <a:spcPct val="105000"/>
              </a:lnSpc>
              <a:buNone/>
            </a:pPr>
            <a:r>
              <a:rPr lang="en-US" sz="1350" dirty="0">
                <a:solidFill>
                  <a:srgbClr val="1B2A41"/>
                </a:solidFill>
                <a:latin typeface="Calibri" pitchFamily="34" charset="0"/>
                <a:ea typeface="Calibri" pitchFamily="34" charset="-122"/>
                <a:cs typeface="Calibri" pitchFamily="34" charset="-120"/>
              </a:rPr>
              <a:t>complexity tiers, one failure mode each</a:t>
            </a:r>
            <a:endParaRPr lang="en-US" sz="1350" dirty="0"/>
          </a:p>
        </p:txBody>
      </p:sp>
      <p:sp>
        <p:nvSpPr>
          <p:cNvPr id="29" name="Shape 26"/>
          <p:cNvSpPr/>
          <p:nvPr/>
        </p:nvSpPr>
        <p:spPr>
          <a:xfrm>
            <a:off x="3364992" y="3593592"/>
            <a:ext cx="2651760" cy="1828800"/>
          </a:xfrm>
          <a:prstGeom prst="roundRect">
            <a:avLst>
              <a:gd name="adj" fmla="val 6000"/>
            </a:avLst>
          </a:prstGeom>
          <a:solidFill>
            <a:srgbClr val="F1F5F9"/>
          </a:solidFill>
          <a:ln w="12700">
            <a:solidFill>
              <a:srgbClr val="F1F5F9"/>
            </a:solidFill>
            <a:prstDash val="solid"/>
          </a:ln>
        </p:spPr>
      </p:sp>
      <p:sp>
        <p:nvSpPr>
          <p:cNvPr id="30" name="Text 27"/>
          <p:cNvSpPr txBox="1"/>
          <p:nvPr/>
        </p:nvSpPr>
        <p:spPr>
          <a:xfrm>
            <a:off x="3639312" y="3822192"/>
            <a:ext cx="2194560" cy="868680"/>
          </a:xfrm>
          <a:prstGeom prst="rect">
            <a:avLst/>
          </a:prstGeom>
          <a:noFill/>
          <a:ln/>
        </p:spPr>
        <p:txBody>
          <a:bodyPr wrap="square" lIns="0" tIns="0" rIns="0" bIns="0" rtlCol="0" anchor="t"/>
          <a:lstStyle/>
          <a:p>
            <a:pPr indent="0" marL="0">
              <a:buNone/>
            </a:pPr>
            <a:r>
              <a:rPr lang="en-US" sz="4800" b="1" dirty="0">
                <a:solidFill>
                  <a:srgbClr val="E4572E"/>
                </a:solidFill>
                <a:latin typeface="Calibri" pitchFamily="34" charset="0"/>
                <a:ea typeface="Calibri" pitchFamily="34" charset="-122"/>
                <a:cs typeface="Calibri" pitchFamily="34" charset="-120"/>
              </a:rPr>
              <a:t>330</a:t>
            </a:r>
            <a:endParaRPr lang="en-US" sz="4800" dirty="0"/>
          </a:p>
        </p:txBody>
      </p:sp>
      <p:sp>
        <p:nvSpPr>
          <p:cNvPr id="31" name="Text 28"/>
          <p:cNvSpPr txBox="1"/>
          <p:nvPr/>
        </p:nvSpPr>
        <p:spPr>
          <a:xfrm>
            <a:off x="3639312" y="4736592"/>
            <a:ext cx="2148840" cy="640080"/>
          </a:xfrm>
          <a:prstGeom prst="rect">
            <a:avLst/>
          </a:prstGeom>
          <a:noFill/>
          <a:ln/>
        </p:spPr>
        <p:txBody>
          <a:bodyPr wrap="square" lIns="0" tIns="0" rIns="0" bIns="0" rtlCol="0" anchor="t"/>
          <a:lstStyle/>
          <a:p>
            <a:pPr indent="0" marL="0">
              <a:lnSpc>
                <a:spcPct val="105000"/>
              </a:lnSpc>
              <a:buNone/>
            </a:pPr>
            <a:r>
              <a:rPr lang="en-US" sz="1350" dirty="0">
                <a:solidFill>
                  <a:srgbClr val="1B2A41"/>
                </a:solidFill>
                <a:latin typeface="Calibri" pitchFamily="34" charset="0"/>
                <a:ea typeface="Calibri" pitchFamily="34" charset="-122"/>
                <a:cs typeface="Calibri" pitchFamily="34" charset="-120"/>
              </a:rPr>
              <a:t>cloned voices from 4 corpora, 4 regions</a:t>
            </a:r>
            <a:endParaRPr lang="en-US" sz="1350" dirty="0"/>
          </a:p>
        </p:txBody>
      </p:sp>
      <p:sp>
        <p:nvSpPr>
          <p:cNvPr id="32" name="Shape 29"/>
          <p:cNvSpPr/>
          <p:nvPr/>
        </p:nvSpPr>
        <p:spPr>
          <a:xfrm>
            <a:off x="6181344" y="3593592"/>
            <a:ext cx="2651760" cy="1828800"/>
          </a:xfrm>
          <a:prstGeom prst="roundRect">
            <a:avLst>
              <a:gd name="adj" fmla="val 6000"/>
            </a:avLst>
          </a:prstGeom>
          <a:solidFill>
            <a:srgbClr val="F1F5F9"/>
          </a:solidFill>
          <a:ln w="12700">
            <a:solidFill>
              <a:srgbClr val="F1F5F9"/>
            </a:solidFill>
            <a:prstDash val="solid"/>
          </a:ln>
        </p:spPr>
      </p:sp>
      <p:sp>
        <p:nvSpPr>
          <p:cNvPr id="33" name="Text 30"/>
          <p:cNvSpPr txBox="1"/>
          <p:nvPr/>
        </p:nvSpPr>
        <p:spPr>
          <a:xfrm>
            <a:off x="6455664" y="3822192"/>
            <a:ext cx="2194560" cy="868680"/>
          </a:xfrm>
          <a:prstGeom prst="rect">
            <a:avLst/>
          </a:prstGeom>
          <a:noFill/>
          <a:ln/>
        </p:spPr>
        <p:txBody>
          <a:bodyPr wrap="square" lIns="0" tIns="0" rIns="0" bIns="0" rtlCol="0" anchor="t"/>
          <a:lstStyle/>
          <a:p>
            <a:pPr indent="0" marL="0">
              <a:buNone/>
            </a:pPr>
            <a:r>
              <a:rPr lang="en-US" sz="4800" b="1" dirty="0">
                <a:solidFill>
                  <a:srgbClr val="E4572E"/>
                </a:solidFill>
                <a:latin typeface="Calibri" pitchFamily="34" charset="0"/>
                <a:ea typeface="Calibri" pitchFamily="34" charset="-122"/>
                <a:cs typeface="Calibri" pitchFamily="34" charset="-120"/>
              </a:rPr>
              <a:t>2</a:t>
            </a:r>
            <a:endParaRPr lang="en-US" sz="4800" dirty="0"/>
          </a:p>
        </p:txBody>
      </p:sp>
      <p:sp>
        <p:nvSpPr>
          <p:cNvPr id="34" name="Text 31"/>
          <p:cNvSpPr txBox="1"/>
          <p:nvPr/>
        </p:nvSpPr>
        <p:spPr>
          <a:xfrm>
            <a:off x="6455664" y="4736592"/>
            <a:ext cx="2148840" cy="640080"/>
          </a:xfrm>
          <a:prstGeom prst="rect">
            <a:avLst/>
          </a:prstGeom>
          <a:noFill/>
          <a:ln/>
        </p:spPr>
        <p:txBody>
          <a:bodyPr wrap="square" lIns="0" tIns="0" rIns="0" bIns="0" rtlCol="0" anchor="t"/>
          <a:lstStyle/>
          <a:p>
            <a:pPr indent="0" marL="0">
              <a:lnSpc>
                <a:spcPct val="105000"/>
              </a:lnSpc>
              <a:buNone/>
            </a:pPr>
            <a:r>
              <a:rPr lang="en-US" sz="1350" dirty="0">
                <a:solidFill>
                  <a:srgbClr val="1B2A41"/>
                </a:solidFill>
                <a:latin typeface="Calibri" pitchFamily="34" charset="0"/>
                <a:ea typeface="Calibri" pitchFamily="34" charset="-122"/>
                <a:cs typeface="Calibri" pitchFamily="34" charset="-120"/>
              </a:rPr>
              <a:t>zero-shot voice-cloning TTS engines</a:t>
            </a:r>
            <a:endParaRPr lang="en-US" sz="1350" dirty="0"/>
          </a:p>
        </p:txBody>
      </p:sp>
      <p:sp>
        <p:nvSpPr>
          <p:cNvPr id="35" name="Shape 32"/>
          <p:cNvSpPr/>
          <p:nvPr/>
        </p:nvSpPr>
        <p:spPr>
          <a:xfrm>
            <a:off x="8997696" y="3593592"/>
            <a:ext cx="2651760" cy="1828800"/>
          </a:xfrm>
          <a:prstGeom prst="roundRect">
            <a:avLst>
              <a:gd name="adj" fmla="val 6000"/>
            </a:avLst>
          </a:prstGeom>
          <a:solidFill>
            <a:srgbClr val="F1F5F9"/>
          </a:solidFill>
          <a:ln w="12700">
            <a:solidFill>
              <a:srgbClr val="F1F5F9"/>
            </a:solidFill>
            <a:prstDash val="solid"/>
          </a:ln>
        </p:spPr>
      </p:sp>
      <p:sp>
        <p:nvSpPr>
          <p:cNvPr id="36" name="Text 33"/>
          <p:cNvSpPr txBox="1"/>
          <p:nvPr/>
        </p:nvSpPr>
        <p:spPr>
          <a:xfrm>
            <a:off x="9272016" y="3822192"/>
            <a:ext cx="2194560" cy="868680"/>
          </a:xfrm>
          <a:prstGeom prst="rect">
            <a:avLst/>
          </a:prstGeom>
          <a:noFill/>
          <a:ln/>
        </p:spPr>
        <p:txBody>
          <a:bodyPr wrap="square" lIns="0" tIns="0" rIns="0" bIns="0" rtlCol="0" anchor="t"/>
          <a:lstStyle/>
          <a:p>
            <a:pPr indent="0" marL="0">
              <a:buNone/>
            </a:pPr>
            <a:r>
              <a:rPr lang="en-US" sz="4800" b="1" dirty="0">
                <a:solidFill>
                  <a:srgbClr val="E4572E"/>
                </a:solidFill>
                <a:latin typeface="Calibri" pitchFamily="34" charset="0"/>
                <a:ea typeface="Calibri" pitchFamily="34" charset="-122"/>
                <a:cs typeface="Calibri" pitchFamily="34" charset="-120"/>
              </a:rPr>
              <a:t>8+</a:t>
            </a:r>
            <a:endParaRPr lang="en-US" sz="4800" dirty="0"/>
          </a:p>
        </p:txBody>
      </p:sp>
      <p:sp>
        <p:nvSpPr>
          <p:cNvPr id="37" name="Text 34"/>
          <p:cNvSpPr txBox="1"/>
          <p:nvPr/>
        </p:nvSpPr>
        <p:spPr>
          <a:xfrm>
            <a:off x="9272016" y="4736592"/>
            <a:ext cx="2148840" cy="640080"/>
          </a:xfrm>
          <a:prstGeom prst="rect">
            <a:avLst/>
          </a:prstGeom>
          <a:noFill/>
          <a:ln/>
        </p:spPr>
        <p:txBody>
          <a:bodyPr wrap="square" lIns="0" tIns="0" rIns="0" bIns="0" rtlCol="0" anchor="t"/>
          <a:lstStyle/>
          <a:p>
            <a:pPr indent="0" marL="0">
              <a:lnSpc>
                <a:spcPct val="105000"/>
              </a:lnSpc>
              <a:buNone/>
            </a:pPr>
            <a:r>
              <a:rPr lang="en-US" sz="1350" dirty="0">
                <a:solidFill>
                  <a:srgbClr val="1B2A41"/>
                </a:solidFill>
                <a:latin typeface="Calibri" pitchFamily="34" charset="0"/>
                <a:ea typeface="Calibri" pitchFamily="34" charset="-122"/>
                <a:cs typeface="Calibri" pitchFamily="34" charset="-120"/>
              </a:rPr>
              <a:t>noise sources: engine, road, wind, HVAC, rain…</a:t>
            </a:r>
            <a:endParaRPr lang="en-US" sz="1350" dirty="0"/>
          </a:p>
        </p:txBody>
      </p:sp>
      <p:sp>
        <p:nvSpPr>
          <p:cNvPr id="38" name="Text 35"/>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500" b="1" dirty="0">
                <a:solidFill>
                  <a:srgbClr val="0B7F8A"/>
                </a:solidFill>
                <a:latin typeface="Calibri" pitchFamily="34" charset="0"/>
                <a:ea typeface="Calibri" pitchFamily="34" charset="-122"/>
                <a:cs typeface="Calibri" pitchFamily="34" charset="-120"/>
              </a:rPr>
              <a:t>Dataset, benchmark code and audio samples:  audio2tool.github.io</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0B7F8A"/>
                </a:solidFill>
                <a:latin typeface="Calibri" pitchFamily="34" charset="0"/>
                <a:ea typeface="Calibri" pitchFamily="34" charset="-122"/>
                <a:cs typeface="Calibri" pitchFamily="34" charset="-120"/>
              </a:rPr>
              <a:t>BENCHMARK</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Taxonomy grounded in real APIs: 3 domains, 23 categories, 152 tools</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6</a:t>
            </a:r>
            <a:endParaRPr lang="en-US" sz="1000" dirty="0"/>
          </a:p>
        </p:txBody>
      </p:sp>
      <p:sp>
        <p:nvSpPr>
          <p:cNvPr id="14" name="Shape 11"/>
          <p:cNvSpPr/>
          <p:nvPr/>
        </p:nvSpPr>
        <p:spPr>
          <a:xfrm>
            <a:off x="548640" y="1600200"/>
            <a:ext cx="5760720" cy="1261872"/>
          </a:xfrm>
          <a:prstGeom prst="roundRect">
            <a:avLst>
              <a:gd name="adj" fmla="val 8696"/>
            </a:avLst>
          </a:prstGeom>
          <a:solidFill>
            <a:srgbClr val="F1F5F9"/>
          </a:solidFill>
          <a:ln w="12700">
            <a:solidFill>
              <a:srgbClr val="F1F5F9"/>
            </a:solidFill>
            <a:prstDash val="solid"/>
          </a:ln>
        </p:spPr>
      </p:sp>
      <p:sp>
        <p:nvSpPr>
          <p:cNvPr id="15" name="Shape 12"/>
          <p:cNvSpPr/>
          <p:nvPr/>
        </p:nvSpPr>
        <p:spPr>
          <a:xfrm>
            <a:off x="777240" y="1865376"/>
            <a:ext cx="731520" cy="731520"/>
          </a:xfrm>
          <a:prstGeom prst="ellipse">
            <a:avLst/>
          </a:prstGeom>
          <a:solidFill>
            <a:srgbClr val="2E75B6"/>
          </a:solidFill>
          <a:ln w="12700">
            <a:solidFill>
              <a:srgbClr val="2E75B6"/>
            </a:solidFill>
            <a:prstDash val="solid"/>
          </a:ln>
        </p:spPr>
      </p:sp>
      <p:pic>
        <p:nvPicPr>
          <p:cNvPr id="16" name="Image 0" descr="preencoded.png">    </p:cNvPr>
          <p:cNvPicPr>
            <a:picLocks noChangeAspect="1"/>
          </p:cNvPicPr>
          <p:nvPr/>
        </p:nvPicPr>
        <p:blipFill>
          <a:blip r:embed="rId1"/>
          <a:stretch>
            <a:fillRect/>
          </a:stretch>
        </p:blipFill>
        <p:spPr>
          <a:xfrm>
            <a:off x="938174" y="2026310"/>
            <a:ext cx="409651" cy="409651"/>
          </a:xfrm>
          <a:prstGeom prst="rect">
            <a:avLst/>
          </a:prstGeom>
        </p:spPr>
      </p:pic>
      <p:sp>
        <p:nvSpPr>
          <p:cNvPr id="17" name="Text 13"/>
          <p:cNvSpPr txBox="1"/>
          <p:nvPr/>
        </p:nvSpPr>
        <p:spPr>
          <a:xfrm>
            <a:off x="1691640" y="1709928"/>
            <a:ext cx="2377440"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Smart Car</a:t>
            </a:r>
            <a:endParaRPr lang="en-US" sz="1800" dirty="0"/>
          </a:p>
        </p:txBody>
      </p:sp>
      <p:sp>
        <p:nvSpPr>
          <p:cNvPr id="18" name="Text 14"/>
          <p:cNvSpPr txBox="1"/>
          <p:nvPr/>
        </p:nvSpPr>
        <p:spPr>
          <a:xfrm>
            <a:off x="1691640" y="2075688"/>
            <a:ext cx="2377440" cy="749808"/>
          </a:xfrm>
          <a:prstGeom prst="rect">
            <a:avLst/>
          </a:prstGeom>
          <a:noFill/>
          <a:ln/>
        </p:spPr>
        <p:txBody>
          <a:bodyPr wrap="square" lIns="0" tIns="0" rIns="0" bIns="0" rtlCol="0" anchor="t"/>
          <a:lstStyle/>
          <a:p>
            <a:pPr indent="0" marL="0">
              <a:lnSpc>
                <a:spcPct val="105000"/>
              </a:lnSpc>
              <a:buNone/>
            </a:pPr>
            <a:r>
              <a:rPr lang="en-US" sz="1200" dirty="0">
                <a:solidFill>
                  <a:srgbClr val="1B2A41"/>
                </a:solidFill>
                <a:latin typeface="Calibri" pitchFamily="34" charset="0"/>
                <a:ea typeface="Calibri" pitchFamily="34" charset="-122"/>
                <a:cs typeface="Calibri" pitchFamily="34" charset="-120"/>
              </a:rPr>
              <a:t>14 categories · climate, driving dynamics, charging, body control, navigation, maintenance…</a:t>
            </a:r>
            <a:endParaRPr lang="en-US" sz="1200" dirty="0"/>
          </a:p>
        </p:txBody>
      </p:sp>
      <p:sp>
        <p:nvSpPr>
          <p:cNvPr id="19" name="Text 15"/>
          <p:cNvSpPr txBox="1"/>
          <p:nvPr/>
        </p:nvSpPr>
        <p:spPr>
          <a:xfrm>
            <a:off x="4114800" y="1737360"/>
            <a:ext cx="2148840" cy="1005840"/>
          </a:xfrm>
          <a:prstGeom prst="rect">
            <a:avLst/>
          </a:prstGeom>
          <a:noFill/>
          <a:ln/>
        </p:spPr>
        <p:txBody>
          <a:bodyPr wrap="square" lIns="0" tIns="0" rIns="0" bIns="0" rtlCol="0" anchor="ctr"/>
          <a:lstStyle/>
          <a:p>
            <a:pPr indent="0" marL="0">
              <a:buNone/>
            </a:pPr>
            <a:r>
              <a:rPr lang="en-US" sz="900" dirty="0">
                <a:solidFill>
                  <a:srgbClr val="5B6B7F"/>
                </a:solidFill>
                <a:latin typeface="Courier New" pitchFamily="34" charset="0"/>
                <a:ea typeface="Courier New" pitchFamily="34" charset="-122"/>
                <a:cs typeface="Courier New" pitchFamily="34" charset="-120"/>
              </a:rPr>
              <a:t>setZoneTemperature(zone, temp)</a:t>
            </a:r>
            <a:endParaRPr lang="en-US" sz="900" dirty="0"/>
          </a:p>
          <a:p>
            <a:pPr indent="0" marL="0">
              <a:buNone/>
            </a:pPr>
            <a:r>
              <a:rPr lang="en-US" sz="900" dirty="0">
                <a:solidFill>
                  <a:srgbClr val="5B6B7F"/>
                </a:solidFill>
                <a:latin typeface="Courier New" pitchFamily="34" charset="0"/>
                <a:ea typeface="Courier New" pitchFamily="34" charset="-122"/>
                <a:cs typeface="Courier New" pitchFamily="34" charset="-120"/>
              </a:rPr>
              <a:t>openFrontTrunk()</a:t>
            </a:r>
            <a:endParaRPr lang="en-US" sz="900" dirty="0"/>
          </a:p>
        </p:txBody>
      </p:sp>
      <p:sp>
        <p:nvSpPr>
          <p:cNvPr id="20" name="Shape 16"/>
          <p:cNvSpPr/>
          <p:nvPr/>
        </p:nvSpPr>
        <p:spPr>
          <a:xfrm>
            <a:off x="548640" y="2990088"/>
            <a:ext cx="5760720" cy="1261872"/>
          </a:xfrm>
          <a:prstGeom prst="roundRect">
            <a:avLst>
              <a:gd name="adj" fmla="val 8696"/>
            </a:avLst>
          </a:prstGeom>
          <a:solidFill>
            <a:srgbClr val="F1F5F9"/>
          </a:solidFill>
          <a:ln w="12700">
            <a:solidFill>
              <a:srgbClr val="F1F5F9"/>
            </a:solidFill>
            <a:prstDash val="solid"/>
          </a:ln>
        </p:spPr>
      </p:sp>
      <p:sp>
        <p:nvSpPr>
          <p:cNvPr id="21" name="Shape 17"/>
          <p:cNvSpPr/>
          <p:nvPr/>
        </p:nvSpPr>
        <p:spPr>
          <a:xfrm>
            <a:off x="777240" y="3255264"/>
            <a:ext cx="731520" cy="731520"/>
          </a:xfrm>
          <a:prstGeom prst="ellipse">
            <a:avLst/>
          </a:prstGeom>
          <a:solidFill>
            <a:srgbClr val="ED7D31"/>
          </a:solidFill>
          <a:ln w="12700">
            <a:solidFill>
              <a:srgbClr val="ED7D31"/>
            </a:solidFill>
            <a:prstDash val="solid"/>
          </a:ln>
        </p:spPr>
      </p:sp>
      <p:pic>
        <p:nvPicPr>
          <p:cNvPr id="22" name="Image 1" descr="preencoded.png">    </p:cNvPr>
          <p:cNvPicPr>
            <a:picLocks noChangeAspect="1"/>
          </p:cNvPicPr>
          <p:nvPr/>
        </p:nvPicPr>
        <p:blipFill>
          <a:blip r:embed="rId2"/>
          <a:stretch>
            <a:fillRect/>
          </a:stretch>
        </p:blipFill>
        <p:spPr>
          <a:xfrm>
            <a:off x="938174" y="3416198"/>
            <a:ext cx="409651" cy="409651"/>
          </a:xfrm>
          <a:prstGeom prst="rect">
            <a:avLst/>
          </a:prstGeom>
        </p:spPr>
      </p:pic>
      <p:sp>
        <p:nvSpPr>
          <p:cNvPr id="23" name="Text 18"/>
          <p:cNvSpPr txBox="1"/>
          <p:nvPr/>
        </p:nvSpPr>
        <p:spPr>
          <a:xfrm>
            <a:off x="1691640" y="3099816"/>
            <a:ext cx="2377440"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Smart Home</a:t>
            </a:r>
            <a:endParaRPr lang="en-US" sz="1800" dirty="0"/>
          </a:p>
        </p:txBody>
      </p:sp>
      <p:sp>
        <p:nvSpPr>
          <p:cNvPr id="24" name="Text 19"/>
          <p:cNvSpPr txBox="1"/>
          <p:nvPr/>
        </p:nvSpPr>
        <p:spPr>
          <a:xfrm>
            <a:off x="1691640" y="3465576"/>
            <a:ext cx="2377440" cy="749808"/>
          </a:xfrm>
          <a:prstGeom prst="rect">
            <a:avLst/>
          </a:prstGeom>
          <a:noFill/>
          <a:ln/>
        </p:spPr>
        <p:txBody>
          <a:bodyPr wrap="square" lIns="0" tIns="0" rIns="0" bIns="0" rtlCol="0" anchor="t"/>
          <a:lstStyle/>
          <a:p>
            <a:pPr indent="0" marL="0">
              <a:lnSpc>
                <a:spcPct val="105000"/>
              </a:lnSpc>
              <a:buNone/>
            </a:pPr>
            <a:r>
              <a:rPr lang="en-US" sz="1200" dirty="0">
                <a:solidFill>
                  <a:srgbClr val="1B2A41"/>
                </a:solidFill>
                <a:latin typeface="Calibri" pitchFamily="34" charset="0"/>
                <a:ea typeface="Calibri" pitchFamily="34" charset="-122"/>
                <a:cs typeface="Calibri" pitchFamily="34" charset="-120"/>
              </a:rPr>
              <a:t>lighting, appliances, automation sensors, security, media…</a:t>
            </a:r>
            <a:endParaRPr lang="en-US" sz="1200" dirty="0"/>
          </a:p>
        </p:txBody>
      </p:sp>
      <p:sp>
        <p:nvSpPr>
          <p:cNvPr id="25" name="Text 20"/>
          <p:cNvSpPr txBox="1"/>
          <p:nvPr/>
        </p:nvSpPr>
        <p:spPr>
          <a:xfrm>
            <a:off x="4114800" y="3127248"/>
            <a:ext cx="2148840" cy="1005840"/>
          </a:xfrm>
          <a:prstGeom prst="rect">
            <a:avLst/>
          </a:prstGeom>
          <a:noFill/>
          <a:ln/>
        </p:spPr>
        <p:txBody>
          <a:bodyPr wrap="square" lIns="0" tIns="0" rIns="0" bIns="0" rtlCol="0" anchor="ctr"/>
          <a:lstStyle/>
          <a:p>
            <a:pPr indent="0" marL="0">
              <a:buNone/>
            </a:pPr>
            <a:r>
              <a:rPr lang="en-US" sz="900" dirty="0">
                <a:solidFill>
                  <a:srgbClr val="5B6B7F"/>
                </a:solidFill>
                <a:latin typeface="Courier New" pitchFamily="34" charset="0"/>
                <a:ea typeface="Courier New" pitchFamily="34" charset="-122"/>
                <a:cs typeface="Courier New" pitchFamily="34" charset="-120"/>
              </a:rPr>
              <a:t>setLightState(device, state)</a:t>
            </a:r>
            <a:endParaRPr lang="en-US" sz="900" dirty="0"/>
          </a:p>
          <a:p>
            <a:pPr indent="0" marL="0">
              <a:buNone/>
            </a:pPr>
            <a:r>
              <a:rPr lang="en-US" sz="900" dirty="0">
                <a:solidFill>
                  <a:srgbClr val="5B6B7F"/>
                </a:solidFill>
                <a:latin typeface="Courier New" pitchFamily="34" charset="0"/>
                <a:ea typeface="Courier New" pitchFamily="34" charset="-122"/>
                <a:cs typeface="Courier New" pitchFamily="34" charset="-120"/>
              </a:rPr>
              <a:t>armSecuritySystem(mode)</a:t>
            </a:r>
            <a:endParaRPr lang="en-US" sz="900" dirty="0"/>
          </a:p>
        </p:txBody>
      </p:sp>
      <p:sp>
        <p:nvSpPr>
          <p:cNvPr id="26" name="Shape 21"/>
          <p:cNvSpPr/>
          <p:nvPr/>
        </p:nvSpPr>
        <p:spPr>
          <a:xfrm>
            <a:off x="548640" y="4379976"/>
            <a:ext cx="5760720" cy="1261872"/>
          </a:xfrm>
          <a:prstGeom prst="roundRect">
            <a:avLst>
              <a:gd name="adj" fmla="val 8696"/>
            </a:avLst>
          </a:prstGeom>
          <a:solidFill>
            <a:srgbClr val="F1F5F9"/>
          </a:solidFill>
          <a:ln w="12700">
            <a:solidFill>
              <a:srgbClr val="F1F5F9"/>
            </a:solidFill>
            <a:prstDash val="solid"/>
          </a:ln>
        </p:spPr>
      </p:sp>
      <p:sp>
        <p:nvSpPr>
          <p:cNvPr id="27" name="Shape 22"/>
          <p:cNvSpPr/>
          <p:nvPr/>
        </p:nvSpPr>
        <p:spPr>
          <a:xfrm>
            <a:off x="777240" y="4645152"/>
            <a:ext cx="731520" cy="731520"/>
          </a:xfrm>
          <a:prstGeom prst="ellipse">
            <a:avLst/>
          </a:prstGeom>
          <a:solidFill>
            <a:srgbClr val="3CA24A"/>
          </a:solidFill>
          <a:ln w="12700">
            <a:solidFill>
              <a:srgbClr val="3CA24A"/>
            </a:solidFill>
            <a:prstDash val="solid"/>
          </a:ln>
        </p:spPr>
      </p:sp>
      <p:pic>
        <p:nvPicPr>
          <p:cNvPr id="28" name="Image 2" descr="preencoded.png">    </p:cNvPr>
          <p:cNvPicPr>
            <a:picLocks noChangeAspect="1"/>
          </p:cNvPicPr>
          <p:nvPr/>
        </p:nvPicPr>
        <p:blipFill>
          <a:blip r:embed="rId3"/>
          <a:stretch>
            <a:fillRect/>
          </a:stretch>
        </p:blipFill>
        <p:spPr>
          <a:xfrm>
            <a:off x="938174" y="4806086"/>
            <a:ext cx="409651" cy="409651"/>
          </a:xfrm>
          <a:prstGeom prst="rect">
            <a:avLst/>
          </a:prstGeom>
        </p:spPr>
      </p:pic>
      <p:sp>
        <p:nvSpPr>
          <p:cNvPr id="29" name="Text 23"/>
          <p:cNvSpPr txBox="1"/>
          <p:nvPr/>
        </p:nvSpPr>
        <p:spPr>
          <a:xfrm>
            <a:off x="1691640" y="4489704"/>
            <a:ext cx="2377440"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Wearables</a:t>
            </a:r>
            <a:endParaRPr lang="en-US" sz="1800" dirty="0"/>
          </a:p>
        </p:txBody>
      </p:sp>
      <p:sp>
        <p:nvSpPr>
          <p:cNvPr id="30" name="Text 24"/>
          <p:cNvSpPr txBox="1"/>
          <p:nvPr/>
        </p:nvSpPr>
        <p:spPr>
          <a:xfrm>
            <a:off x="1691640" y="4855464"/>
            <a:ext cx="2377440" cy="749808"/>
          </a:xfrm>
          <a:prstGeom prst="rect">
            <a:avLst/>
          </a:prstGeom>
          <a:noFill/>
          <a:ln/>
        </p:spPr>
        <p:txBody>
          <a:bodyPr wrap="square" lIns="0" tIns="0" rIns="0" bIns="0" rtlCol="0" anchor="t"/>
          <a:lstStyle/>
          <a:p>
            <a:pPr indent="0" marL="0">
              <a:lnSpc>
                <a:spcPct val="105000"/>
              </a:lnSpc>
              <a:buNone/>
            </a:pPr>
            <a:r>
              <a:rPr lang="en-US" sz="1200" dirty="0">
                <a:solidFill>
                  <a:srgbClr val="1B2A41"/>
                </a:solidFill>
                <a:latin typeface="Calibri" pitchFamily="34" charset="0"/>
                <a:ea typeface="Calibri" pitchFamily="34" charset="-122"/>
                <a:cs typeface="Calibri" pitchFamily="34" charset="-120"/>
              </a:rPr>
              <a:t>health &amp; activity tracking, device state and connectivity</a:t>
            </a:r>
            <a:endParaRPr lang="en-US" sz="1200" dirty="0"/>
          </a:p>
        </p:txBody>
      </p:sp>
      <p:sp>
        <p:nvSpPr>
          <p:cNvPr id="31" name="Text 25"/>
          <p:cNvSpPr txBox="1"/>
          <p:nvPr/>
        </p:nvSpPr>
        <p:spPr>
          <a:xfrm>
            <a:off x="4114800" y="4517136"/>
            <a:ext cx="2148840" cy="1005840"/>
          </a:xfrm>
          <a:prstGeom prst="rect">
            <a:avLst/>
          </a:prstGeom>
          <a:noFill/>
          <a:ln/>
        </p:spPr>
        <p:txBody>
          <a:bodyPr wrap="square" lIns="0" tIns="0" rIns="0" bIns="0" rtlCol="0" anchor="ctr"/>
          <a:lstStyle/>
          <a:p>
            <a:pPr indent="0" marL="0">
              <a:buNone/>
            </a:pPr>
            <a:r>
              <a:rPr lang="en-US" sz="900" dirty="0">
                <a:solidFill>
                  <a:srgbClr val="5B6B7F"/>
                </a:solidFill>
                <a:latin typeface="Courier New" pitchFamily="34" charset="0"/>
                <a:ea typeface="Courier New" pitchFamily="34" charset="-122"/>
                <a:cs typeface="Courier New" pitchFamily="34" charset="-120"/>
              </a:rPr>
              <a:t>startWorkout(activity)</a:t>
            </a:r>
            <a:endParaRPr lang="en-US" sz="900" dirty="0"/>
          </a:p>
          <a:p>
            <a:pPr indent="0" marL="0">
              <a:buNone/>
            </a:pPr>
            <a:r>
              <a:rPr lang="en-US" sz="900" dirty="0">
                <a:solidFill>
                  <a:srgbClr val="5B6B7F"/>
                </a:solidFill>
                <a:latin typeface="Courier New" pitchFamily="34" charset="0"/>
                <a:ea typeface="Courier New" pitchFamily="34" charset="-122"/>
                <a:cs typeface="Courier New" pitchFamily="34" charset="-120"/>
              </a:rPr>
              <a:t>setDoNotDisturb(enabled, mode)</a:t>
            </a:r>
            <a:endParaRPr lang="en-US" sz="900" dirty="0"/>
          </a:p>
        </p:txBody>
      </p:sp>
      <p:pic>
        <p:nvPicPr>
          <p:cNvPr id="32" name="Image 3" descr="/home/user/Audio2Tool/presentation/src/assets/fig2c_treemap.png">    </p:cNvPr>
          <p:cNvPicPr>
            <a:picLocks noChangeAspect="1"/>
          </p:cNvPicPr>
          <p:nvPr/>
        </p:nvPicPr>
        <p:blipFill>
          <a:blip r:embed="rId4"/>
          <a:stretch>
            <a:fillRect/>
          </a:stretch>
        </p:blipFill>
        <p:spPr>
          <a:xfrm>
            <a:off x="6583680" y="1600200"/>
            <a:ext cx="5029200" cy="3310128"/>
          </a:xfrm>
          <a:prstGeom prst="rect">
            <a:avLst/>
          </a:prstGeom>
        </p:spPr>
      </p:pic>
      <p:sp>
        <p:nvSpPr>
          <p:cNvPr id="33" name="Text 26"/>
          <p:cNvSpPr txBox="1"/>
          <p:nvPr/>
        </p:nvSpPr>
        <p:spPr>
          <a:xfrm>
            <a:off x="6583680" y="4937760"/>
            <a:ext cx="5029200" cy="274320"/>
          </a:xfrm>
          <a:prstGeom prst="rect">
            <a:avLst/>
          </a:prstGeom>
          <a:noFill/>
          <a:ln/>
        </p:spPr>
        <p:txBody>
          <a:bodyPr wrap="square" lIns="0" tIns="0" rIns="0" bIns="0" rtlCol="0" anchor="t"/>
          <a:lstStyle/>
          <a:p>
            <a:pPr algn="ctr" indent="0" marL="0">
              <a:buNone/>
            </a:pPr>
            <a:r>
              <a:rPr lang="en-US" sz="1100" i="1" dirty="0">
                <a:solidFill>
                  <a:srgbClr val="5B6B7F"/>
                </a:solidFill>
                <a:latin typeface="Calibri" pitchFamily="34" charset="0"/>
                <a:ea typeface="Calibri" pitchFamily="34" charset="-122"/>
                <a:cs typeface="Calibri" pitchFamily="34" charset="-120"/>
              </a:rPr>
              <a:t>Query share by category (paper Fig. 2c)</a:t>
            </a:r>
            <a:endParaRPr lang="en-US" sz="1100" dirty="0"/>
          </a:p>
        </p:txBody>
      </p:sp>
      <p:sp>
        <p:nvSpPr>
          <p:cNvPr id="34" name="Shape 27"/>
          <p:cNvSpPr/>
          <p:nvPr/>
        </p:nvSpPr>
        <p:spPr>
          <a:xfrm>
            <a:off x="548640" y="5806440"/>
            <a:ext cx="5440680" cy="502920"/>
          </a:xfrm>
          <a:prstGeom prst="roundRect">
            <a:avLst>
              <a:gd name="adj" fmla="val 21818"/>
            </a:avLst>
          </a:prstGeom>
          <a:solidFill>
            <a:srgbClr val="DDF3F5"/>
          </a:solidFill>
          <a:ln w="12700">
            <a:solidFill>
              <a:srgbClr val="DDF3F5"/>
            </a:solidFill>
            <a:prstDash val="solid"/>
          </a:ln>
        </p:spPr>
      </p:sp>
      <p:sp>
        <p:nvSpPr>
          <p:cNvPr id="35" name="Text 28"/>
          <p:cNvSpPr txBox="1"/>
          <p:nvPr/>
        </p:nvSpPr>
        <p:spPr>
          <a:xfrm>
            <a:off x="731520" y="5806440"/>
            <a:ext cx="5212080" cy="502920"/>
          </a:xfrm>
          <a:prstGeom prst="rect">
            <a:avLst/>
          </a:prstGeom>
          <a:noFill/>
          <a:ln/>
        </p:spPr>
        <p:txBody>
          <a:bodyPr wrap="square" lIns="0" tIns="0" rIns="0" bIns="0" rtlCol="0" anchor="ctr"/>
          <a:lstStyle/>
          <a:p>
            <a:pPr indent="0" marL="0">
              <a:buNone/>
            </a:pPr>
            <a:r>
              <a:rPr lang="en-US" sz="1250" b="1" dirty="0">
                <a:solidFill>
                  <a:srgbClr val="0B7F8A"/>
                </a:solidFill>
                <a:latin typeface="Calibri" pitchFamily="34" charset="0"/>
                <a:ea typeface="Calibri" pitchFamily="34" charset="-122"/>
                <a:cs typeface="Calibri" pitchFamily="34" charset="-120"/>
              </a:rPr>
              <a:t>Operational intent  </a:t>
            </a:r>
            <a:pPr indent="0" marL="0">
              <a:buNone/>
            </a:pPr>
            <a:r>
              <a:rPr lang="en-US" sz="1250" dirty="0">
                <a:solidFill>
                  <a:srgbClr val="1B2A41"/>
                </a:solidFill>
                <a:latin typeface="Calibri" pitchFamily="34" charset="0"/>
                <a:ea typeface="Calibri" pitchFamily="34" charset="-122"/>
                <a:cs typeface="Calibri" pitchFamily="34" charset="-120"/>
              </a:rPr>
              <a:t>state-altering ("set temperature") vs. monitoring ("check battery")</a:t>
            </a:r>
            <a:endParaRPr lang="en-US" sz="1250" dirty="0"/>
          </a:p>
        </p:txBody>
      </p:sp>
      <p:sp>
        <p:nvSpPr>
          <p:cNvPr id="36" name="Shape 29"/>
          <p:cNvSpPr/>
          <p:nvPr/>
        </p:nvSpPr>
        <p:spPr>
          <a:xfrm>
            <a:off x="6199632" y="5806440"/>
            <a:ext cx="5440680" cy="502920"/>
          </a:xfrm>
          <a:prstGeom prst="roundRect">
            <a:avLst>
              <a:gd name="adj" fmla="val 21818"/>
            </a:avLst>
          </a:prstGeom>
          <a:solidFill>
            <a:srgbClr val="DDF3F5"/>
          </a:solidFill>
          <a:ln w="12700">
            <a:solidFill>
              <a:srgbClr val="DDF3F5"/>
            </a:solidFill>
            <a:prstDash val="solid"/>
          </a:ln>
        </p:spPr>
      </p:sp>
      <p:sp>
        <p:nvSpPr>
          <p:cNvPr id="37" name="Text 30"/>
          <p:cNvSpPr txBox="1"/>
          <p:nvPr/>
        </p:nvSpPr>
        <p:spPr>
          <a:xfrm>
            <a:off x="6382512" y="5806440"/>
            <a:ext cx="5212080" cy="502920"/>
          </a:xfrm>
          <a:prstGeom prst="rect">
            <a:avLst/>
          </a:prstGeom>
          <a:noFill/>
          <a:ln/>
        </p:spPr>
        <p:txBody>
          <a:bodyPr wrap="square" lIns="0" tIns="0" rIns="0" bIns="0" rtlCol="0" anchor="ctr"/>
          <a:lstStyle/>
          <a:p>
            <a:pPr indent="0" marL="0">
              <a:buNone/>
            </a:pPr>
            <a:r>
              <a:rPr lang="en-US" sz="1250" b="1" dirty="0">
                <a:solidFill>
                  <a:srgbClr val="0B7F8A"/>
                </a:solidFill>
                <a:latin typeface="Calibri" pitchFamily="34" charset="0"/>
                <a:ea typeface="Calibri" pitchFamily="34" charset="-122"/>
                <a:cs typeface="Calibri" pitchFamily="34" charset="-120"/>
              </a:rPr>
              <a:t>Domain specificity  </a:t>
            </a:r>
            <a:pPr indent="0" marL="0">
              <a:buNone/>
            </a:pPr>
            <a:r>
              <a:rPr lang="en-US" sz="1250" dirty="0">
                <a:solidFill>
                  <a:srgbClr val="1B2A41"/>
                </a:solidFill>
                <a:latin typeface="Calibri" pitchFamily="34" charset="0"/>
                <a:ea typeface="Calibri" pitchFamily="34" charset="-122"/>
                <a:cs typeface="Calibri" pitchFamily="34" charset="-120"/>
              </a:rPr>
              <a:t>device-specific categories kept (driving dynamics, activity tracking)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0B7F8A"/>
                </a:solidFill>
                <a:latin typeface="Calibri" pitchFamily="34" charset="0"/>
                <a:ea typeface="Calibri" pitchFamily="34" charset="-122"/>
                <a:cs typeface="Calibri" pitchFamily="34" charset="-120"/>
              </a:rPr>
              <a:t>BENCHMARK</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Eight tiers, eight failure modes</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7</a:t>
            </a:r>
            <a:endParaRPr lang="en-US" sz="1000" dirty="0"/>
          </a:p>
        </p:txBody>
      </p:sp>
      <p:sp>
        <p:nvSpPr>
          <p:cNvPr id="14" name="Shape 11"/>
          <p:cNvSpPr/>
          <p:nvPr/>
        </p:nvSpPr>
        <p:spPr>
          <a:xfrm>
            <a:off x="548640" y="1572768"/>
            <a:ext cx="2651760" cy="2057400"/>
          </a:xfrm>
          <a:prstGeom prst="roundRect">
            <a:avLst>
              <a:gd name="adj" fmla="val 5333"/>
            </a:avLst>
          </a:prstGeom>
          <a:solidFill>
            <a:srgbClr val="F1F5F9"/>
          </a:solidFill>
          <a:ln w="12700">
            <a:solidFill>
              <a:srgbClr val="F1F5F9"/>
            </a:solidFill>
            <a:prstDash val="solid"/>
          </a:ln>
        </p:spPr>
      </p:sp>
      <p:sp>
        <p:nvSpPr>
          <p:cNvPr id="15" name="Shape 12"/>
          <p:cNvSpPr/>
          <p:nvPr/>
        </p:nvSpPr>
        <p:spPr>
          <a:xfrm>
            <a:off x="777240" y="1801368"/>
            <a:ext cx="502920" cy="502920"/>
          </a:xfrm>
          <a:prstGeom prst="ellipse">
            <a:avLst/>
          </a:prstGeom>
          <a:solidFill>
            <a:srgbClr val="0FA3B1"/>
          </a:solidFill>
          <a:ln w="12700">
            <a:solidFill>
              <a:srgbClr val="0FA3B1"/>
            </a:solidFill>
            <a:prstDash val="solid"/>
          </a:ln>
        </p:spPr>
      </p:sp>
      <p:sp>
        <p:nvSpPr>
          <p:cNvPr id="16" name="Text 13"/>
          <p:cNvSpPr txBox="1"/>
          <p:nvPr/>
        </p:nvSpPr>
        <p:spPr>
          <a:xfrm>
            <a:off x="777240" y="180136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7" name="Text 14"/>
          <p:cNvSpPr txBox="1"/>
          <p:nvPr/>
        </p:nvSpPr>
        <p:spPr>
          <a:xfrm>
            <a:off x="1417320" y="1773936"/>
            <a:ext cx="1645920" cy="566928"/>
          </a:xfrm>
          <a:prstGeom prst="rect">
            <a:avLst/>
          </a:prstGeom>
          <a:noFill/>
          <a:ln/>
        </p:spPr>
        <p:txBody>
          <a:bodyPr wrap="square" lIns="0" tIns="0" rIns="0" bIns="0"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Direct</a:t>
            </a:r>
            <a:endParaRPr lang="en-US" sz="1600" dirty="0"/>
          </a:p>
        </p:txBody>
      </p:sp>
      <p:sp>
        <p:nvSpPr>
          <p:cNvPr id="18" name="Text 15"/>
          <p:cNvSpPr txBox="1"/>
          <p:nvPr/>
        </p:nvSpPr>
        <p:spPr>
          <a:xfrm>
            <a:off x="777240" y="2468880"/>
            <a:ext cx="2240280" cy="566928"/>
          </a:xfrm>
          <a:prstGeom prst="rect">
            <a:avLst/>
          </a:prstGeom>
          <a:noFill/>
          <a:ln/>
        </p:spPr>
        <p:txBody>
          <a:bodyPr wrap="square" lIns="0" tIns="0" rIns="0" bIns="0" rtlCol="0" anchor="t"/>
          <a:lstStyle/>
          <a:p>
            <a:pPr indent="0" marL="0">
              <a:lnSpc>
                <a:spcPct val="105000"/>
              </a:lnSpc>
              <a:buNone/>
            </a:pPr>
            <a:r>
              <a:rPr lang="en-US" sz="1250" dirty="0">
                <a:solidFill>
                  <a:srgbClr val="1B2A41"/>
                </a:solidFill>
                <a:latin typeface="Calibri" pitchFamily="34" charset="0"/>
                <a:ea typeface="Calibri" pitchFamily="34" charset="-122"/>
                <a:cs typeface="Calibri" pitchFamily="34" charset="-120"/>
              </a:rPr>
              <a:t>Short command, no parameters (2–6 words)</a:t>
            </a:r>
            <a:endParaRPr lang="en-US" sz="1250" dirty="0"/>
          </a:p>
        </p:txBody>
      </p:sp>
      <p:sp>
        <p:nvSpPr>
          <p:cNvPr id="19" name="Text 16"/>
          <p:cNvSpPr txBox="1"/>
          <p:nvPr/>
        </p:nvSpPr>
        <p:spPr>
          <a:xfrm>
            <a:off x="777240" y="3054096"/>
            <a:ext cx="2240280" cy="548640"/>
          </a:xfrm>
          <a:prstGeom prst="rect">
            <a:avLst/>
          </a:prstGeom>
          <a:noFill/>
          <a:ln/>
        </p:spPr>
        <p:txBody>
          <a:bodyPr wrap="square" lIns="0" tIns="0" rIns="0" bIns="0" rtlCol="0" anchor="t"/>
          <a:lstStyle/>
          <a:p>
            <a:pPr indent="0" marL="0">
              <a:buNone/>
            </a:pPr>
            <a:r>
              <a:rPr lang="en-US" sz="1200" i="1" dirty="0">
                <a:solidFill>
                  <a:srgbClr val="0FA3B1"/>
                </a:solidFill>
                <a:latin typeface="Calibri" pitchFamily="34" charset="0"/>
                <a:ea typeface="Calibri" pitchFamily="34" charset="-122"/>
                <a:cs typeface="Calibri" pitchFamily="34" charset="-120"/>
              </a:rPr>
              <a:t>"Open the trunk."</a:t>
            </a:r>
            <a:endParaRPr lang="en-US" sz="1200" dirty="0"/>
          </a:p>
        </p:txBody>
      </p:sp>
      <p:sp>
        <p:nvSpPr>
          <p:cNvPr id="20" name="Shape 17"/>
          <p:cNvSpPr/>
          <p:nvPr/>
        </p:nvSpPr>
        <p:spPr>
          <a:xfrm>
            <a:off x="3364992" y="1572768"/>
            <a:ext cx="2651760" cy="2057400"/>
          </a:xfrm>
          <a:prstGeom prst="roundRect">
            <a:avLst>
              <a:gd name="adj" fmla="val 5333"/>
            </a:avLst>
          </a:prstGeom>
          <a:solidFill>
            <a:srgbClr val="F1F5F9"/>
          </a:solidFill>
          <a:ln w="12700">
            <a:solidFill>
              <a:srgbClr val="F1F5F9"/>
            </a:solidFill>
            <a:prstDash val="solid"/>
          </a:ln>
        </p:spPr>
      </p:sp>
      <p:sp>
        <p:nvSpPr>
          <p:cNvPr id="21" name="Shape 18"/>
          <p:cNvSpPr/>
          <p:nvPr/>
        </p:nvSpPr>
        <p:spPr>
          <a:xfrm>
            <a:off x="3593592" y="1801368"/>
            <a:ext cx="502920" cy="502920"/>
          </a:xfrm>
          <a:prstGeom prst="ellipse">
            <a:avLst/>
          </a:prstGeom>
          <a:solidFill>
            <a:srgbClr val="0FA3B1"/>
          </a:solidFill>
          <a:ln w="12700">
            <a:solidFill>
              <a:srgbClr val="0FA3B1"/>
            </a:solidFill>
            <a:prstDash val="solid"/>
          </a:ln>
        </p:spPr>
      </p:sp>
      <p:sp>
        <p:nvSpPr>
          <p:cNvPr id="22" name="Text 19"/>
          <p:cNvSpPr txBox="1"/>
          <p:nvPr/>
        </p:nvSpPr>
        <p:spPr>
          <a:xfrm>
            <a:off x="3593592" y="180136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3" name="Text 20"/>
          <p:cNvSpPr txBox="1"/>
          <p:nvPr/>
        </p:nvSpPr>
        <p:spPr>
          <a:xfrm>
            <a:off x="4233672" y="1773936"/>
            <a:ext cx="1645920" cy="566928"/>
          </a:xfrm>
          <a:prstGeom prst="rect">
            <a:avLst/>
          </a:prstGeom>
          <a:noFill/>
          <a:ln/>
        </p:spPr>
        <p:txBody>
          <a:bodyPr wrap="square" lIns="0" tIns="0" rIns="0" bIns="0"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Parametric</a:t>
            </a:r>
            <a:endParaRPr lang="en-US" sz="1600" dirty="0"/>
          </a:p>
        </p:txBody>
      </p:sp>
      <p:sp>
        <p:nvSpPr>
          <p:cNvPr id="24" name="Text 21"/>
          <p:cNvSpPr txBox="1"/>
          <p:nvPr/>
        </p:nvSpPr>
        <p:spPr>
          <a:xfrm>
            <a:off x="3593592" y="2468880"/>
            <a:ext cx="2240280" cy="566928"/>
          </a:xfrm>
          <a:prstGeom prst="rect">
            <a:avLst/>
          </a:prstGeom>
          <a:noFill/>
          <a:ln/>
        </p:spPr>
        <p:txBody>
          <a:bodyPr wrap="square" lIns="0" tIns="0" rIns="0" bIns="0" rtlCol="0" anchor="t"/>
          <a:lstStyle/>
          <a:p>
            <a:pPr indent="0" marL="0">
              <a:lnSpc>
                <a:spcPct val="105000"/>
              </a:lnSpc>
              <a:buNone/>
            </a:pPr>
            <a:r>
              <a:rPr lang="en-US" sz="1250" dirty="0">
                <a:solidFill>
                  <a:srgbClr val="1B2A41"/>
                </a:solidFill>
                <a:latin typeface="Calibri" pitchFamily="34" charset="0"/>
                <a:ea typeface="Calibri" pitchFamily="34" charset="-122"/>
                <a:cs typeface="Calibri" pitchFamily="34" charset="-120"/>
              </a:rPr>
              <a:t>Explicit slot values to extract (3–12 words)</a:t>
            </a:r>
            <a:endParaRPr lang="en-US" sz="1250" dirty="0"/>
          </a:p>
        </p:txBody>
      </p:sp>
      <p:sp>
        <p:nvSpPr>
          <p:cNvPr id="25" name="Text 22"/>
          <p:cNvSpPr txBox="1"/>
          <p:nvPr/>
        </p:nvSpPr>
        <p:spPr>
          <a:xfrm>
            <a:off x="3593592" y="3054096"/>
            <a:ext cx="2240280" cy="548640"/>
          </a:xfrm>
          <a:prstGeom prst="rect">
            <a:avLst/>
          </a:prstGeom>
          <a:noFill/>
          <a:ln/>
        </p:spPr>
        <p:txBody>
          <a:bodyPr wrap="square" lIns="0" tIns="0" rIns="0" bIns="0" rtlCol="0" anchor="t"/>
          <a:lstStyle/>
          <a:p>
            <a:pPr indent="0" marL="0">
              <a:buNone/>
            </a:pPr>
            <a:r>
              <a:rPr lang="en-US" sz="1200" i="1" dirty="0">
                <a:solidFill>
                  <a:srgbClr val="0FA3B1"/>
                </a:solidFill>
                <a:latin typeface="Calibri" pitchFamily="34" charset="0"/>
                <a:ea typeface="Calibri" pitchFamily="34" charset="-122"/>
                <a:cs typeface="Calibri" pitchFamily="34" charset="-120"/>
              </a:rPr>
              <a:t>"Set the temperature to 72."</a:t>
            </a:r>
            <a:endParaRPr lang="en-US" sz="1200" dirty="0"/>
          </a:p>
        </p:txBody>
      </p:sp>
      <p:sp>
        <p:nvSpPr>
          <p:cNvPr id="26" name="Shape 23"/>
          <p:cNvSpPr/>
          <p:nvPr/>
        </p:nvSpPr>
        <p:spPr>
          <a:xfrm>
            <a:off x="6181344" y="1572768"/>
            <a:ext cx="2651760" cy="2057400"/>
          </a:xfrm>
          <a:prstGeom prst="roundRect">
            <a:avLst>
              <a:gd name="adj" fmla="val 5333"/>
            </a:avLst>
          </a:prstGeom>
          <a:solidFill>
            <a:srgbClr val="F1F5F9"/>
          </a:solidFill>
          <a:ln w="12700">
            <a:solidFill>
              <a:srgbClr val="F1F5F9"/>
            </a:solidFill>
            <a:prstDash val="solid"/>
          </a:ln>
        </p:spPr>
      </p:sp>
      <p:sp>
        <p:nvSpPr>
          <p:cNvPr id="27" name="Shape 24"/>
          <p:cNvSpPr/>
          <p:nvPr/>
        </p:nvSpPr>
        <p:spPr>
          <a:xfrm>
            <a:off x="6409944" y="1801368"/>
            <a:ext cx="502920" cy="502920"/>
          </a:xfrm>
          <a:prstGeom prst="ellipse">
            <a:avLst/>
          </a:prstGeom>
          <a:solidFill>
            <a:srgbClr val="F2A93B"/>
          </a:solidFill>
          <a:ln w="12700">
            <a:solidFill>
              <a:srgbClr val="F2A93B"/>
            </a:solidFill>
            <a:prstDash val="solid"/>
          </a:ln>
        </p:spPr>
      </p:sp>
      <p:sp>
        <p:nvSpPr>
          <p:cNvPr id="28" name="Text 25"/>
          <p:cNvSpPr txBox="1"/>
          <p:nvPr/>
        </p:nvSpPr>
        <p:spPr>
          <a:xfrm>
            <a:off x="6409944" y="180136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9" name="Text 26"/>
          <p:cNvSpPr txBox="1"/>
          <p:nvPr/>
        </p:nvSpPr>
        <p:spPr>
          <a:xfrm>
            <a:off x="7050024" y="1773936"/>
            <a:ext cx="1645920" cy="566928"/>
          </a:xfrm>
          <a:prstGeom prst="rect">
            <a:avLst/>
          </a:prstGeom>
          <a:noFill/>
          <a:ln/>
        </p:spPr>
        <p:txBody>
          <a:bodyPr wrap="square" lIns="0" tIns="0" rIns="0" bIns="0"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Multi-intent</a:t>
            </a:r>
            <a:endParaRPr lang="en-US" sz="1600" dirty="0"/>
          </a:p>
        </p:txBody>
      </p:sp>
      <p:sp>
        <p:nvSpPr>
          <p:cNvPr id="30" name="Text 27"/>
          <p:cNvSpPr txBox="1"/>
          <p:nvPr/>
        </p:nvSpPr>
        <p:spPr>
          <a:xfrm>
            <a:off x="6409944" y="2468880"/>
            <a:ext cx="2240280" cy="566928"/>
          </a:xfrm>
          <a:prstGeom prst="rect">
            <a:avLst/>
          </a:prstGeom>
          <a:noFill/>
          <a:ln/>
        </p:spPr>
        <p:txBody>
          <a:bodyPr wrap="square" lIns="0" tIns="0" rIns="0" bIns="0" rtlCol="0" anchor="t"/>
          <a:lstStyle/>
          <a:p>
            <a:pPr indent="0" marL="0">
              <a:lnSpc>
                <a:spcPct val="105000"/>
              </a:lnSpc>
              <a:buNone/>
            </a:pPr>
            <a:r>
              <a:rPr lang="en-US" sz="1250" dirty="0">
                <a:solidFill>
                  <a:srgbClr val="1B2A41"/>
                </a:solidFill>
                <a:latin typeface="Calibri" pitchFamily="34" charset="0"/>
                <a:ea typeface="Calibri" pitchFamily="34" charset="-122"/>
                <a:cs typeface="Calibri" pitchFamily="34" charset="-120"/>
              </a:rPr>
              <a:t>2–3 tool calls in one utterance, in order</a:t>
            </a:r>
            <a:endParaRPr lang="en-US" sz="1250" dirty="0"/>
          </a:p>
        </p:txBody>
      </p:sp>
      <p:sp>
        <p:nvSpPr>
          <p:cNvPr id="31" name="Text 28"/>
          <p:cNvSpPr txBox="1"/>
          <p:nvPr/>
        </p:nvSpPr>
        <p:spPr>
          <a:xfrm>
            <a:off x="6409944" y="3054096"/>
            <a:ext cx="2240280" cy="548640"/>
          </a:xfrm>
          <a:prstGeom prst="rect">
            <a:avLst/>
          </a:prstGeom>
          <a:noFill/>
          <a:ln/>
        </p:spPr>
        <p:txBody>
          <a:bodyPr wrap="square" lIns="0" tIns="0" rIns="0" bIns="0" rtlCol="0" anchor="t"/>
          <a:lstStyle/>
          <a:p>
            <a:pPr indent="0" marL="0">
              <a:buNone/>
            </a:pPr>
            <a:r>
              <a:rPr lang="en-US" sz="1200" i="1" dirty="0">
                <a:solidFill>
                  <a:srgbClr val="C9821A"/>
                </a:solidFill>
                <a:latin typeface="Calibri" pitchFamily="34" charset="0"/>
                <a:ea typeface="Calibri" pitchFamily="34" charset="-122"/>
                <a:cs typeface="Calibri" pitchFamily="34" charset="-120"/>
              </a:rPr>
              <a:t>"Defrost the windshield and find a charger."</a:t>
            </a:r>
            <a:endParaRPr lang="en-US" sz="1200" dirty="0"/>
          </a:p>
        </p:txBody>
      </p:sp>
      <p:sp>
        <p:nvSpPr>
          <p:cNvPr id="32" name="Shape 29"/>
          <p:cNvSpPr/>
          <p:nvPr/>
        </p:nvSpPr>
        <p:spPr>
          <a:xfrm>
            <a:off x="8997696" y="1572768"/>
            <a:ext cx="2651760" cy="2057400"/>
          </a:xfrm>
          <a:prstGeom prst="roundRect">
            <a:avLst>
              <a:gd name="adj" fmla="val 5333"/>
            </a:avLst>
          </a:prstGeom>
          <a:solidFill>
            <a:srgbClr val="F1F5F9"/>
          </a:solidFill>
          <a:ln w="12700">
            <a:solidFill>
              <a:srgbClr val="F1F5F9"/>
            </a:solidFill>
            <a:prstDash val="solid"/>
          </a:ln>
        </p:spPr>
      </p:sp>
      <p:sp>
        <p:nvSpPr>
          <p:cNvPr id="33" name="Shape 30"/>
          <p:cNvSpPr/>
          <p:nvPr/>
        </p:nvSpPr>
        <p:spPr>
          <a:xfrm>
            <a:off x="9226296" y="1801368"/>
            <a:ext cx="502920" cy="502920"/>
          </a:xfrm>
          <a:prstGeom prst="ellipse">
            <a:avLst/>
          </a:prstGeom>
          <a:solidFill>
            <a:srgbClr val="F2A93B"/>
          </a:solidFill>
          <a:ln w="12700">
            <a:solidFill>
              <a:srgbClr val="F2A93B"/>
            </a:solidFill>
            <a:prstDash val="solid"/>
          </a:ln>
        </p:spPr>
      </p:sp>
      <p:sp>
        <p:nvSpPr>
          <p:cNvPr id="34" name="Text 31"/>
          <p:cNvSpPr txBox="1"/>
          <p:nvPr/>
        </p:nvSpPr>
        <p:spPr>
          <a:xfrm>
            <a:off x="9226296" y="180136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5" name="Text 32"/>
          <p:cNvSpPr txBox="1"/>
          <p:nvPr/>
        </p:nvSpPr>
        <p:spPr>
          <a:xfrm>
            <a:off x="9866376" y="1773936"/>
            <a:ext cx="1645920" cy="566928"/>
          </a:xfrm>
          <a:prstGeom prst="rect">
            <a:avLst/>
          </a:prstGeom>
          <a:noFill/>
          <a:ln/>
        </p:spPr>
        <p:txBody>
          <a:bodyPr wrap="square" lIns="0" tIns="0" rIns="0" bIns="0"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Implicit</a:t>
            </a:r>
            <a:endParaRPr lang="en-US" sz="1600" dirty="0"/>
          </a:p>
        </p:txBody>
      </p:sp>
      <p:sp>
        <p:nvSpPr>
          <p:cNvPr id="36" name="Text 33"/>
          <p:cNvSpPr txBox="1"/>
          <p:nvPr/>
        </p:nvSpPr>
        <p:spPr>
          <a:xfrm>
            <a:off x="9226296" y="2468880"/>
            <a:ext cx="2240280" cy="566928"/>
          </a:xfrm>
          <a:prstGeom prst="rect">
            <a:avLst/>
          </a:prstGeom>
          <a:noFill/>
          <a:ln/>
        </p:spPr>
        <p:txBody>
          <a:bodyPr wrap="square" lIns="0" tIns="0" rIns="0" bIns="0" rtlCol="0" anchor="t"/>
          <a:lstStyle/>
          <a:p>
            <a:pPr indent="0" marL="0">
              <a:lnSpc>
                <a:spcPct val="105000"/>
              </a:lnSpc>
              <a:buNone/>
            </a:pPr>
            <a:r>
              <a:rPr lang="en-US" sz="1250" dirty="0">
                <a:solidFill>
                  <a:srgbClr val="1B2A41"/>
                </a:solidFill>
                <a:latin typeface="Calibri" pitchFamily="34" charset="0"/>
                <a:ea typeface="Calibri" pitchFamily="34" charset="-122"/>
                <a:cs typeface="Calibri" pitchFamily="34" charset="-120"/>
              </a:rPr>
              <a:t>State or complaint; the tool is only implied</a:t>
            </a:r>
            <a:endParaRPr lang="en-US" sz="1250" dirty="0"/>
          </a:p>
        </p:txBody>
      </p:sp>
      <p:sp>
        <p:nvSpPr>
          <p:cNvPr id="37" name="Text 34"/>
          <p:cNvSpPr txBox="1"/>
          <p:nvPr/>
        </p:nvSpPr>
        <p:spPr>
          <a:xfrm>
            <a:off x="9226296" y="3054096"/>
            <a:ext cx="2240280" cy="548640"/>
          </a:xfrm>
          <a:prstGeom prst="rect">
            <a:avLst/>
          </a:prstGeom>
          <a:noFill/>
          <a:ln/>
        </p:spPr>
        <p:txBody>
          <a:bodyPr wrap="square" lIns="0" tIns="0" rIns="0" bIns="0" rtlCol="0" anchor="t"/>
          <a:lstStyle/>
          <a:p>
            <a:pPr indent="0" marL="0">
              <a:buNone/>
            </a:pPr>
            <a:r>
              <a:rPr lang="en-US" sz="1200" i="1" dirty="0">
                <a:solidFill>
                  <a:srgbClr val="C9821A"/>
                </a:solidFill>
                <a:latin typeface="Calibri" pitchFamily="34" charset="0"/>
                <a:ea typeface="Calibri" pitchFamily="34" charset="-122"/>
                <a:cs typeface="Calibri" pitchFamily="34" charset="-120"/>
              </a:rPr>
              <a:t>"I'm freezing."</a:t>
            </a:r>
            <a:endParaRPr lang="en-US" sz="1200" dirty="0"/>
          </a:p>
        </p:txBody>
      </p:sp>
      <p:sp>
        <p:nvSpPr>
          <p:cNvPr id="38" name="Shape 35"/>
          <p:cNvSpPr/>
          <p:nvPr/>
        </p:nvSpPr>
        <p:spPr>
          <a:xfrm>
            <a:off x="548640" y="3776472"/>
            <a:ext cx="2651760" cy="2057400"/>
          </a:xfrm>
          <a:prstGeom prst="roundRect">
            <a:avLst>
              <a:gd name="adj" fmla="val 5333"/>
            </a:avLst>
          </a:prstGeom>
          <a:solidFill>
            <a:srgbClr val="F1F5F9"/>
          </a:solidFill>
          <a:ln w="12700">
            <a:solidFill>
              <a:srgbClr val="F1F5F9"/>
            </a:solidFill>
            <a:prstDash val="solid"/>
          </a:ln>
        </p:spPr>
      </p:sp>
      <p:sp>
        <p:nvSpPr>
          <p:cNvPr id="39" name="Shape 36"/>
          <p:cNvSpPr/>
          <p:nvPr/>
        </p:nvSpPr>
        <p:spPr>
          <a:xfrm>
            <a:off x="777240" y="4005072"/>
            <a:ext cx="502920" cy="502920"/>
          </a:xfrm>
          <a:prstGeom prst="ellipse">
            <a:avLst/>
          </a:prstGeom>
          <a:solidFill>
            <a:srgbClr val="E4572E"/>
          </a:solidFill>
          <a:ln w="12700">
            <a:solidFill>
              <a:srgbClr val="E4572E"/>
            </a:solidFill>
            <a:prstDash val="solid"/>
          </a:ln>
        </p:spPr>
      </p:sp>
      <p:sp>
        <p:nvSpPr>
          <p:cNvPr id="40" name="Text 37"/>
          <p:cNvSpPr txBox="1"/>
          <p:nvPr/>
        </p:nvSpPr>
        <p:spPr>
          <a:xfrm>
            <a:off x="777240" y="400507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41" name="Text 38"/>
          <p:cNvSpPr txBox="1"/>
          <p:nvPr/>
        </p:nvSpPr>
        <p:spPr>
          <a:xfrm>
            <a:off x="1417320" y="3977640"/>
            <a:ext cx="1645920" cy="566928"/>
          </a:xfrm>
          <a:prstGeom prst="rect">
            <a:avLst/>
          </a:prstGeom>
          <a:noFill/>
          <a:ln/>
        </p:spPr>
        <p:txBody>
          <a:bodyPr wrap="square" lIns="0" tIns="0" rIns="0" bIns="0"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Needle in a haystack</a:t>
            </a:r>
            <a:endParaRPr lang="en-US" sz="1600" dirty="0"/>
          </a:p>
        </p:txBody>
      </p:sp>
      <p:sp>
        <p:nvSpPr>
          <p:cNvPr id="42" name="Text 39"/>
          <p:cNvSpPr txBox="1"/>
          <p:nvPr/>
        </p:nvSpPr>
        <p:spPr>
          <a:xfrm>
            <a:off x="777240" y="4672584"/>
            <a:ext cx="2240280" cy="566928"/>
          </a:xfrm>
          <a:prstGeom prst="rect">
            <a:avLst/>
          </a:prstGeom>
          <a:noFill/>
          <a:ln/>
        </p:spPr>
        <p:txBody>
          <a:bodyPr wrap="square" lIns="0" tIns="0" rIns="0" bIns="0" rtlCol="0" anchor="t"/>
          <a:lstStyle/>
          <a:p>
            <a:pPr indent="0" marL="0">
              <a:lnSpc>
                <a:spcPct val="105000"/>
              </a:lnSpc>
              <a:buNone/>
            </a:pPr>
            <a:r>
              <a:rPr lang="en-US" sz="1250" dirty="0">
                <a:solidFill>
                  <a:srgbClr val="1B2A41"/>
                </a:solidFill>
                <a:latin typeface="Calibri" pitchFamily="34" charset="0"/>
                <a:ea typeface="Calibri" pitchFamily="34" charset="-122"/>
                <a:cs typeface="Calibri" pitchFamily="34" charset="-120"/>
              </a:rPr>
              <a:t>Intent buried in 25–60 words of tangent</a:t>
            </a:r>
            <a:endParaRPr lang="en-US" sz="1250" dirty="0"/>
          </a:p>
        </p:txBody>
      </p:sp>
      <p:sp>
        <p:nvSpPr>
          <p:cNvPr id="43" name="Text 40"/>
          <p:cNvSpPr txBox="1"/>
          <p:nvPr/>
        </p:nvSpPr>
        <p:spPr>
          <a:xfrm>
            <a:off x="777240" y="5257800"/>
            <a:ext cx="2240280" cy="548640"/>
          </a:xfrm>
          <a:prstGeom prst="rect">
            <a:avLst/>
          </a:prstGeom>
          <a:noFill/>
          <a:ln/>
        </p:spPr>
        <p:txBody>
          <a:bodyPr wrap="square" lIns="0" tIns="0" rIns="0" bIns="0" rtlCol="0" anchor="t"/>
          <a:lstStyle/>
          <a:p>
            <a:pPr indent="0" marL="0">
              <a:buNone/>
            </a:pPr>
            <a:r>
              <a:rPr lang="en-US" sz="1200" i="1" dirty="0">
                <a:solidFill>
                  <a:srgbClr val="E4572E"/>
                </a:solidFill>
                <a:latin typeface="Calibri" pitchFamily="34" charset="0"/>
                <a:ea typeface="Calibri" pitchFamily="34" charset="-122"/>
                <a:cs typeface="Calibri" pitchFamily="34" charset="-120"/>
              </a:rPr>
              <a:t>"…anyway, long day, could you… oh, lock the doors."</a:t>
            </a:r>
            <a:endParaRPr lang="en-US" sz="1200" dirty="0"/>
          </a:p>
        </p:txBody>
      </p:sp>
      <p:sp>
        <p:nvSpPr>
          <p:cNvPr id="44" name="Shape 41"/>
          <p:cNvSpPr/>
          <p:nvPr/>
        </p:nvSpPr>
        <p:spPr>
          <a:xfrm>
            <a:off x="3364992" y="3776472"/>
            <a:ext cx="2651760" cy="2057400"/>
          </a:xfrm>
          <a:prstGeom prst="roundRect">
            <a:avLst>
              <a:gd name="adj" fmla="val 5333"/>
            </a:avLst>
          </a:prstGeom>
          <a:solidFill>
            <a:srgbClr val="F1F5F9"/>
          </a:solidFill>
          <a:ln w="12700">
            <a:solidFill>
              <a:srgbClr val="F1F5F9"/>
            </a:solidFill>
            <a:prstDash val="solid"/>
          </a:ln>
        </p:spPr>
      </p:sp>
      <p:sp>
        <p:nvSpPr>
          <p:cNvPr id="45" name="Shape 42"/>
          <p:cNvSpPr/>
          <p:nvPr/>
        </p:nvSpPr>
        <p:spPr>
          <a:xfrm>
            <a:off x="3593592" y="4005072"/>
            <a:ext cx="502920" cy="502920"/>
          </a:xfrm>
          <a:prstGeom prst="ellipse">
            <a:avLst/>
          </a:prstGeom>
          <a:solidFill>
            <a:srgbClr val="E4572E"/>
          </a:solidFill>
          <a:ln w="12700">
            <a:solidFill>
              <a:srgbClr val="E4572E"/>
            </a:solidFill>
            <a:prstDash val="solid"/>
          </a:ln>
        </p:spPr>
      </p:sp>
      <p:sp>
        <p:nvSpPr>
          <p:cNvPr id="46" name="Text 43"/>
          <p:cNvSpPr txBox="1"/>
          <p:nvPr/>
        </p:nvSpPr>
        <p:spPr>
          <a:xfrm>
            <a:off x="3593592" y="400507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47" name="Text 44"/>
          <p:cNvSpPr txBox="1"/>
          <p:nvPr/>
        </p:nvSpPr>
        <p:spPr>
          <a:xfrm>
            <a:off x="4233672" y="3977640"/>
            <a:ext cx="1645920" cy="566928"/>
          </a:xfrm>
          <a:prstGeom prst="rect">
            <a:avLst/>
          </a:prstGeom>
          <a:noFill/>
          <a:ln/>
        </p:spPr>
        <p:txBody>
          <a:bodyPr wrap="square" lIns="0" tIns="0" rIns="0" bIns="0"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Correction</a:t>
            </a:r>
            <a:endParaRPr lang="en-US" sz="1600" dirty="0"/>
          </a:p>
        </p:txBody>
      </p:sp>
      <p:sp>
        <p:nvSpPr>
          <p:cNvPr id="48" name="Text 45"/>
          <p:cNvSpPr txBox="1"/>
          <p:nvPr/>
        </p:nvSpPr>
        <p:spPr>
          <a:xfrm>
            <a:off x="3593592" y="4672584"/>
            <a:ext cx="2240280" cy="566928"/>
          </a:xfrm>
          <a:prstGeom prst="rect">
            <a:avLst/>
          </a:prstGeom>
          <a:noFill/>
          <a:ln/>
        </p:spPr>
        <p:txBody>
          <a:bodyPr wrap="square" lIns="0" tIns="0" rIns="0" bIns="0" rtlCol="0" anchor="t"/>
          <a:lstStyle/>
          <a:p>
            <a:pPr indent="0" marL="0">
              <a:lnSpc>
                <a:spcPct val="105000"/>
              </a:lnSpc>
              <a:buNone/>
            </a:pPr>
            <a:r>
              <a:rPr lang="en-US" sz="1250" dirty="0">
                <a:solidFill>
                  <a:srgbClr val="1B2A41"/>
                </a:solidFill>
                <a:latin typeface="Calibri" pitchFamily="34" charset="0"/>
                <a:ea typeface="Calibri" pitchFamily="34" charset="-122"/>
                <a:cs typeface="Calibri" pitchFamily="34" charset="-120"/>
              </a:rPr>
              <a:t>Mid-utterance repair; the final state wins</a:t>
            </a:r>
            <a:endParaRPr lang="en-US" sz="1250" dirty="0"/>
          </a:p>
        </p:txBody>
      </p:sp>
      <p:sp>
        <p:nvSpPr>
          <p:cNvPr id="49" name="Text 46"/>
          <p:cNvSpPr txBox="1"/>
          <p:nvPr/>
        </p:nvSpPr>
        <p:spPr>
          <a:xfrm>
            <a:off x="3593592" y="5257800"/>
            <a:ext cx="2240280" cy="548640"/>
          </a:xfrm>
          <a:prstGeom prst="rect">
            <a:avLst/>
          </a:prstGeom>
          <a:noFill/>
          <a:ln/>
        </p:spPr>
        <p:txBody>
          <a:bodyPr wrap="square" lIns="0" tIns="0" rIns="0" bIns="0" rtlCol="0" anchor="t"/>
          <a:lstStyle/>
          <a:p>
            <a:pPr indent="0" marL="0">
              <a:buNone/>
            </a:pPr>
            <a:r>
              <a:rPr lang="en-US" sz="1200" i="1" dirty="0">
                <a:solidFill>
                  <a:srgbClr val="E4572E"/>
                </a:solidFill>
                <a:latin typeface="Calibri" pitchFamily="34" charset="0"/>
                <a:ea typeface="Calibri" pitchFamily="34" charset="-122"/>
                <a:cs typeface="Calibri" pitchFamily="34" charset="-120"/>
              </a:rPr>
              <a:t>"Set an alarm for 7… wait, make it 8."</a:t>
            </a:r>
            <a:endParaRPr lang="en-US" sz="1200" dirty="0"/>
          </a:p>
        </p:txBody>
      </p:sp>
      <p:sp>
        <p:nvSpPr>
          <p:cNvPr id="50" name="Shape 47"/>
          <p:cNvSpPr/>
          <p:nvPr/>
        </p:nvSpPr>
        <p:spPr>
          <a:xfrm>
            <a:off x="6181344" y="3776472"/>
            <a:ext cx="2651760" cy="2057400"/>
          </a:xfrm>
          <a:prstGeom prst="roundRect">
            <a:avLst>
              <a:gd name="adj" fmla="val 5333"/>
            </a:avLst>
          </a:prstGeom>
          <a:solidFill>
            <a:srgbClr val="F1F5F9"/>
          </a:solidFill>
          <a:ln w="12700">
            <a:solidFill>
              <a:srgbClr val="F1F5F9"/>
            </a:solidFill>
            <a:prstDash val="solid"/>
          </a:ln>
        </p:spPr>
      </p:sp>
      <p:sp>
        <p:nvSpPr>
          <p:cNvPr id="51" name="Shape 48"/>
          <p:cNvSpPr/>
          <p:nvPr/>
        </p:nvSpPr>
        <p:spPr>
          <a:xfrm>
            <a:off x="6409944" y="4005072"/>
            <a:ext cx="502920" cy="502920"/>
          </a:xfrm>
          <a:prstGeom prst="ellipse">
            <a:avLst/>
          </a:prstGeom>
          <a:solidFill>
            <a:srgbClr val="E4572E"/>
          </a:solidFill>
          <a:ln w="12700">
            <a:solidFill>
              <a:srgbClr val="E4572E"/>
            </a:solidFill>
            <a:prstDash val="solid"/>
          </a:ln>
        </p:spPr>
      </p:sp>
      <p:sp>
        <p:nvSpPr>
          <p:cNvPr id="52" name="Text 49"/>
          <p:cNvSpPr txBox="1"/>
          <p:nvPr/>
        </p:nvSpPr>
        <p:spPr>
          <a:xfrm>
            <a:off x="6409944" y="400507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53" name="Text 50"/>
          <p:cNvSpPr txBox="1"/>
          <p:nvPr/>
        </p:nvSpPr>
        <p:spPr>
          <a:xfrm>
            <a:off x="7050024" y="3977640"/>
            <a:ext cx="1645920" cy="566928"/>
          </a:xfrm>
          <a:prstGeom prst="rect">
            <a:avLst/>
          </a:prstGeom>
          <a:noFill/>
          <a:ln/>
        </p:spPr>
        <p:txBody>
          <a:bodyPr wrap="square" lIns="0" tIns="0" rIns="0" bIns="0"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Conversation</a:t>
            </a:r>
            <a:endParaRPr lang="en-US" sz="1600" dirty="0"/>
          </a:p>
        </p:txBody>
      </p:sp>
      <p:sp>
        <p:nvSpPr>
          <p:cNvPr id="54" name="Text 51"/>
          <p:cNvSpPr txBox="1"/>
          <p:nvPr/>
        </p:nvSpPr>
        <p:spPr>
          <a:xfrm>
            <a:off x="6409944" y="4672584"/>
            <a:ext cx="2240280" cy="566928"/>
          </a:xfrm>
          <a:prstGeom prst="rect">
            <a:avLst/>
          </a:prstGeom>
          <a:noFill/>
          <a:ln/>
        </p:spPr>
        <p:txBody>
          <a:bodyPr wrap="square" lIns="0" tIns="0" rIns="0" bIns="0" rtlCol="0" anchor="t"/>
          <a:lstStyle/>
          <a:p>
            <a:pPr indent="0" marL="0">
              <a:lnSpc>
                <a:spcPct val="105000"/>
              </a:lnSpc>
              <a:buNone/>
            </a:pPr>
            <a:r>
              <a:rPr lang="en-US" sz="1250" dirty="0">
                <a:solidFill>
                  <a:srgbClr val="1B2A41"/>
                </a:solidFill>
                <a:latin typeface="Calibri" pitchFamily="34" charset="0"/>
                <a:ea typeface="Calibri" pitchFamily="34" charset="-122"/>
                <a:cs typeface="Calibri" pitchFamily="34" charset="-120"/>
              </a:rPr>
              <a:t>Multi-turn USER/AGENT dialogue, 20–200 words, persistent state</a:t>
            </a:r>
            <a:endParaRPr lang="en-US" sz="1250" dirty="0"/>
          </a:p>
        </p:txBody>
      </p:sp>
      <p:sp>
        <p:nvSpPr>
          <p:cNvPr id="55" name="Text 52"/>
          <p:cNvSpPr txBox="1"/>
          <p:nvPr/>
        </p:nvSpPr>
        <p:spPr>
          <a:xfrm>
            <a:off x="6409944" y="5257800"/>
            <a:ext cx="2240280" cy="548640"/>
          </a:xfrm>
          <a:prstGeom prst="rect">
            <a:avLst/>
          </a:prstGeom>
          <a:noFill/>
          <a:ln/>
        </p:spPr>
        <p:txBody>
          <a:bodyPr wrap="square" lIns="0" tIns="0" rIns="0" bIns="0" rtlCol="0" anchor="t"/>
          <a:lstStyle/>
          <a:p>
            <a:pPr indent="0" marL="0">
              <a:buNone/>
            </a:pPr>
            <a:r>
              <a:rPr lang="en-US" sz="1200" i="1" dirty="0">
                <a:solidFill>
                  <a:srgbClr val="E4572E"/>
                </a:solidFill>
                <a:latin typeface="Calibri" pitchFamily="34" charset="0"/>
                <a:ea typeface="Calibri" pitchFamily="34" charset="-122"/>
                <a:cs typeface="Calibri" pitchFamily="34" charset="-120"/>
              </a:rPr>
              <a:t>"…and the same for the passenger seat."</a:t>
            </a:r>
            <a:endParaRPr lang="en-US" sz="1200" dirty="0"/>
          </a:p>
        </p:txBody>
      </p:sp>
      <p:sp>
        <p:nvSpPr>
          <p:cNvPr id="56" name="Shape 53"/>
          <p:cNvSpPr/>
          <p:nvPr/>
        </p:nvSpPr>
        <p:spPr>
          <a:xfrm>
            <a:off x="8997696" y="3776472"/>
            <a:ext cx="2651760" cy="2057400"/>
          </a:xfrm>
          <a:prstGeom prst="roundRect">
            <a:avLst>
              <a:gd name="adj" fmla="val 5333"/>
            </a:avLst>
          </a:prstGeom>
          <a:solidFill>
            <a:srgbClr val="F1F5F9"/>
          </a:solidFill>
          <a:ln w="12700">
            <a:solidFill>
              <a:srgbClr val="F1F5F9"/>
            </a:solidFill>
            <a:prstDash val="solid"/>
          </a:ln>
        </p:spPr>
      </p:sp>
      <p:sp>
        <p:nvSpPr>
          <p:cNvPr id="57" name="Shape 54"/>
          <p:cNvSpPr/>
          <p:nvPr/>
        </p:nvSpPr>
        <p:spPr>
          <a:xfrm>
            <a:off x="9226296" y="4005072"/>
            <a:ext cx="502920" cy="502920"/>
          </a:xfrm>
          <a:prstGeom prst="ellipse">
            <a:avLst/>
          </a:prstGeom>
          <a:solidFill>
            <a:srgbClr val="E4572E"/>
          </a:solidFill>
          <a:ln w="12700">
            <a:solidFill>
              <a:srgbClr val="E4572E"/>
            </a:solidFill>
            <a:prstDash val="solid"/>
          </a:ln>
        </p:spPr>
      </p:sp>
      <p:sp>
        <p:nvSpPr>
          <p:cNvPr id="58" name="Text 55"/>
          <p:cNvSpPr txBox="1"/>
          <p:nvPr/>
        </p:nvSpPr>
        <p:spPr>
          <a:xfrm>
            <a:off x="9226296" y="400507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59" name="Text 56"/>
          <p:cNvSpPr txBox="1"/>
          <p:nvPr/>
        </p:nvSpPr>
        <p:spPr>
          <a:xfrm>
            <a:off x="9866376" y="3977640"/>
            <a:ext cx="1645920" cy="566928"/>
          </a:xfrm>
          <a:prstGeom prst="rect">
            <a:avLst/>
          </a:prstGeom>
          <a:noFill/>
          <a:ln/>
        </p:spPr>
        <p:txBody>
          <a:bodyPr wrap="square" lIns="0" tIns="0" rIns="0" bIns="0" rtlCol="0" anchor="ctr"/>
          <a:lstStyle/>
          <a:p>
            <a:pPr indent="0" marL="0">
              <a:buNone/>
            </a:pPr>
            <a:r>
              <a:rPr lang="en-US" sz="1600" b="1" dirty="0">
                <a:solidFill>
                  <a:srgbClr val="0F1B2D"/>
                </a:solidFill>
                <a:latin typeface="Calibri" pitchFamily="34" charset="0"/>
                <a:ea typeface="Calibri" pitchFamily="34" charset="-122"/>
                <a:cs typeface="Calibri" pitchFamily="34" charset="-120"/>
              </a:rPr>
              <a:t>Intent blending</a:t>
            </a:r>
            <a:endParaRPr lang="en-US" sz="1600" dirty="0"/>
          </a:p>
        </p:txBody>
      </p:sp>
      <p:sp>
        <p:nvSpPr>
          <p:cNvPr id="60" name="Text 57"/>
          <p:cNvSpPr txBox="1"/>
          <p:nvPr/>
        </p:nvSpPr>
        <p:spPr>
          <a:xfrm>
            <a:off x="9226296" y="4672584"/>
            <a:ext cx="2240280" cy="566928"/>
          </a:xfrm>
          <a:prstGeom prst="rect">
            <a:avLst/>
          </a:prstGeom>
          <a:noFill/>
          <a:ln/>
        </p:spPr>
        <p:txBody>
          <a:bodyPr wrap="square" lIns="0" tIns="0" rIns="0" bIns="0" rtlCol="0" anchor="t"/>
          <a:lstStyle/>
          <a:p>
            <a:pPr indent="0" marL="0">
              <a:lnSpc>
                <a:spcPct val="105000"/>
              </a:lnSpc>
              <a:buNone/>
            </a:pPr>
            <a:r>
              <a:rPr lang="en-US" sz="1250" dirty="0">
                <a:solidFill>
                  <a:srgbClr val="1B2A41"/>
                </a:solidFill>
                <a:latin typeface="Calibri" pitchFamily="34" charset="0"/>
                <a:ea typeface="Calibri" pitchFamily="34" charset="-122"/>
                <a:cs typeface="Calibri" pitchFamily="34" charset="-120"/>
              </a:rPr>
              <a:t>Background speaker carries a second, valid command</a:t>
            </a:r>
            <a:endParaRPr lang="en-US" sz="1250" dirty="0"/>
          </a:p>
        </p:txBody>
      </p:sp>
      <p:sp>
        <p:nvSpPr>
          <p:cNvPr id="61" name="Text 58"/>
          <p:cNvSpPr txBox="1"/>
          <p:nvPr/>
        </p:nvSpPr>
        <p:spPr>
          <a:xfrm>
            <a:off x="9226296" y="5257800"/>
            <a:ext cx="2240280" cy="548640"/>
          </a:xfrm>
          <a:prstGeom prst="rect">
            <a:avLst/>
          </a:prstGeom>
          <a:noFill/>
          <a:ln/>
        </p:spPr>
        <p:txBody>
          <a:bodyPr wrap="square" lIns="0" tIns="0" rIns="0" bIns="0" rtlCol="0" anchor="t"/>
          <a:lstStyle/>
          <a:p>
            <a:pPr indent="0" marL="0">
              <a:buNone/>
            </a:pPr>
            <a:r>
              <a:rPr lang="en-US" sz="1200" i="1" dirty="0">
                <a:solidFill>
                  <a:srgbClr val="E4572E"/>
                </a:solidFill>
                <a:latin typeface="Calibri" pitchFamily="34" charset="0"/>
                <a:ea typeface="Calibri" pitchFamily="34" charset="-122"/>
                <a:cs typeface="Calibri" pitchFamily="34" charset="-120"/>
              </a:rPr>
              <a:t>Driver: "Navigate home."</a:t>
            </a:r>
            <a:endParaRPr lang="en-US" sz="1200" dirty="0"/>
          </a:p>
          <a:p>
            <a:pPr indent="0" marL="0">
              <a:buNone/>
            </a:pPr>
            <a:r>
              <a:rPr lang="en-US" sz="1200" i="1" dirty="0">
                <a:solidFill>
                  <a:srgbClr val="E4572E"/>
                </a:solidFill>
                <a:latin typeface="Calibri" pitchFamily="34" charset="0"/>
                <a:ea typeface="Calibri" pitchFamily="34" charset="-122"/>
                <a:cs typeface="Calibri" pitchFamily="34" charset="-120"/>
              </a:rPr>
              <a:t>Radio: "Set temperature to 72."</a:t>
            </a:r>
            <a:endParaRPr lang="en-US" sz="1200" dirty="0"/>
          </a:p>
        </p:txBody>
      </p:sp>
      <p:sp>
        <p:nvSpPr>
          <p:cNvPr id="62" name="Text 59"/>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300" dirty="0">
                <a:solidFill>
                  <a:srgbClr val="0FA3B1"/>
                </a:solidFill>
                <a:latin typeface="Calibri" pitchFamily="34" charset="0"/>
                <a:ea typeface="Calibri" pitchFamily="34" charset="-122"/>
                <a:cs typeface="Calibri" pitchFamily="34" charset="-120"/>
              </a:rPr>
              <a:t>●  </a:t>
            </a:r>
            <a:pPr indent="0" marL="0">
              <a:buNone/>
            </a:pPr>
            <a:r>
              <a:rPr lang="en-US" sz="1300" dirty="0">
                <a:solidFill>
                  <a:srgbClr val="1B2A41"/>
                </a:solidFill>
                <a:latin typeface="Calibri" pitchFamily="34" charset="0"/>
                <a:ea typeface="Calibri" pitchFamily="34" charset="-122"/>
                <a:cs typeface="Calibri" pitchFamily="34" charset="-120"/>
              </a:rPr>
              <a:t>Basics (T1–T2)      </a:t>
            </a:r>
            <a:pPr indent="0" marL="0">
              <a:buNone/>
            </a:pPr>
            <a:r>
              <a:rPr lang="en-US" sz="1300" dirty="0">
                <a:solidFill>
                  <a:srgbClr val="F2A93B"/>
                </a:solidFill>
                <a:latin typeface="Calibri" pitchFamily="34" charset="0"/>
                <a:ea typeface="Calibri" pitchFamily="34" charset="-122"/>
                <a:cs typeface="Calibri" pitchFamily="34" charset="-120"/>
              </a:rPr>
              <a:t>●  </a:t>
            </a:r>
            <a:pPr indent="0" marL="0">
              <a:buNone/>
            </a:pPr>
            <a:r>
              <a:rPr lang="en-US" sz="1300" dirty="0">
                <a:solidFill>
                  <a:srgbClr val="1B2A41"/>
                </a:solidFill>
                <a:latin typeface="Calibri" pitchFamily="34" charset="0"/>
                <a:ea typeface="Calibri" pitchFamily="34" charset="-122"/>
                <a:cs typeface="Calibri" pitchFamily="34" charset="-120"/>
              </a:rPr>
              <a:t>Composition &amp; inference (T3–T4)      </a:t>
            </a:r>
            <a:pPr indent="0" marL="0">
              <a:buNone/>
            </a:pPr>
            <a:r>
              <a:rPr lang="en-US" sz="1300" dirty="0">
                <a:solidFill>
                  <a:srgbClr val="E4572E"/>
                </a:solidFill>
                <a:latin typeface="Calibri" pitchFamily="34" charset="0"/>
                <a:ea typeface="Calibri" pitchFamily="34" charset="-122"/>
                <a:cs typeface="Calibri" pitchFamily="34" charset="-120"/>
              </a:rPr>
              <a:t>●  </a:t>
            </a:r>
            <a:pPr indent="0" marL="0">
              <a:buNone/>
            </a:pPr>
            <a:r>
              <a:rPr lang="en-US" sz="1300" dirty="0">
                <a:solidFill>
                  <a:srgbClr val="1B2A41"/>
                </a:solidFill>
                <a:latin typeface="Calibri" pitchFamily="34" charset="0"/>
                <a:ea typeface="Calibri" pitchFamily="34" charset="-122"/>
                <a:cs typeface="Calibri" pitchFamily="34" charset="-120"/>
              </a:rPr>
              <a:t>Realism: long context, repair, dialogue, competing speakers (T5–T8)</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0B7F8A"/>
                </a:solidFill>
                <a:latin typeface="Calibri" pitchFamily="34" charset="0"/>
                <a:ea typeface="Calibri" pitchFamily="34" charset="-122"/>
                <a:cs typeface="Calibri" pitchFamily="34" charset="-120"/>
              </a:rPr>
              <a:t>BENCHMARK</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From taxonomy to ~30K verified queries</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8</a:t>
            </a:r>
            <a:endParaRPr lang="en-US" sz="1000" dirty="0"/>
          </a:p>
        </p:txBody>
      </p:sp>
      <p:sp>
        <p:nvSpPr>
          <p:cNvPr id="14" name="Shape 11"/>
          <p:cNvSpPr/>
          <p:nvPr/>
        </p:nvSpPr>
        <p:spPr>
          <a:xfrm>
            <a:off x="548640" y="1600200"/>
            <a:ext cx="5669280" cy="1024128"/>
          </a:xfrm>
          <a:prstGeom prst="roundRect">
            <a:avLst>
              <a:gd name="adj" fmla="val 10714"/>
            </a:avLst>
          </a:prstGeom>
          <a:solidFill>
            <a:srgbClr val="F1F5F9"/>
          </a:solidFill>
          <a:ln w="12700">
            <a:solidFill>
              <a:srgbClr val="F1F5F9"/>
            </a:solidFill>
            <a:prstDash val="solid"/>
          </a:ln>
        </p:spPr>
      </p:sp>
      <p:sp>
        <p:nvSpPr>
          <p:cNvPr id="15" name="Shape 12"/>
          <p:cNvSpPr/>
          <p:nvPr/>
        </p:nvSpPr>
        <p:spPr>
          <a:xfrm>
            <a:off x="749808" y="1819656"/>
            <a:ext cx="585216" cy="585216"/>
          </a:xfrm>
          <a:prstGeom prst="ellipse">
            <a:avLst/>
          </a:prstGeom>
          <a:solidFill>
            <a:srgbClr val="0FA3B1"/>
          </a:solidFill>
          <a:ln w="12700">
            <a:solidFill>
              <a:srgbClr val="0FA3B1"/>
            </a:solidFill>
            <a:prstDash val="solid"/>
          </a:ln>
        </p:spPr>
      </p:sp>
      <p:pic>
        <p:nvPicPr>
          <p:cNvPr id="16" name="Image 0" descr="preencoded.png">    </p:cNvPr>
          <p:cNvPicPr>
            <a:picLocks noChangeAspect="1"/>
          </p:cNvPicPr>
          <p:nvPr/>
        </p:nvPicPr>
        <p:blipFill>
          <a:blip r:embed="rId1"/>
          <a:stretch>
            <a:fillRect/>
          </a:stretch>
        </p:blipFill>
        <p:spPr>
          <a:xfrm>
            <a:off x="878556" y="1948404"/>
            <a:ext cx="327721" cy="327721"/>
          </a:xfrm>
          <a:prstGeom prst="rect">
            <a:avLst/>
          </a:prstGeom>
        </p:spPr>
      </p:pic>
      <p:sp>
        <p:nvSpPr>
          <p:cNvPr id="17" name="Text 13"/>
          <p:cNvSpPr txBox="1"/>
          <p:nvPr/>
        </p:nvSpPr>
        <p:spPr>
          <a:xfrm>
            <a:off x="1508760" y="1719072"/>
            <a:ext cx="4617720" cy="365760"/>
          </a:xfrm>
          <a:prstGeom prst="rect">
            <a:avLst/>
          </a:prstGeom>
          <a:noFill/>
          <a:ln/>
        </p:spPr>
        <p:txBody>
          <a:bodyPr wrap="square" lIns="0" tIns="0" rIns="0" bIns="0" rtlCol="0" anchor="t"/>
          <a:lstStyle/>
          <a:p>
            <a:pPr indent="0" marL="0">
              <a:buNone/>
            </a:pPr>
            <a:r>
              <a:rPr lang="en-US" sz="1500" b="1" dirty="0">
                <a:solidFill>
                  <a:srgbClr val="0F1B2D"/>
                </a:solidFill>
                <a:latin typeface="Calibri" pitchFamily="34" charset="0"/>
                <a:ea typeface="Calibri" pitchFamily="34" charset="-122"/>
                <a:cs typeface="Calibri" pitchFamily="34" charset="-120"/>
              </a:rPr>
              <a:t>1.  Tier-specific prompting</a:t>
            </a:r>
            <a:endParaRPr lang="en-US" sz="1500" dirty="0"/>
          </a:p>
        </p:txBody>
      </p:sp>
      <p:sp>
        <p:nvSpPr>
          <p:cNvPr id="18" name="Text 14"/>
          <p:cNvSpPr txBox="1"/>
          <p:nvPr/>
        </p:nvSpPr>
        <p:spPr>
          <a:xfrm>
            <a:off x="1508760" y="2075688"/>
            <a:ext cx="4617720" cy="530352"/>
          </a:xfrm>
          <a:prstGeom prst="rect">
            <a:avLst/>
          </a:prstGeom>
          <a:noFill/>
          <a:ln/>
        </p:spPr>
        <p:txBody>
          <a:bodyPr wrap="square" lIns="0" tIns="0" rIns="0" bIns="0" rtlCol="0" anchor="t"/>
          <a:lstStyle/>
          <a:p>
            <a:pPr indent="0" marL="0">
              <a:lnSpc>
                <a:spcPct val="105000"/>
              </a:lnSpc>
              <a:buNone/>
            </a:pPr>
            <a:r>
              <a:rPr lang="en-US" sz="1200" dirty="0">
                <a:solidFill>
                  <a:srgbClr val="1B2A41"/>
                </a:solidFill>
                <a:latin typeface="Calibri" pitchFamily="34" charset="0"/>
                <a:ea typeface="Calibri" pitchFamily="34" charset="-122"/>
                <a:cs typeface="Calibri" pitchFamily="34" charset="-120"/>
              </a:rPr>
              <a:t>GPT-5.2 · Gemini 2.5 Pro · Claude Opus generate queries over the 152-tool taxonomy, with gold tool call(s) and arguments</a:t>
            </a:r>
            <a:endParaRPr lang="en-US" sz="1200" dirty="0"/>
          </a:p>
        </p:txBody>
      </p:sp>
      <p:sp>
        <p:nvSpPr>
          <p:cNvPr id="19" name="Shape 15"/>
          <p:cNvSpPr/>
          <p:nvPr/>
        </p:nvSpPr>
        <p:spPr>
          <a:xfrm>
            <a:off x="548640" y="2734056"/>
            <a:ext cx="5669280" cy="1024128"/>
          </a:xfrm>
          <a:prstGeom prst="roundRect">
            <a:avLst>
              <a:gd name="adj" fmla="val 10714"/>
            </a:avLst>
          </a:prstGeom>
          <a:solidFill>
            <a:srgbClr val="F1F5F9"/>
          </a:solidFill>
          <a:ln w="12700">
            <a:solidFill>
              <a:srgbClr val="F1F5F9"/>
            </a:solidFill>
            <a:prstDash val="solid"/>
          </a:ln>
        </p:spPr>
      </p:sp>
      <p:sp>
        <p:nvSpPr>
          <p:cNvPr id="20" name="Shape 16"/>
          <p:cNvSpPr/>
          <p:nvPr/>
        </p:nvSpPr>
        <p:spPr>
          <a:xfrm>
            <a:off x="749808" y="2953512"/>
            <a:ext cx="585216" cy="585216"/>
          </a:xfrm>
          <a:prstGeom prst="ellipse">
            <a:avLst/>
          </a:prstGeom>
          <a:solidFill>
            <a:srgbClr val="0FA3B1"/>
          </a:solidFill>
          <a:ln w="12700">
            <a:solidFill>
              <a:srgbClr val="0FA3B1"/>
            </a:solidFill>
            <a:prstDash val="solid"/>
          </a:ln>
        </p:spPr>
      </p:sp>
      <p:pic>
        <p:nvPicPr>
          <p:cNvPr id="21" name="Image 1" descr="preencoded.png">    </p:cNvPr>
          <p:cNvPicPr>
            <a:picLocks noChangeAspect="1"/>
          </p:cNvPicPr>
          <p:nvPr/>
        </p:nvPicPr>
        <p:blipFill>
          <a:blip r:embed="rId2"/>
          <a:stretch>
            <a:fillRect/>
          </a:stretch>
        </p:blipFill>
        <p:spPr>
          <a:xfrm>
            <a:off x="878556" y="3082260"/>
            <a:ext cx="327721" cy="327721"/>
          </a:xfrm>
          <a:prstGeom prst="rect">
            <a:avLst/>
          </a:prstGeom>
        </p:spPr>
      </p:pic>
      <p:sp>
        <p:nvSpPr>
          <p:cNvPr id="22" name="Text 17"/>
          <p:cNvSpPr txBox="1"/>
          <p:nvPr/>
        </p:nvSpPr>
        <p:spPr>
          <a:xfrm>
            <a:off x="1508760" y="2852928"/>
            <a:ext cx="4617720" cy="365760"/>
          </a:xfrm>
          <a:prstGeom prst="rect">
            <a:avLst/>
          </a:prstGeom>
          <a:noFill/>
          <a:ln/>
        </p:spPr>
        <p:txBody>
          <a:bodyPr wrap="square" lIns="0" tIns="0" rIns="0" bIns="0" rtlCol="0" anchor="t"/>
          <a:lstStyle/>
          <a:p>
            <a:pPr indent="0" marL="0">
              <a:buNone/>
            </a:pPr>
            <a:r>
              <a:rPr lang="en-US" sz="1500" b="1" dirty="0">
                <a:solidFill>
                  <a:srgbClr val="0F1B2D"/>
                </a:solidFill>
                <a:latin typeface="Calibri" pitchFamily="34" charset="0"/>
                <a:ea typeface="Calibri" pitchFamily="34" charset="-122"/>
                <a:cs typeface="Calibri" pitchFamily="34" charset="-120"/>
              </a:rPr>
              <a:t>2.  LLM-as-judge (disjoint models)</a:t>
            </a:r>
            <a:endParaRPr lang="en-US" sz="1500" dirty="0"/>
          </a:p>
        </p:txBody>
      </p:sp>
      <p:sp>
        <p:nvSpPr>
          <p:cNvPr id="23" name="Text 18"/>
          <p:cNvSpPr txBox="1"/>
          <p:nvPr/>
        </p:nvSpPr>
        <p:spPr>
          <a:xfrm>
            <a:off x="1508760" y="3209544"/>
            <a:ext cx="4617720" cy="530352"/>
          </a:xfrm>
          <a:prstGeom prst="rect">
            <a:avLst/>
          </a:prstGeom>
          <a:noFill/>
          <a:ln/>
        </p:spPr>
        <p:txBody>
          <a:bodyPr wrap="square" lIns="0" tIns="0" rIns="0" bIns="0" rtlCol="0" anchor="t"/>
          <a:lstStyle/>
          <a:p>
            <a:pPr indent="0" marL="0">
              <a:lnSpc>
                <a:spcPct val="105000"/>
              </a:lnSpc>
              <a:buNone/>
            </a:pPr>
            <a:r>
              <a:rPr lang="en-US" sz="1200" dirty="0">
                <a:solidFill>
                  <a:srgbClr val="1B2A41"/>
                </a:solidFill>
                <a:latin typeface="Calibri" pitchFamily="34" charset="0"/>
                <a:ea typeface="Calibri" pitchFamily="34" charset="-122"/>
                <a:cs typeface="Calibri" pitchFamily="34" charset="-120"/>
              </a:rPr>
              <a:t>GPT-5.1 · Gemini 2.5 Pro score correctness, difficulty and variability; never the same models that generated</a:t>
            </a:r>
            <a:endParaRPr lang="en-US" sz="1200" dirty="0"/>
          </a:p>
        </p:txBody>
      </p:sp>
      <p:sp>
        <p:nvSpPr>
          <p:cNvPr id="24" name="Shape 19"/>
          <p:cNvSpPr/>
          <p:nvPr/>
        </p:nvSpPr>
        <p:spPr>
          <a:xfrm>
            <a:off x="548640" y="3867912"/>
            <a:ext cx="5669280" cy="1024128"/>
          </a:xfrm>
          <a:prstGeom prst="roundRect">
            <a:avLst>
              <a:gd name="adj" fmla="val 10714"/>
            </a:avLst>
          </a:prstGeom>
          <a:solidFill>
            <a:srgbClr val="F1F5F9"/>
          </a:solidFill>
          <a:ln w="12700">
            <a:solidFill>
              <a:srgbClr val="F1F5F9"/>
            </a:solidFill>
            <a:prstDash val="solid"/>
          </a:ln>
        </p:spPr>
      </p:sp>
      <p:sp>
        <p:nvSpPr>
          <p:cNvPr id="25" name="Shape 20"/>
          <p:cNvSpPr/>
          <p:nvPr/>
        </p:nvSpPr>
        <p:spPr>
          <a:xfrm>
            <a:off x="749808" y="4087368"/>
            <a:ext cx="585216" cy="585216"/>
          </a:xfrm>
          <a:prstGeom prst="ellipse">
            <a:avLst/>
          </a:prstGeom>
          <a:solidFill>
            <a:srgbClr val="0FA3B1"/>
          </a:solidFill>
          <a:ln w="12700">
            <a:solidFill>
              <a:srgbClr val="0FA3B1"/>
            </a:solidFill>
            <a:prstDash val="solid"/>
          </a:ln>
        </p:spPr>
      </p:sp>
      <p:pic>
        <p:nvPicPr>
          <p:cNvPr id="26" name="Image 2" descr="preencoded.png">    </p:cNvPr>
          <p:cNvPicPr>
            <a:picLocks noChangeAspect="1"/>
          </p:cNvPicPr>
          <p:nvPr/>
        </p:nvPicPr>
        <p:blipFill>
          <a:blip r:embed="rId3"/>
          <a:stretch>
            <a:fillRect/>
          </a:stretch>
        </p:blipFill>
        <p:spPr>
          <a:xfrm>
            <a:off x="878556" y="4216116"/>
            <a:ext cx="327721" cy="327721"/>
          </a:xfrm>
          <a:prstGeom prst="rect">
            <a:avLst/>
          </a:prstGeom>
        </p:spPr>
      </p:pic>
      <p:sp>
        <p:nvSpPr>
          <p:cNvPr id="27" name="Text 21"/>
          <p:cNvSpPr txBox="1"/>
          <p:nvPr/>
        </p:nvSpPr>
        <p:spPr>
          <a:xfrm>
            <a:off x="1508760" y="3986784"/>
            <a:ext cx="4617720" cy="365760"/>
          </a:xfrm>
          <a:prstGeom prst="rect">
            <a:avLst/>
          </a:prstGeom>
          <a:noFill/>
          <a:ln/>
        </p:spPr>
        <p:txBody>
          <a:bodyPr wrap="square" lIns="0" tIns="0" rIns="0" bIns="0" rtlCol="0" anchor="t"/>
          <a:lstStyle/>
          <a:p>
            <a:pPr indent="0" marL="0">
              <a:buNone/>
            </a:pPr>
            <a:r>
              <a:rPr lang="en-US" sz="1500" b="1" dirty="0">
                <a:solidFill>
                  <a:srgbClr val="0F1B2D"/>
                </a:solidFill>
                <a:latin typeface="Calibri" pitchFamily="34" charset="0"/>
                <a:ea typeface="Calibri" pitchFamily="34" charset="-122"/>
                <a:cs typeface="Calibri" pitchFamily="34" charset="-120"/>
              </a:rPr>
              <a:t>3.  Manual verification</a:t>
            </a:r>
            <a:endParaRPr lang="en-US" sz="1500" dirty="0"/>
          </a:p>
        </p:txBody>
      </p:sp>
      <p:sp>
        <p:nvSpPr>
          <p:cNvPr id="28" name="Text 22"/>
          <p:cNvSpPr txBox="1"/>
          <p:nvPr/>
        </p:nvSpPr>
        <p:spPr>
          <a:xfrm>
            <a:off x="1508760" y="4343400"/>
            <a:ext cx="4617720" cy="530352"/>
          </a:xfrm>
          <a:prstGeom prst="rect">
            <a:avLst/>
          </a:prstGeom>
          <a:noFill/>
          <a:ln/>
        </p:spPr>
        <p:txBody>
          <a:bodyPr wrap="square" lIns="0" tIns="0" rIns="0" bIns="0" rtlCol="0" anchor="t"/>
          <a:lstStyle/>
          <a:p>
            <a:pPr indent="0" marL="0">
              <a:lnSpc>
                <a:spcPct val="105000"/>
              </a:lnSpc>
              <a:buNone/>
            </a:pPr>
            <a:r>
              <a:rPr lang="en-US" sz="1200" dirty="0">
                <a:solidFill>
                  <a:srgbClr val="1B2A41"/>
                </a:solidFill>
                <a:latin typeface="Calibri" pitchFamily="34" charset="0"/>
                <a:ea typeface="Calibri" pitchFamily="34" charset="-122"/>
                <a:cs typeface="Calibri" pitchFamily="34" charset="-120"/>
              </a:rPr>
              <a:t>Every query a judge failed was checked by hand, together with its ground-truth tools</a:t>
            </a:r>
            <a:endParaRPr lang="en-US" sz="1200" dirty="0"/>
          </a:p>
        </p:txBody>
      </p:sp>
      <p:sp>
        <p:nvSpPr>
          <p:cNvPr id="29" name="Shape 23"/>
          <p:cNvSpPr/>
          <p:nvPr/>
        </p:nvSpPr>
        <p:spPr>
          <a:xfrm>
            <a:off x="548640" y="5001768"/>
            <a:ext cx="5669280" cy="1024128"/>
          </a:xfrm>
          <a:prstGeom prst="roundRect">
            <a:avLst>
              <a:gd name="adj" fmla="val 10714"/>
            </a:avLst>
          </a:prstGeom>
          <a:solidFill>
            <a:srgbClr val="F1F5F9"/>
          </a:solidFill>
          <a:ln w="12700">
            <a:solidFill>
              <a:srgbClr val="F1F5F9"/>
            </a:solidFill>
            <a:prstDash val="solid"/>
          </a:ln>
        </p:spPr>
      </p:sp>
      <p:sp>
        <p:nvSpPr>
          <p:cNvPr id="30" name="Shape 24"/>
          <p:cNvSpPr/>
          <p:nvPr/>
        </p:nvSpPr>
        <p:spPr>
          <a:xfrm>
            <a:off x="749808" y="5221224"/>
            <a:ext cx="585216" cy="585216"/>
          </a:xfrm>
          <a:prstGeom prst="ellipse">
            <a:avLst/>
          </a:prstGeom>
          <a:solidFill>
            <a:srgbClr val="0FA3B1"/>
          </a:solidFill>
          <a:ln w="12700">
            <a:solidFill>
              <a:srgbClr val="0FA3B1"/>
            </a:solidFill>
            <a:prstDash val="solid"/>
          </a:ln>
        </p:spPr>
      </p:sp>
      <p:pic>
        <p:nvPicPr>
          <p:cNvPr id="31" name="Image 3" descr="preencoded.png">    </p:cNvPr>
          <p:cNvPicPr>
            <a:picLocks noChangeAspect="1"/>
          </p:cNvPicPr>
          <p:nvPr/>
        </p:nvPicPr>
        <p:blipFill>
          <a:blip r:embed="rId4"/>
          <a:stretch>
            <a:fillRect/>
          </a:stretch>
        </p:blipFill>
        <p:spPr>
          <a:xfrm>
            <a:off x="878556" y="5349972"/>
            <a:ext cx="327721" cy="327721"/>
          </a:xfrm>
          <a:prstGeom prst="rect">
            <a:avLst/>
          </a:prstGeom>
        </p:spPr>
      </p:pic>
      <p:sp>
        <p:nvSpPr>
          <p:cNvPr id="32" name="Text 25"/>
          <p:cNvSpPr txBox="1"/>
          <p:nvPr/>
        </p:nvSpPr>
        <p:spPr>
          <a:xfrm>
            <a:off x="1508760" y="5120640"/>
            <a:ext cx="4617720" cy="365760"/>
          </a:xfrm>
          <a:prstGeom prst="rect">
            <a:avLst/>
          </a:prstGeom>
          <a:noFill/>
          <a:ln/>
        </p:spPr>
        <p:txBody>
          <a:bodyPr wrap="square" lIns="0" tIns="0" rIns="0" bIns="0" rtlCol="0" anchor="t"/>
          <a:lstStyle/>
          <a:p>
            <a:pPr indent="0" marL="0">
              <a:buNone/>
            </a:pPr>
            <a:r>
              <a:rPr lang="en-US" sz="1500" b="1" dirty="0">
                <a:solidFill>
                  <a:srgbClr val="0F1B2D"/>
                </a:solidFill>
                <a:latin typeface="Calibri" pitchFamily="34" charset="0"/>
                <a:ea typeface="Calibri" pitchFamily="34" charset="-122"/>
                <a:cs typeface="Calibri" pitchFamily="34" charset="-120"/>
              </a:rPr>
              <a:t>4.  Gold labels per tier</a:t>
            </a:r>
            <a:endParaRPr lang="en-US" sz="1500" dirty="0"/>
          </a:p>
        </p:txBody>
      </p:sp>
      <p:sp>
        <p:nvSpPr>
          <p:cNvPr id="33" name="Text 26"/>
          <p:cNvSpPr txBox="1"/>
          <p:nvPr/>
        </p:nvSpPr>
        <p:spPr>
          <a:xfrm>
            <a:off x="1508760" y="5477256"/>
            <a:ext cx="4617720" cy="530352"/>
          </a:xfrm>
          <a:prstGeom prst="rect">
            <a:avLst/>
          </a:prstGeom>
          <a:noFill/>
          <a:ln/>
        </p:spPr>
        <p:txBody>
          <a:bodyPr wrap="square" lIns="0" tIns="0" rIns="0" bIns="0" rtlCol="0" anchor="t"/>
          <a:lstStyle/>
          <a:p>
            <a:pPr indent="0" marL="0">
              <a:lnSpc>
                <a:spcPct val="105000"/>
              </a:lnSpc>
              <a:buNone/>
            </a:pPr>
            <a:r>
              <a:rPr lang="en-US" sz="1200" dirty="0">
                <a:solidFill>
                  <a:srgbClr val="1B2A41"/>
                </a:solidFill>
                <a:latin typeface="Calibri" pitchFamily="34" charset="0"/>
                <a:ea typeface="Calibri" pitchFamily="34" charset="-122"/>
                <a:cs typeface="Calibri" pitchFamily="34" charset="-120"/>
              </a:rPr>
              <a:t>tool call(s) + arguments, plus correction type (T6), reasoning (T4/T5/T7), primary-speaker calls (T8)</a:t>
            </a:r>
            <a:endParaRPr lang="en-US" sz="1200" dirty="0"/>
          </a:p>
        </p:txBody>
      </p:sp>
      <p:sp>
        <p:nvSpPr>
          <p:cNvPr id="34" name="Text 27"/>
          <p:cNvSpPr txBox="1"/>
          <p:nvPr/>
        </p:nvSpPr>
        <p:spPr>
          <a:xfrm>
            <a:off x="6492240" y="1572768"/>
            <a:ext cx="5120640" cy="320040"/>
          </a:xfrm>
          <a:prstGeom prst="rect">
            <a:avLst/>
          </a:prstGeom>
          <a:noFill/>
          <a:ln/>
        </p:spPr>
        <p:txBody>
          <a:bodyPr wrap="square" lIns="0" tIns="0" rIns="0" bIns="0" rtlCol="0" anchor="t"/>
          <a:lstStyle/>
          <a:p>
            <a:pPr indent="0" marL="0">
              <a:buNone/>
            </a:pPr>
            <a:r>
              <a:rPr lang="en-US" sz="1400" b="1" dirty="0">
                <a:solidFill>
                  <a:srgbClr val="0F1B2D"/>
                </a:solidFill>
                <a:latin typeface="Calibri" pitchFamily="34" charset="0"/>
                <a:ea typeface="Calibri" pitchFamily="34" charset="-122"/>
                <a:cs typeface="Calibri" pitchFamily="34" charset="-120"/>
              </a:rPr>
              <a:t>Queries per tier</a:t>
            </a:r>
            <a:endParaRPr lang="en-US" sz="1400" dirty="0"/>
          </a:p>
        </p:txBody>
      </p:sp>
      <p:graphicFrame>
        <p:nvGraphicFramePr>
          <p:cNvPr id="35" name="Chart 0" descr=""/>
          <p:cNvGraphicFramePr/>
          <p:nvPr/>
        </p:nvGraphicFramePr>
        <p:xfrm>
          <a:off x="6400800" y="1874520"/>
          <a:ext cx="5257800" cy="3154680"/>
        </p:xfrm>
        <a:graphic xmlns:a="http://schemas.openxmlformats.org/drawingml/2006/main">
          <a:graphicData uri="http://schemas.openxmlformats.org/drawingml/2006/chart">
            <c:chart xmlns:c="http://schemas.openxmlformats.org/drawingml/2006/chart" r:id="rId5"/>
          </a:graphicData>
        </a:graphic>
      </p:graphicFrame>
      <p:sp>
        <p:nvSpPr>
          <p:cNvPr id="36" name="Shape 28"/>
          <p:cNvSpPr/>
          <p:nvPr/>
        </p:nvSpPr>
        <p:spPr>
          <a:xfrm>
            <a:off x="6400800" y="5120640"/>
            <a:ext cx="5257800" cy="960120"/>
          </a:xfrm>
          <a:prstGeom prst="roundRect">
            <a:avLst>
              <a:gd name="adj" fmla="val 11429"/>
            </a:avLst>
          </a:prstGeom>
          <a:solidFill>
            <a:srgbClr val="DDF3F5"/>
          </a:solidFill>
          <a:ln w="12700">
            <a:solidFill>
              <a:srgbClr val="DDF3F5"/>
            </a:solidFill>
            <a:prstDash val="solid"/>
          </a:ln>
        </p:spPr>
      </p:sp>
      <p:sp>
        <p:nvSpPr>
          <p:cNvPr id="37" name="Text 29"/>
          <p:cNvSpPr txBox="1"/>
          <p:nvPr/>
        </p:nvSpPr>
        <p:spPr>
          <a:xfrm>
            <a:off x="6583680" y="5120640"/>
            <a:ext cx="4937760" cy="960120"/>
          </a:xfrm>
          <a:prstGeom prst="rect">
            <a:avLst/>
          </a:prstGeom>
          <a:noFill/>
          <a:ln/>
        </p:spPr>
        <p:txBody>
          <a:bodyPr wrap="square" lIns="0" tIns="0" rIns="0" bIns="0" rtlCol="0" anchor="ctr"/>
          <a:lstStyle/>
          <a:p>
            <a:pPr indent="0" marL="0">
              <a:buNone/>
            </a:pPr>
            <a:r>
              <a:rPr lang="en-US" sz="1300" b="1" dirty="0">
                <a:solidFill>
                  <a:srgbClr val="0B7F8A"/>
                </a:solidFill>
                <a:latin typeface="Calibri" pitchFamily="34" charset="0"/>
                <a:ea typeface="Calibri" pitchFamily="34" charset="-122"/>
                <a:cs typeface="Calibri" pitchFamily="34" charset="-120"/>
              </a:rPr>
              <a:t>Tier 3 composition:  </a:t>
            </a:r>
            <a:pPr indent="0" marL="0">
              <a:buNone/>
            </a:pPr>
            <a:r>
              <a:rPr lang="en-US" sz="1300" dirty="0">
                <a:solidFill>
                  <a:srgbClr val="1B2A41"/>
                </a:solidFill>
                <a:latin typeface="Calibri" pitchFamily="34" charset="0"/>
                <a:ea typeface="Calibri" pitchFamily="34" charset="-122"/>
                <a:cs typeface="Calibri" pitchFamily="34" charset="-120"/>
              </a:rPr>
              <a:t>2 calls 61.8%  ·  3 calls 36.2%  ·  4–5 calls 1.9%</a:t>
            </a:r>
            <a:endParaRPr lang="en-US" sz="1300" dirty="0"/>
          </a:p>
          <a:p>
            <a:pPr indent="0" marL="0">
              <a:buNone/>
            </a:pPr>
            <a:r>
              <a:rPr lang="en-US" sz="1200" dirty="0">
                <a:solidFill>
                  <a:srgbClr val="5B6B7F"/>
                </a:solidFill>
                <a:latin typeface="Calibri" pitchFamily="34" charset="0"/>
                <a:ea typeface="Calibri" pitchFamily="34" charset="-122"/>
                <a:cs typeface="Calibri" pitchFamily="34" charset="-120"/>
              </a:rPr>
              <a:t>Smart Car is the majority domain in every tier (paper Fig. 2a).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0B7F8A"/>
                </a:solidFill>
                <a:latin typeface="Calibri" pitchFamily="34" charset="0"/>
                <a:ea typeface="Calibri" pitchFamily="34" charset="-122"/>
                <a:cs typeface="Calibri" pitchFamily="34" charset="-120"/>
              </a:rPr>
              <a:t>BENCHMARK</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Making it sound real: 330 cloned voices, real noise</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9</a:t>
            </a:r>
            <a:endParaRPr lang="en-US" sz="1000" dirty="0"/>
          </a:p>
        </p:txBody>
      </p:sp>
      <p:sp>
        <p:nvSpPr>
          <p:cNvPr id="14" name="Shape 11"/>
          <p:cNvSpPr/>
          <p:nvPr/>
        </p:nvSpPr>
        <p:spPr>
          <a:xfrm>
            <a:off x="548640" y="1600200"/>
            <a:ext cx="5760720" cy="960120"/>
          </a:xfrm>
          <a:prstGeom prst="roundRect">
            <a:avLst>
              <a:gd name="adj" fmla="val 11429"/>
            </a:avLst>
          </a:prstGeom>
          <a:solidFill>
            <a:srgbClr val="F1F5F9"/>
          </a:solidFill>
          <a:ln w="12700">
            <a:solidFill>
              <a:srgbClr val="F1F5F9"/>
            </a:solidFill>
            <a:prstDash val="solid"/>
          </a:ln>
        </p:spPr>
      </p:sp>
      <p:sp>
        <p:nvSpPr>
          <p:cNvPr id="15" name="Shape 12"/>
          <p:cNvSpPr/>
          <p:nvPr/>
        </p:nvSpPr>
        <p:spPr>
          <a:xfrm>
            <a:off x="749808" y="1783080"/>
            <a:ext cx="585216" cy="585216"/>
          </a:xfrm>
          <a:prstGeom prst="ellipse">
            <a:avLst/>
          </a:prstGeom>
          <a:solidFill>
            <a:srgbClr val="0FA3B1"/>
          </a:solidFill>
          <a:ln w="12700">
            <a:solidFill>
              <a:srgbClr val="0FA3B1"/>
            </a:solidFill>
            <a:prstDash val="solid"/>
          </a:ln>
        </p:spPr>
      </p:sp>
      <p:pic>
        <p:nvPicPr>
          <p:cNvPr id="16" name="Image 0" descr="preencoded.png">    </p:cNvPr>
          <p:cNvPicPr>
            <a:picLocks noChangeAspect="1"/>
          </p:cNvPicPr>
          <p:nvPr/>
        </p:nvPicPr>
        <p:blipFill>
          <a:blip r:embed="rId1"/>
          <a:stretch>
            <a:fillRect/>
          </a:stretch>
        </p:blipFill>
        <p:spPr>
          <a:xfrm>
            <a:off x="878556" y="1911828"/>
            <a:ext cx="327721" cy="327721"/>
          </a:xfrm>
          <a:prstGeom prst="rect">
            <a:avLst/>
          </a:prstGeom>
        </p:spPr>
      </p:pic>
      <p:sp>
        <p:nvSpPr>
          <p:cNvPr id="17" name="Text 13"/>
          <p:cNvSpPr txBox="1"/>
          <p:nvPr/>
        </p:nvSpPr>
        <p:spPr>
          <a:xfrm>
            <a:off x="1508760" y="1709928"/>
            <a:ext cx="4663440" cy="347472"/>
          </a:xfrm>
          <a:prstGeom prst="rect">
            <a:avLst/>
          </a:prstGeom>
          <a:noFill/>
          <a:ln/>
        </p:spPr>
        <p:txBody>
          <a:bodyPr wrap="square" lIns="0" tIns="0" rIns="0" bIns="0" rtlCol="0" anchor="t"/>
          <a:lstStyle/>
          <a:p>
            <a:pPr indent="0" marL="0">
              <a:buNone/>
            </a:pPr>
            <a:r>
              <a:rPr lang="en-US" sz="1500" b="1" dirty="0">
                <a:solidFill>
                  <a:srgbClr val="0F1B2D"/>
                </a:solidFill>
                <a:latin typeface="Calibri" pitchFamily="34" charset="0"/>
                <a:ea typeface="Calibri" pitchFamily="34" charset="-122"/>
                <a:cs typeface="Calibri" pitchFamily="34" charset="-120"/>
              </a:rPr>
              <a:t>Speaker pool: ~60K voices, 4 corpora</a:t>
            </a:r>
            <a:endParaRPr lang="en-US" sz="1500" dirty="0"/>
          </a:p>
        </p:txBody>
      </p:sp>
      <p:sp>
        <p:nvSpPr>
          <p:cNvPr id="18" name="Text 14"/>
          <p:cNvSpPr txBox="1"/>
          <p:nvPr/>
        </p:nvSpPr>
        <p:spPr>
          <a:xfrm>
            <a:off x="1508760" y="2057400"/>
            <a:ext cx="4663440" cy="45720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SPGISpeech 2.0 · Emilia-YODAS · 3D-Speaker · VoxPopuli</a:t>
            </a:r>
            <a:endParaRPr lang="en-US" sz="1200" dirty="0"/>
          </a:p>
        </p:txBody>
      </p:sp>
      <p:sp>
        <p:nvSpPr>
          <p:cNvPr id="19" name="Shape 15"/>
          <p:cNvSpPr/>
          <p:nvPr/>
        </p:nvSpPr>
        <p:spPr>
          <a:xfrm>
            <a:off x="914400" y="2542032"/>
            <a:ext cx="256032" cy="182880"/>
          </a:xfrm>
          <a:prstGeom prst="downArrow">
            <a:avLst/>
          </a:prstGeom>
          <a:solidFill>
            <a:srgbClr val="8A97A8"/>
          </a:solidFill>
          <a:ln w="12700">
            <a:solidFill>
              <a:srgbClr val="8A97A8"/>
            </a:solidFill>
            <a:prstDash val="solid"/>
          </a:ln>
        </p:spPr>
      </p:sp>
      <p:sp>
        <p:nvSpPr>
          <p:cNvPr id="20" name="Shape 16"/>
          <p:cNvSpPr/>
          <p:nvPr/>
        </p:nvSpPr>
        <p:spPr>
          <a:xfrm>
            <a:off x="548640" y="2706624"/>
            <a:ext cx="5760720" cy="960120"/>
          </a:xfrm>
          <a:prstGeom prst="roundRect">
            <a:avLst>
              <a:gd name="adj" fmla="val 11429"/>
            </a:avLst>
          </a:prstGeom>
          <a:solidFill>
            <a:srgbClr val="F1F5F9"/>
          </a:solidFill>
          <a:ln w="12700">
            <a:solidFill>
              <a:srgbClr val="F1F5F9"/>
            </a:solidFill>
            <a:prstDash val="solid"/>
          </a:ln>
        </p:spPr>
      </p:sp>
      <p:sp>
        <p:nvSpPr>
          <p:cNvPr id="21" name="Shape 17"/>
          <p:cNvSpPr/>
          <p:nvPr/>
        </p:nvSpPr>
        <p:spPr>
          <a:xfrm>
            <a:off x="749808" y="2889504"/>
            <a:ext cx="585216" cy="585216"/>
          </a:xfrm>
          <a:prstGeom prst="ellipse">
            <a:avLst/>
          </a:prstGeom>
          <a:solidFill>
            <a:srgbClr val="0FA3B1"/>
          </a:solidFill>
          <a:ln w="12700">
            <a:solidFill>
              <a:srgbClr val="0FA3B1"/>
            </a:solidFill>
            <a:prstDash val="solid"/>
          </a:ln>
        </p:spPr>
      </p:sp>
      <p:pic>
        <p:nvPicPr>
          <p:cNvPr id="22" name="Image 1" descr="preencoded.png">    </p:cNvPr>
          <p:cNvPicPr>
            <a:picLocks noChangeAspect="1"/>
          </p:cNvPicPr>
          <p:nvPr/>
        </p:nvPicPr>
        <p:blipFill>
          <a:blip r:embed="rId2"/>
          <a:stretch>
            <a:fillRect/>
          </a:stretch>
        </p:blipFill>
        <p:spPr>
          <a:xfrm>
            <a:off x="878556" y="3018252"/>
            <a:ext cx="327721" cy="327721"/>
          </a:xfrm>
          <a:prstGeom prst="rect">
            <a:avLst/>
          </a:prstGeom>
        </p:spPr>
      </p:pic>
      <p:sp>
        <p:nvSpPr>
          <p:cNvPr id="23" name="Text 18"/>
          <p:cNvSpPr txBox="1"/>
          <p:nvPr/>
        </p:nvSpPr>
        <p:spPr>
          <a:xfrm>
            <a:off x="1508760" y="2816352"/>
            <a:ext cx="4663440" cy="347472"/>
          </a:xfrm>
          <a:prstGeom prst="rect">
            <a:avLst/>
          </a:prstGeom>
          <a:noFill/>
          <a:ln/>
        </p:spPr>
        <p:txBody>
          <a:bodyPr wrap="square" lIns="0" tIns="0" rIns="0" bIns="0" rtlCol="0" anchor="t"/>
          <a:lstStyle/>
          <a:p>
            <a:pPr indent="0" marL="0">
              <a:buNone/>
            </a:pPr>
            <a:r>
              <a:rPr lang="en-US" sz="1500" b="1" dirty="0">
                <a:solidFill>
                  <a:srgbClr val="0F1B2D"/>
                </a:solidFill>
                <a:latin typeface="Calibri" pitchFamily="34" charset="0"/>
                <a:ea typeface="Calibri" pitchFamily="34" charset="-122"/>
                <a:cs typeface="Calibri" pitchFamily="34" charset="-120"/>
              </a:rPr>
              <a:t>Stratified + farthest-point sampling</a:t>
            </a:r>
            <a:endParaRPr lang="en-US" sz="1500" dirty="0"/>
          </a:p>
        </p:txBody>
      </p:sp>
      <p:sp>
        <p:nvSpPr>
          <p:cNvPr id="24" name="Text 19"/>
          <p:cNvSpPr txBox="1"/>
          <p:nvPr/>
        </p:nvSpPr>
        <p:spPr>
          <a:xfrm>
            <a:off x="1508760" y="3163824"/>
            <a:ext cx="4663440" cy="45720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on speaker embeddings → 330 speakers, US · Europe · Asia · Latin America</a:t>
            </a:r>
            <a:endParaRPr lang="en-US" sz="1200" dirty="0"/>
          </a:p>
        </p:txBody>
      </p:sp>
      <p:sp>
        <p:nvSpPr>
          <p:cNvPr id="25" name="Shape 20"/>
          <p:cNvSpPr/>
          <p:nvPr/>
        </p:nvSpPr>
        <p:spPr>
          <a:xfrm>
            <a:off x="914400" y="3648456"/>
            <a:ext cx="256032" cy="182880"/>
          </a:xfrm>
          <a:prstGeom prst="downArrow">
            <a:avLst/>
          </a:prstGeom>
          <a:solidFill>
            <a:srgbClr val="8A97A8"/>
          </a:solidFill>
          <a:ln w="12700">
            <a:solidFill>
              <a:srgbClr val="8A97A8"/>
            </a:solidFill>
            <a:prstDash val="solid"/>
          </a:ln>
        </p:spPr>
      </p:sp>
      <p:sp>
        <p:nvSpPr>
          <p:cNvPr id="26" name="Shape 21"/>
          <p:cNvSpPr/>
          <p:nvPr/>
        </p:nvSpPr>
        <p:spPr>
          <a:xfrm>
            <a:off x="548640" y="3813048"/>
            <a:ext cx="5760720" cy="960120"/>
          </a:xfrm>
          <a:prstGeom prst="roundRect">
            <a:avLst>
              <a:gd name="adj" fmla="val 11429"/>
            </a:avLst>
          </a:prstGeom>
          <a:solidFill>
            <a:srgbClr val="F1F5F9"/>
          </a:solidFill>
          <a:ln w="12700">
            <a:solidFill>
              <a:srgbClr val="F1F5F9"/>
            </a:solidFill>
            <a:prstDash val="solid"/>
          </a:ln>
        </p:spPr>
      </p:sp>
      <p:sp>
        <p:nvSpPr>
          <p:cNvPr id="27" name="Shape 22"/>
          <p:cNvSpPr/>
          <p:nvPr/>
        </p:nvSpPr>
        <p:spPr>
          <a:xfrm>
            <a:off x="749808" y="3995928"/>
            <a:ext cx="585216" cy="585216"/>
          </a:xfrm>
          <a:prstGeom prst="ellipse">
            <a:avLst/>
          </a:prstGeom>
          <a:solidFill>
            <a:srgbClr val="F2A93B"/>
          </a:solidFill>
          <a:ln w="12700">
            <a:solidFill>
              <a:srgbClr val="F2A93B"/>
            </a:solidFill>
            <a:prstDash val="solid"/>
          </a:ln>
        </p:spPr>
      </p:sp>
      <p:pic>
        <p:nvPicPr>
          <p:cNvPr id="28" name="Image 2" descr="preencoded.png">    </p:cNvPr>
          <p:cNvPicPr>
            <a:picLocks noChangeAspect="1"/>
          </p:cNvPicPr>
          <p:nvPr/>
        </p:nvPicPr>
        <p:blipFill>
          <a:blip r:embed="rId3"/>
          <a:stretch>
            <a:fillRect/>
          </a:stretch>
        </p:blipFill>
        <p:spPr>
          <a:xfrm>
            <a:off x="878556" y="4124676"/>
            <a:ext cx="327721" cy="327721"/>
          </a:xfrm>
          <a:prstGeom prst="rect">
            <a:avLst/>
          </a:prstGeom>
        </p:spPr>
      </p:pic>
      <p:sp>
        <p:nvSpPr>
          <p:cNvPr id="29" name="Text 23"/>
          <p:cNvSpPr txBox="1"/>
          <p:nvPr/>
        </p:nvSpPr>
        <p:spPr>
          <a:xfrm>
            <a:off x="1508760" y="3922776"/>
            <a:ext cx="4663440" cy="347472"/>
          </a:xfrm>
          <a:prstGeom prst="rect">
            <a:avLst/>
          </a:prstGeom>
          <a:noFill/>
          <a:ln/>
        </p:spPr>
        <p:txBody>
          <a:bodyPr wrap="square" lIns="0" tIns="0" rIns="0" bIns="0" rtlCol="0" anchor="t"/>
          <a:lstStyle/>
          <a:p>
            <a:pPr indent="0" marL="0">
              <a:buNone/>
            </a:pPr>
            <a:r>
              <a:rPr lang="en-US" sz="1500" b="1" dirty="0">
                <a:solidFill>
                  <a:srgbClr val="0F1B2D"/>
                </a:solidFill>
                <a:latin typeface="Calibri" pitchFamily="34" charset="0"/>
                <a:ea typeface="Calibri" pitchFamily="34" charset="-122"/>
                <a:cs typeface="Calibri" pitchFamily="34" charset="-120"/>
              </a:rPr>
              <a:t>Zero-shot voice-cloning TTS</a:t>
            </a:r>
            <a:endParaRPr lang="en-US" sz="1500" dirty="0"/>
          </a:p>
        </p:txBody>
      </p:sp>
      <p:sp>
        <p:nvSpPr>
          <p:cNvPr id="30" name="Text 24"/>
          <p:cNvSpPr txBox="1"/>
          <p:nvPr/>
        </p:nvSpPr>
        <p:spPr>
          <a:xfrm>
            <a:off x="1508760" y="4270248"/>
            <a:ext cx="4663440" cy="45720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Qwen3-TTS and CosyVoice-3 render every query in m sampled voices</a:t>
            </a:r>
            <a:endParaRPr lang="en-US" sz="1200" dirty="0"/>
          </a:p>
        </p:txBody>
      </p:sp>
      <p:sp>
        <p:nvSpPr>
          <p:cNvPr id="31" name="Shape 25"/>
          <p:cNvSpPr/>
          <p:nvPr/>
        </p:nvSpPr>
        <p:spPr>
          <a:xfrm>
            <a:off x="914400" y="4754880"/>
            <a:ext cx="256032" cy="182880"/>
          </a:xfrm>
          <a:prstGeom prst="downArrow">
            <a:avLst/>
          </a:prstGeom>
          <a:solidFill>
            <a:srgbClr val="8A97A8"/>
          </a:solidFill>
          <a:ln w="12700">
            <a:solidFill>
              <a:srgbClr val="8A97A8"/>
            </a:solidFill>
            <a:prstDash val="solid"/>
          </a:ln>
        </p:spPr>
      </p:sp>
      <p:sp>
        <p:nvSpPr>
          <p:cNvPr id="32" name="Shape 26"/>
          <p:cNvSpPr/>
          <p:nvPr/>
        </p:nvSpPr>
        <p:spPr>
          <a:xfrm>
            <a:off x="548640" y="4919472"/>
            <a:ext cx="5760720" cy="960120"/>
          </a:xfrm>
          <a:prstGeom prst="roundRect">
            <a:avLst>
              <a:gd name="adj" fmla="val 11429"/>
            </a:avLst>
          </a:prstGeom>
          <a:solidFill>
            <a:srgbClr val="F1F5F9"/>
          </a:solidFill>
          <a:ln w="12700">
            <a:solidFill>
              <a:srgbClr val="F1F5F9"/>
            </a:solidFill>
            <a:prstDash val="solid"/>
          </a:ln>
        </p:spPr>
      </p:sp>
      <p:sp>
        <p:nvSpPr>
          <p:cNvPr id="33" name="Shape 27"/>
          <p:cNvSpPr/>
          <p:nvPr/>
        </p:nvSpPr>
        <p:spPr>
          <a:xfrm>
            <a:off x="749808" y="5102352"/>
            <a:ext cx="585216" cy="585216"/>
          </a:xfrm>
          <a:prstGeom prst="ellipse">
            <a:avLst/>
          </a:prstGeom>
          <a:solidFill>
            <a:srgbClr val="E4572E"/>
          </a:solidFill>
          <a:ln w="12700">
            <a:solidFill>
              <a:srgbClr val="E4572E"/>
            </a:solidFill>
            <a:prstDash val="solid"/>
          </a:ln>
        </p:spPr>
      </p:sp>
      <p:pic>
        <p:nvPicPr>
          <p:cNvPr id="34" name="Image 3" descr="preencoded.png">    </p:cNvPr>
          <p:cNvPicPr>
            <a:picLocks noChangeAspect="1"/>
          </p:cNvPicPr>
          <p:nvPr/>
        </p:nvPicPr>
        <p:blipFill>
          <a:blip r:embed="rId4"/>
          <a:stretch>
            <a:fillRect/>
          </a:stretch>
        </p:blipFill>
        <p:spPr>
          <a:xfrm>
            <a:off x="878556" y="5231100"/>
            <a:ext cx="327721" cy="327721"/>
          </a:xfrm>
          <a:prstGeom prst="rect">
            <a:avLst/>
          </a:prstGeom>
        </p:spPr>
      </p:pic>
      <p:sp>
        <p:nvSpPr>
          <p:cNvPr id="35" name="Text 28"/>
          <p:cNvSpPr txBox="1"/>
          <p:nvPr/>
        </p:nvSpPr>
        <p:spPr>
          <a:xfrm>
            <a:off x="1508760" y="5029200"/>
            <a:ext cx="4663440" cy="347472"/>
          </a:xfrm>
          <a:prstGeom prst="rect">
            <a:avLst/>
          </a:prstGeom>
          <a:noFill/>
          <a:ln/>
        </p:spPr>
        <p:txBody>
          <a:bodyPr wrap="square" lIns="0" tIns="0" rIns="0" bIns="0" rtlCol="0" anchor="t"/>
          <a:lstStyle/>
          <a:p>
            <a:pPr indent="0" marL="0">
              <a:buNone/>
            </a:pPr>
            <a:r>
              <a:rPr lang="en-US" sz="1500" b="1" dirty="0">
                <a:solidFill>
                  <a:srgbClr val="0F1B2D"/>
                </a:solidFill>
                <a:latin typeface="Calibri" pitchFamily="34" charset="0"/>
                <a:ea typeface="Calibri" pitchFamily="34" charset="-122"/>
                <a:cs typeface="Calibri" pitchFamily="34" charset="-120"/>
              </a:rPr>
              <a:t>Noise mixing</a:t>
            </a:r>
            <a:endParaRPr lang="en-US" sz="1500" dirty="0"/>
          </a:p>
        </p:txBody>
      </p:sp>
      <p:sp>
        <p:nvSpPr>
          <p:cNvPr id="36" name="Text 29"/>
          <p:cNvSpPr txBox="1"/>
          <p:nvPr/>
        </p:nvSpPr>
        <p:spPr>
          <a:xfrm>
            <a:off x="1508760" y="5376672"/>
            <a:ext cx="4663440" cy="45720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engine · road · wind · HVAC · rain · turn signal · cabin · room</a:t>
            </a:r>
            <a:endParaRPr lang="en-US" sz="1200" dirty="0"/>
          </a:p>
        </p:txBody>
      </p:sp>
      <p:sp>
        <p:nvSpPr>
          <p:cNvPr id="37" name="Text 30"/>
          <p:cNvSpPr txBox="1"/>
          <p:nvPr/>
        </p:nvSpPr>
        <p:spPr>
          <a:xfrm>
            <a:off x="6629400" y="1572768"/>
            <a:ext cx="5029200" cy="320040"/>
          </a:xfrm>
          <a:prstGeom prst="rect">
            <a:avLst/>
          </a:prstGeom>
          <a:noFill/>
          <a:ln/>
        </p:spPr>
        <p:txBody>
          <a:bodyPr wrap="square" lIns="0" tIns="0" rIns="0" bIns="0" rtlCol="0" anchor="t"/>
          <a:lstStyle/>
          <a:p>
            <a:pPr indent="0" marL="0">
              <a:buNone/>
            </a:pPr>
            <a:r>
              <a:rPr lang="en-US" sz="1400" b="1" dirty="0">
                <a:solidFill>
                  <a:srgbClr val="0F1B2D"/>
                </a:solidFill>
                <a:latin typeface="Calibri" pitchFamily="34" charset="0"/>
                <a:ea typeface="Calibri" pitchFamily="34" charset="-122"/>
                <a:cs typeface="Calibri" pitchFamily="34" charset="-120"/>
              </a:rPr>
              <a:t>Speaker corpora (paper Table 2)</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29400" y="1920240"/>
          <a:ext cx="5010912" cy="914400"/>
        </p:xfrm>
        <a:graphic>
          <a:graphicData uri="http://schemas.openxmlformats.org/drawingml/2006/table">
            <a:tbl>
              <a:tblPr/>
              <a:tblGrid>
                <a:gridCol w="1417320"/>
                <a:gridCol w="1051560"/>
                <a:gridCol w="1673352"/>
                <a:gridCol w="868680"/>
              </a:tblGrid>
              <a:tr h="38404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Corpus</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Speakers</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Regions</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Selected</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r>
              <a:tr h="384048">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SPGISpeech 2.0</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41,593</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US, Asia, Latin America</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84048">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Emilia-YODAS</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7,092</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US, China</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84048">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3D-Speaker</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10,000</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China</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84048">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VoxPopuli</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1,180</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US, Europe</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dirty="0">
                          <a:solidFill>
                            <a:srgbClr val="0F1B2D"/>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84048">
                <a:tc>
                  <a:txBody>
                    <a:bodyPr/>
                    <a:lstStyle/>
                    <a:p>
                      <a:pPr algn="l" indent="0" marL="0">
                        <a:buNone/>
                      </a:pPr>
                      <a:r>
                        <a:rPr lang="en-US" sz="1250" b="1" dirty="0">
                          <a:solidFill>
                            <a:srgbClr val="0F1B2D"/>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b="1" dirty="0">
                          <a:solidFill>
                            <a:srgbClr val="0F1B2D"/>
                          </a:solidFill>
                          <a:latin typeface="Calibri" pitchFamily="34" charset="0"/>
                          <a:ea typeface="Calibri" pitchFamily="34" charset="-122"/>
                          <a:cs typeface="Calibri" pitchFamily="34" charset="-120"/>
                        </a:rPr>
                        <a:t>59,865</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b="1" dirty="0">
                          <a:solidFill>
                            <a:srgbClr val="0F1B2D"/>
                          </a:solidFill>
                          <a:latin typeface="Calibri" pitchFamily="34" charset="0"/>
                          <a:ea typeface="Calibri" pitchFamily="34" charset="-122"/>
                          <a:cs typeface="Calibri" pitchFamily="34" charset="-120"/>
                        </a:rPr>
                        <a:t>4 regions</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l" indent="0" marL="0">
                        <a:buNone/>
                      </a:pPr>
                      <a:r>
                        <a:rPr lang="en-US" sz="1250" b="1" dirty="0">
                          <a:solidFill>
                            <a:srgbClr val="0B7F8A"/>
                          </a:solidFill>
                          <a:latin typeface="Calibri" pitchFamily="34" charset="0"/>
                          <a:ea typeface="Calibri" pitchFamily="34" charset="-122"/>
                          <a:cs typeface="Calibri" pitchFamily="34" charset="-120"/>
                        </a:rPr>
                        <a:t>330</a:t>
                      </a:r>
                      <a:endParaRPr lang="en-US" sz="1250" dirty="0">
                        <a:latin typeface="Calibri" charset="0"/>
                        <a:ea typeface="Calibri" charset="0"/>
                        <a:cs typeface="Calibri" charset="0"/>
                      </a:endParaRPr>
                    </a:p>
                  </a:txBody>
                  <a:tcPr marL="73152" marR="73152"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bl>
          </a:graphicData>
        </a:graphic>
      </p:graphicFrame>
      <p:sp>
        <p:nvSpPr>
          <p:cNvPr id="39" name="Shape 31"/>
          <p:cNvSpPr/>
          <p:nvPr/>
        </p:nvSpPr>
        <p:spPr>
          <a:xfrm>
            <a:off x="6629400" y="4434840"/>
            <a:ext cx="5010912" cy="1691640"/>
          </a:xfrm>
          <a:prstGeom prst="roundRect">
            <a:avLst>
              <a:gd name="adj" fmla="val 6486"/>
            </a:avLst>
          </a:prstGeom>
          <a:solidFill>
            <a:srgbClr val="F1F5F9"/>
          </a:solidFill>
          <a:ln w="9525">
            <a:solidFill>
              <a:srgbClr val="D5DCE5"/>
            </a:solidFill>
            <a:prstDash val="solid"/>
          </a:ln>
        </p:spPr>
      </p:sp>
      <p:sp>
        <p:nvSpPr>
          <p:cNvPr id="40" name="Text 32"/>
          <p:cNvSpPr txBox="1"/>
          <p:nvPr/>
        </p:nvSpPr>
        <p:spPr>
          <a:xfrm>
            <a:off x="6812280" y="4526280"/>
            <a:ext cx="4663440" cy="320040"/>
          </a:xfrm>
          <a:prstGeom prst="rect">
            <a:avLst/>
          </a:prstGeom>
          <a:noFill/>
          <a:ln/>
        </p:spPr>
        <p:txBody>
          <a:bodyPr wrap="square" lIns="0" tIns="0" rIns="0" bIns="0" rtlCol="0" anchor="t"/>
          <a:lstStyle/>
          <a:p>
            <a:pPr indent="0" marL="0">
              <a:buNone/>
            </a:pPr>
            <a:r>
              <a:rPr lang="en-US" sz="1300" b="1" dirty="0">
                <a:solidFill>
                  <a:srgbClr val="5B6B7F"/>
                </a:solidFill>
                <a:latin typeface="Calibri" pitchFamily="34" charset="0"/>
                <a:ea typeface="Calibri" pitchFamily="34" charset="-122"/>
                <a:cs typeface="Calibri" pitchFamily="34" charset="-120"/>
              </a:rPr>
              <a:t>Algorithm 1, in one line</a:t>
            </a:r>
            <a:endParaRPr lang="en-US" sz="1300" dirty="0"/>
          </a:p>
        </p:txBody>
      </p:sp>
      <p:sp>
        <p:nvSpPr>
          <p:cNvPr id="41" name="Text 33"/>
          <p:cNvSpPr txBox="1"/>
          <p:nvPr/>
        </p:nvSpPr>
        <p:spPr>
          <a:xfrm>
            <a:off x="6812280" y="4846320"/>
            <a:ext cx="4663440" cy="822960"/>
          </a:xfrm>
          <a:prstGeom prst="rect">
            <a:avLst/>
          </a:prstGeom>
          <a:noFill/>
          <a:ln/>
        </p:spPr>
        <p:txBody>
          <a:bodyPr wrap="square" lIns="0" tIns="0" rIns="0" bIns="0" rtlCol="0" anchor="t"/>
          <a:lstStyle/>
          <a:p>
            <a:pPr indent="0" marL="0">
              <a:buNone/>
            </a:pPr>
            <a:r>
              <a:rPr lang="en-US" sz="1200" dirty="0">
                <a:solidFill>
                  <a:srgbClr val="1B2A41"/>
                </a:solidFill>
                <a:latin typeface="Courier New" pitchFamily="34" charset="0"/>
                <a:ea typeface="Courier New" pitchFamily="34" charset="-122"/>
                <a:cs typeface="Courier New" pitchFamily="34" charset="-120"/>
              </a:rPr>
              <a:t>S ← FPS({f(s)}, K)</a:t>
            </a:r>
            <a:endParaRPr lang="en-US" sz="1200" dirty="0"/>
          </a:p>
          <a:p>
            <a:pPr indent="0" marL="0">
              <a:buNone/>
            </a:pPr>
            <a:r>
              <a:rPr lang="en-US" sz="1200" dirty="0">
                <a:solidFill>
                  <a:srgbClr val="1B2A41"/>
                </a:solidFill>
                <a:latin typeface="Courier New" pitchFamily="34" charset="0"/>
                <a:ea typeface="Courier New" pitchFamily="34" charset="-122"/>
                <a:cs typeface="Courier New" pitchFamily="34" charset="-120"/>
              </a:rPr>
              <a:t>for q in Q:  for s in sample(S, m):</a:t>
            </a:r>
            <a:endParaRPr lang="en-US" sz="1200" dirty="0"/>
          </a:p>
          <a:p>
            <a:pPr indent="0" marL="0">
              <a:buNone/>
            </a:pPr>
            <a:r>
              <a:rPr lang="en-US" sz="1200" dirty="0">
                <a:solidFill>
                  <a:srgbClr val="1B2A41"/>
                </a:solidFill>
                <a:latin typeface="Courier New" pitchFamily="34" charset="0"/>
                <a:ea typeface="Courier New" pitchFamily="34" charset="-122"/>
                <a:cs typeface="Courier New" pitchFamily="34" charset="-120"/>
              </a:rPr>
              <a:t>    ã ← Mix(TTS(q, s), n),  n ~ N</a:t>
            </a:r>
            <a:endParaRPr lang="en-US" sz="1200" dirty="0"/>
          </a:p>
        </p:txBody>
      </p:sp>
      <p:sp>
        <p:nvSpPr>
          <p:cNvPr id="42" name="Text 34"/>
          <p:cNvSpPr txBox="1"/>
          <p:nvPr/>
        </p:nvSpPr>
        <p:spPr>
          <a:xfrm>
            <a:off x="6812280" y="5715000"/>
            <a:ext cx="4663440" cy="36576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Every query is heard in several voices and acoustic conditions.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0B7F8A"/>
                </a:solidFill>
                <a:latin typeface="Calibri" pitchFamily="34" charset="0"/>
                <a:ea typeface="Calibri" pitchFamily="34" charset="-122"/>
                <a:cs typeface="Calibri" pitchFamily="34" charset="-120"/>
              </a:rPr>
              <a:t>EXPERIMENTS</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Evaluation protocol: two system families, three metrics</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10</a:t>
            </a:r>
            <a:endParaRPr lang="en-US" sz="1000" dirty="0"/>
          </a:p>
        </p:txBody>
      </p:sp>
      <p:sp>
        <p:nvSpPr>
          <p:cNvPr id="14" name="Shape 11"/>
          <p:cNvSpPr/>
          <p:nvPr/>
        </p:nvSpPr>
        <p:spPr>
          <a:xfrm>
            <a:off x="548640" y="1600200"/>
            <a:ext cx="5577840" cy="2148840"/>
          </a:xfrm>
          <a:prstGeom prst="roundRect">
            <a:avLst>
              <a:gd name="adj" fmla="val 5106"/>
            </a:avLst>
          </a:prstGeom>
          <a:solidFill>
            <a:srgbClr val="F1F5F9"/>
          </a:solidFill>
          <a:ln w="12700">
            <a:solidFill>
              <a:srgbClr val="F1F5F9"/>
            </a:solidFill>
            <a:prstDash val="solid"/>
          </a:ln>
        </p:spPr>
      </p:sp>
      <p:sp>
        <p:nvSpPr>
          <p:cNvPr id="15" name="Shape 12"/>
          <p:cNvSpPr/>
          <p:nvPr/>
        </p:nvSpPr>
        <p:spPr>
          <a:xfrm>
            <a:off x="777240" y="1828800"/>
            <a:ext cx="548640" cy="548640"/>
          </a:xfrm>
          <a:prstGeom prst="ellipse">
            <a:avLst/>
          </a:prstGeom>
          <a:solidFill>
            <a:srgbClr val="0FA3B1"/>
          </a:solidFill>
          <a:ln w="12700">
            <a:solidFill>
              <a:srgbClr val="0FA3B1"/>
            </a:solidFill>
            <a:prstDash val="solid"/>
          </a:ln>
        </p:spPr>
      </p:sp>
      <p:pic>
        <p:nvPicPr>
          <p:cNvPr id="16" name="Image 0" descr="preencoded.png">    </p:cNvPr>
          <p:cNvPicPr>
            <a:picLocks noChangeAspect="1"/>
          </p:cNvPicPr>
          <p:nvPr/>
        </p:nvPicPr>
        <p:blipFill>
          <a:blip r:embed="rId1"/>
          <a:stretch>
            <a:fillRect/>
          </a:stretch>
        </p:blipFill>
        <p:spPr>
          <a:xfrm>
            <a:off x="897941" y="1949501"/>
            <a:ext cx="307238" cy="307238"/>
          </a:xfrm>
          <a:prstGeom prst="rect">
            <a:avLst/>
          </a:prstGeom>
        </p:spPr>
      </p:pic>
      <p:sp>
        <p:nvSpPr>
          <p:cNvPr id="17" name="Text 13"/>
          <p:cNvSpPr txBox="1"/>
          <p:nvPr/>
        </p:nvSpPr>
        <p:spPr>
          <a:xfrm>
            <a:off x="1463040" y="1847088"/>
            <a:ext cx="4617720" cy="457200"/>
          </a:xfrm>
          <a:prstGeom prst="rect">
            <a:avLst/>
          </a:prstGeom>
          <a:noFill/>
          <a:ln/>
        </p:spPr>
        <p:txBody>
          <a:bodyPr wrap="square" lIns="0" tIns="0" rIns="0" bIns="0" rtlCol="0" anchor="ctr"/>
          <a:lstStyle/>
          <a:p>
            <a:pPr indent="0" marL="0">
              <a:buNone/>
            </a:pPr>
            <a:r>
              <a:rPr lang="en-US" sz="1500" b="1" dirty="0">
                <a:solidFill>
                  <a:srgbClr val="0F1B2D"/>
                </a:solidFill>
                <a:latin typeface="Calibri" pitchFamily="34" charset="0"/>
                <a:ea typeface="Calibri" pitchFamily="34" charset="-122"/>
                <a:cs typeface="Calibri" pitchFamily="34" charset="-120"/>
              </a:rPr>
              <a:t>End-to-end SpeechLMs  ·  audio → tool call</a:t>
            </a:r>
            <a:endParaRPr lang="en-US" sz="1500" dirty="0"/>
          </a:p>
        </p:txBody>
      </p:sp>
      <p:sp>
        <p:nvSpPr>
          <p:cNvPr id="18" name="Text 14"/>
          <p:cNvSpPr txBox="1"/>
          <p:nvPr/>
        </p:nvSpPr>
        <p:spPr>
          <a:xfrm>
            <a:off x="822960" y="2423160"/>
            <a:ext cx="5120640" cy="685800"/>
          </a:xfrm>
          <a:prstGeom prst="rect">
            <a:avLst/>
          </a:prstGeom>
          <a:noFill/>
          <a:ln/>
        </p:spPr>
        <p:txBody>
          <a:bodyPr wrap="square" lIns="0" tIns="0" rIns="0" bIns="0" rtlCol="0" anchor="t"/>
          <a:lstStyle/>
          <a:p>
            <a:pPr indent="0" marL="0">
              <a:lnSpc>
                <a:spcPct val="115000"/>
              </a:lnSpc>
              <a:buNone/>
            </a:pPr>
            <a:r>
              <a:rPr lang="en-US" sz="1350" dirty="0">
                <a:solidFill>
                  <a:srgbClr val="1B2A41"/>
                </a:solidFill>
                <a:latin typeface="Calibri" pitchFamily="34" charset="0"/>
                <a:ea typeface="Calibri" pitchFamily="34" charset="-122"/>
                <a:cs typeface="Calibri" pitchFamily="34" charset="-120"/>
              </a:rPr>
              <a:t>Qwen3-Omni-30B  ·  Qwen2.5-Omni-7B  ·  Kimi-Audio-7B</a:t>
            </a:r>
            <a:endParaRPr lang="en-US" sz="1350" dirty="0"/>
          </a:p>
          <a:p>
            <a:pPr indent="0" marL="0">
              <a:lnSpc>
                <a:spcPct val="115000"/>
              </a:lnSpc>
              <a:buNone/>
            </a:pPr>
            <a:r>
              <a:rPr lang="en-US" sz="1350" dirty="0">
                <a:solidFill>
                  <a:srgbClr val="1B2A41"/>
                </a:solidFill>
                <a:latin typeface="Calibri" pitchFamily="34" charset="0"/>
                <a:ea typeface="Calibri" pitchFamily="34" charset="-122"/>
                <a:cs typeface="Calibri" pitchFamily="34" charset="-120"/>
              </a:rPr>
              <a:t>Step-Audio-2-7B  ·  Audio-Flamingo-3-8B</a:t>
            </a:r>
            <a:endParaRPr lang="en-US" sz="1350" dirty="0"/>
          </a:p>
        </p:txBody>
      </p:sp>
      <p:sp>
        <p:nvSpPr>
          <p:cNvPr id="19" name="Text 15"/>
          <p:cNvSpPr txBox="1"/>
          <p:nvPr/>
        </p:nvSpPr>
        <p:spPr>
          <a:xfrm>
            <a:off x="822960" y="3154680"/>
            <a:ext cx="5120640" cy="45720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Open weights only · 7B to 30B · zero-shot with tool definitions in the prompt</a:t>
            </a:r>
            <a:endParaRPr lang="en-US" sz="1200" dirty="0"/>
          </a:p>
        </p:txBody>
      </p:sp>
      <p:sp>
        <p:nvSpPr>
          <p:cNvPr id="20" name="Shape 16"/>
          <p:cNvSpPr/>
          <p:nvPr/>
        </p:nvSpPr>
        <p:spPr>
          <a:xfrm>
            <a:off x="548640" y="3886200"/>
            <a:ext cx="5577840" cy="2240280"/>
          </a:xfrm>
          <a:prstGeom prst="roundRect">
            <a:avLst>
              <a:gd name="adj" fmla="val 4898"/>
            </a:avLst>
          </a:prstGeom>
          <a:solidFill>
            <a:srgbClr val="F1F5F9"/>
          </a:solidFill>
          <a:ln w="12700">
            <a:solidFill>
              <a:srgbClr val="F1F5F9"/>
            </a:solidFill>
            <a:prstDash val="solid"/>
          </a:ln>
        </p:spPr>
      </p:sp>
      <p:sp>
        <p:nvSpPr>
          <p:cNvPr id="21" name="Shape 17"/>
          <p:cNvSpPr/>
          <p:nvPr/>
        </p:nvSpPr>
        <p:spPr>
          <a:xfrm>
            <a:off x="777240" y="4114800"/>
            <a:ext cx="548640" cy="548640"/>
          </a:xfrm>
          <a:prstGeom prst="ellipse">
            <a:avLst/>
          </a:prstGeom>
          <a:solidFill>
            <a:srgbClr val="E4572E"/>
          </a:solidFill>
          <a:ln w="12700">
            <a:solidFill>
              <a:srgbClr val="E4572E"/>
            </a:solidFill>
            <a:prstDash val="solid"/>
          </a:ln>
        </p:spPr>
      </p:sp>
      <p:pic>
        <p:nvPicPr>
          <p:cNvPr id="22" name="Image 1" descr="preencoded.png">    </p:cNvPr>
          <p:cNvPicPr>
            <a:picLocks noChangeAspect="1"/>
          </p:cNvPicPr>
          <p:nvPr/>
        </p:nvPicPr>
        <p:blipFill>
          <a:blip r:embed="rId2"/>
          <a:stretch>
            <a:fillRect/>
          </a:stretch>
        </p:blipFill>
        <p:spPr>
          <a:xfrm>
            <a:off x="897941" y="4235501"/>
            <a:ext cx="307238" cy="307238"/>
          </a:xfrm>
          <a:prstGeom prst="rect">
            <a:avLst/>
          </a:prstGeom>
        </p:spPr>
      </p:pic>
      <p:sp>
        <p:nvSpPr>
          <p:cNvPr id="23" name="Text 18"/>
          <p:cNvSpPr txBox="1"/>
          <p:nvPr/>
        </p:nvSpPr>
        <p:spPr>
          <a:xfrm>
            <a:off x="1463040" y="4133088"/>
            <a:ext cx="4617720" cy="457200"/>
          </a:xfrm>
          <a:prstGeom prst="rect">
            <a:avLst/>
          </a:prstGeom>
          <a:noFill/>
          <a:ln/>
        </p:spPr>
        <p:txBody>
          <a:bodyPr wrap="square" lIns="0" tIns="0" rIns="0" bIns="0" rtlCol="0" anchor="ctr"/>
          <a:lstStyle/>
          <a:p>
            <a:pPr indent="0" marL="0">
              <a:buNone/>
            </a:pPr>
            <a:r>
              <a:rPr lang="en-US" sz="1500" b="1" dirty="0">
                <a:solidFill>
                  <a:srgbClr val="0F1B2D"/>
                </a:solidFill>
                <a:latin typeface="Calibri" pitchFamily="34" charset="0"/>
                <a:ea typeface="Calibri" pitchFamily="34" charset="-122"/>
                <a:cs typeface="Calibri" pitchFamily="34" charset="-120"/>
              </a:rPr>
              <a:t>Cascaded  ·  audio → Whisper-v3 → text LLM</a:t>
            </a:r>
            <a:endParaRPr lang="en-US" sz="1500" dirty="0"/>
          </a:p>
        </p:txBody>
      </p:sp>
      <p:sp>
        <p:nvSpPr>
          <p:cNvPr id="24" name="Text 19"/>
          <p:cNvSpPr txBox="1"/>
          <p:nvPr/>
        </p:nvSpPr>
        <p:spPr>
          <a:xfrm>
            <a:off x="822960" y="4681728"/>
            <a:ext cx="5120640" cy="365760"/>
          </a:xfrm>
          <a:prstGeom prst="rect">
            <a:avLst/>
          </a:prstGeom>
          <a:noFill/>
          <a:ln/>
        </p:spPr>
        <p:txBody>
          <a:bodyPr wrap="square" lIns="0" tIns="0" rIns="0" bIns="0" rtlCol="0" anchor="t"/>
          <a:lstStyle/>
          <a:p>
            <a:pPr indent="0" marL="0">
              <a:buNone/>
            </a:pPr>
            <a:r>
              <a:rPr lang="en-US" sz="1350" dirty="0">
                <a:solidFill>
                  <a:srgbClr val="1B2A41"/>
                </a:solidFill>
                <a:latin typeface="Calibri" pitchFamily="34" charset="0"/>
                <a:ea typeface="Calibri" pitchFamily="34" charset="-122"/>
                <a:cs typeface="Calibri" pitchFamily="34" charset="-120"/>
              </a:rPr>
              <a:t>Qwen3 1.7B / 4B / 8B  ·  Gemma-3 12B / 27B</a:t>
            </a:r>
            <a:endParaRPr lang="en-US" sz="1350" dirty="0"/>
          </a:p>
        </p:txBody>
      </p:sp>
      <p:sp>
        <p:nvSpPr>
          <p:cNvPr id="25" name="Text 20"/>
          <p:cNvSpPr txBox="1"/>
          <p:nvPr/>
        </p:nvSpPr>
        <p:spPr>
          <a:xfrm>
            <a:off x="822960" y="5074920"/>
            <a:ext cx="5120640" cy="457200"/>
          </a:xfrm>
          <a:prstGeom prst="rect">
            <a:avLst/>
          </a:prstGeom>
          <a:noFill/>
          <a:ln/>
        </p:spPr>
        <p:txBody>
          <a:bodyPr wrap="square" lIns="0" tIns="0" rIns="0" bIns="0" rtlCol="0" anchor="t"/>
          <a:lstStyle/>
          <a:p>
            <a:pPr indent="0" marL="0">
              <a:buNone/>
            </a:pPr>
            <a:r>
              <a:rPr lang="en-US" sz="1350" b="1" dirty="0">
                <a:solidFill>
                  <a:srgbClr val="B83F1D"/>
                </a:solidFill>
                <a:latin typeface="Calibri" pitchFamily="34" charset="0"/>
                <a:ea typeface="Calibri" pitchFamily="34" charset="-122"/>
                <a:cs typeface="Calibri" pitchFamily="34" charset="-120"/>
              </a:rPr>
              <a:t>+ Oracle transcript: </a:t>
            </a:r>
            <a:pPr indent="0" marL="0">
              <a:buNone/>
            </a:pPr>
            <a:r>
              <a:rPr lang="en-US" sz="1350" dirty="0">
                <a:solidFill>
                  <a:srgbClr val="1B2A41"/>
                </a:solidFill>
                <a:latin typeface="Calibri" pitchFamily="34" charset="0"/>
                <a:ea typeface="Calibri" pitchFamily="34" charset="-122"/>
                <a:cs typeface="Calibri" pitchFamily="34" charset="-120"/>
              </a:rPr>
              <a:t>gold text → same LLMs. Upper bound that isolates ASR damage.</a:t>
            </a:r>
            <a:endParaRPr lang="en-US" sz="1350" dirty="0"/>
          </a:p>
        </p:txBody>
      </p:sp>
      <p:sp>
        <p:nvSpPr>
          <p:cNvPr id="26" name="Text 21"/>
          <p:cNvSpPr txBox="1"/>
          <p:nvPr/>
        </p:nvSpPr>
        <p:spPr>
          <a:xfrm>
            <a:off x="822960" y="5623560"/>
            <a:ext cx="5120640" cy="45720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Tier 8 (intent blending) is audio-only and is not scored for text/oracle systems.</a:t>
            </a:r>
            <a:endParaRPr lang="en-US" sz="1200" dirty="0"/>
          </a:p>
        </p:txBody>
      </p:sp>
      <p:sp>
        <p:nvSpPr>
          <p:cNvPr id="27" name="Shape 22"/>
          <p:cNvSpPr/>
          <p:nvPr/>
        </p:nvSpPr>
        <p:spPr>
          <a:xfrm>
            <a:off x="6355080" y="1600200"/>
            <a:ext cx="5285232" cy="4526280"/>
          </a:xfrm>
          <a:prstGeom prst="roundRect">
            <a:avLst>
              <a:gd name="adj" fmla="val 2424"/>
            </a:avLst>
          </a:prstGeom>
          <a:solidFill>
            <a:srgbClr val="FFFFFF"/>
          </a:solidFill>
          <a:ln w="9525">
            <a:solidFill>
              <a:srgbClr val="D5DCE5"/>
            </a:solidFill>
            <a:prstDash val="solid"/>
          </a:ln>
          <a:effectLst>
            <a:outerShdw sx="100000" sy="100000" kx="0" ky="0" algn="bl" rotWithShape="0" blurRad="63500" dist="19050" dir="5400000">
              <a:srgbClr val="000000">
                <a:alpha val="12000"/>
              </a:srgbClr>
            </a:outerShdw>
          </a:effectLst>
        </p:spPr>
      </p:sp>
      <p:sp>
        <p:nvSpPr>
          <p:cNvPr id="28" name="Text 23"/>
          <p:cNvSpPr txBox="1"/>
          <p:nvPr/>
        </p:nvSpPr>
        <p:spPr>
          <a:xfrm>
            <a:off x="6583680" y="1737360"/>
            <a:ext cx="4846320" cy="365760"/>
          </a:xfrm>
          <a:prstGeom prst="rect">
            <a:avLst/>
          </a:prstGeom>
          <a:noFill/>
          <a:ln/>
        </p:spPr>
        <p:txBody>
          <a:bodyPr wrap="square" lIns="0" tIns="0" rIns="0" bIns="0" rtlCol="0" anchor="t"/>
          <a:lstStyle/>
          <a:p>
            <a:pPr indent="0" marL="0">
              <a:buNone/>
            </a:pPr>
            <a:r>
              <a:rPr lang="en-US" sz="1600" b="1" dirty="0">
                <a:solidFill>
                  <a:srgbClr val="0F1B2D"/>
                </a:solidFill>
                <a:latin typeface="Calibri" pitchFamily="34" charset="0"/>
                <a:ea typeface="Calibri" pitchFamily="34" charset="-122"/>
                <a:cs typeface="Calibri" pitchFamily="34" charset="-120"/>
              </a:rPr>
              <a:t>Three metrics, one worked example</a:t>
            </a:r>
            <a:endParaRPr lang="en-US" sz="1600" dirty="0"/>
          </a:p>
        </p:txBody>
      </p:sp>
      <p:sp>
        <p:nvSpPr>
          <p:cNvPr id="29" name="Shape 24"/>
          <p:cNvSpPr/>
          <p:nvPr/>
        </p:nvSpPr>
        <p:spPr>
          <a:xfrm>
            <a:off x="6583680" y="2194560"/>
            <a:ext cx="4828032" cy="1097280"/>
          </a:xfrm>
          <a:prstGeom prst="rect">
            <a:avLst/>
          </a:prstGeom>
          <a:solidFill>
            <a:srgbClr val="0F1B2D"/>
          </a:solidFill>
          <a:ln w="12700">
            <a:solidFill>
              <a:srgbClr val="0F1B2D"/>
            </a:solidFill>
            <a:prstDash val="solid"/>
          </a:ln>
        </p:spPr>
      </p:sp>
      <p:sp>
        <p:nvSpPr>
          <p:cNvPr id="30" name="Text 25"/>
          <p:cNvSpPr txBox="1"/>
          <p:nvPr/>
        </p:nvSpPr>
        <p:spPr>
          <a:xfrm>
            <a:off x="6693408" y="2194560"/>
            <a:ext cx="4663440" cy="1097280"/>
          </a:xfrm>
          <a:prstGeom prst="rect">
            <a:avLst/>
          </a:prstGeom>
          <a:noFill/>
          <a:ln/>
        </p:spPr>
        <p:txBody>
          <a:bodyPr wrap="square" lIns="0" tIns="0" rIns="0" bIns="0" rtlCol="0" anchor="ctr"/>
          <a:lstStyle/>
          <a:p>
            <a:pPr indent="0" marL="0">
              <a:lnSpc>
                <a:spcPct val="150000"/>
              </a:lnSpc>
              <a:buNone/>
            </a:pPr>
            <a:r>
              <a:rPr lang="en-US" sz="1050" dirty="0">
                <a:solidFill>
                  <a:srgbClr val="8A97A8"/>
                </a:solidFill>
                <a:latin typeface="Courier New" pitchFamily="34" charset="0"/>
                <a:ea typeface="Courier New" pitchFamily="34" charset="-122"/>
                <a:cs typeface="Courier New" pitchFamily="34" charset="-120"/>
              </a:rPr>
              <a:t>gold  </a:t>
            </a:r>
            <a:pPr indent="0" marL="0">
              <a:lnSpc>
                <a:spcPct val="150000"/>
              </a:lnSpc>
              <a:buNone/>
            </a:pPr>
            <a:r>
              <a:rPr lang="en-US" sz="1050" dirty="0">
                <a:solidFill>
                  <a:srgbClr val="0FA3B1"/>
                </a:solidFill>
                <a:latin typeface="Courier New" pitchFamily="34" charset="0"/>
                <a:ea typeface="Courier New" pitchFamily="34" charset="-122"/>
                <a:cs typeface="Courier New" pitchFamily="34" charset="-120"/>
              </a:rPr>
              <a:t>setZoneTemperature(zone="Driver", temperature=72)</a:t>
            </a:r>
            <a:endParaRPr lang="en-US" sz="1050" dirty="0"/>
          </a:p>
          <a:p>
            <a:pPr indent="0" marL="0">
              <a:lnSpc>
                <a:spcPct val="150000"/>
              </a:lnSpc>
              <a:buNone/>
            </a:pPr>
            <a:r>
              <a:rPr lang="en-US" sz="1050" dirty="0">
                <a:solidFill>
                  <a:srgbClr val="8A97A8"/>
                </a:solidFill>
                <a:latin typeface="Courier New" pitchFamily="34" charset="0"/>
                <a:ea typeface="Courier New" pitchFamily="34" charset="-122"/>
                <a:cs typeface="Courier New" pitchFamily="34" charset="-120"/>
              </a:rPr>
              <a:t>pred  </a:t>
            </a:r>
            <a:pPr indent="0" marL="0">
              <a:lnSpc>
                <a:spcPct val="150000"/>
              </a:lnSpc>
              <a:buNone/>
            </a:pPr>
            <a:r>
              <a:rPr lang="en-US" sz="1050" dirty="0">
                <a:solidFill>
                  <a:srgbClr val="FFFFFF"/>
                </a:solidFill>
                <a:latin typeface="Courier New" pitchFamily="34" charset="0"/>
                <a:ea typeface="Courier New" pitchFamily="34" charset="-122"/>
                <a:cs typeface="Courier New" pitchFamily="34" charset="-120"/>
              </a:rPr>
              <a:t>setZoneTemperature(zone="Driver", temperature=</a:t>
            </a:r>
            <a:pPr indent="0" marL="0">
              <a:lnSpc>
                <a:spcPct val="150000"/>
              </a:lnSpc>
              <a:buNone/>
            </a:pPr>
            <a:r>
              <a:rPr lang="en-US" sz="1050" b="1" dirty="0">
                <a:solidFill>
                  <a:srgbClr val="E4572E"/>
                </a:solidFill>
                <a:latin typeface="Courier New" pitchFamily="34" charset="0"/>
                <a:ea typeface="Courier New" pitchFamily="34" charset="-122"/>
                <a:cs typeface="Courier New" pitchFamily="34" charset="-120"/>
              </a:rPr>
              <a:t>27</a:t>
            </a:r>
            <a:pPr indent="0" marL="0">
              <a:lnSpc>
                <a:spcPct val="150000"/>
              </a:lnSpc>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p:txBody>
      </p:sp>
      <p:sp>
        <p:nvSpPr>
          <p:cNvPr id="31" name="Shape 26"/>
          <p:cNvSpPr/>
          <p:nvPr/>
        </p:nvSpPr>
        <p:spPr>
          <a:xfrm>
            <a:off x="6583680" y="3474720"/>
            <a:ext cx="4828032" cy="749808"/>
          </a:xfrm>
          <a:prstGeom prst="roundRect">
            <a:avLst>
              <a:gd name="adj" fmla="val 14634"/>
            </a:avLst>
          </a:prstGeom>
          <a:solidFill>
            <a:srgbClr val="F1F5F9"/>
          </a:solidFill>
          <a:ln w="12700">
            <a:solidFill>
              <a:srgbClr val="F1F5F9"/>
            </a:solidFill>
            <a:prstDash val="solid"/>
          </a:ln>
        </p:spPr>
      </p:sp>
      <p:sp>
        <p:nvSpPr>
          <p:cNvPr id="32" name="Shape 27"/>
          <p:cNvSpPr/>
          <p:nvPr/>
        </p:nvSpPr>
        <p:spPr>
          <a:xfrm>
            <a:off x="6720840" y="3593592"/>
            <a:ext cx="512064" cy="512064"/>
          </a:xfrm>
          <a:prstGeom prst="ellipse">
            <a:avLst/>
          </a:prstGeom>
          <a:solidFill>
            <a:srgbClr val="0FA3B1"/>
          </a:solidFill>
          <a:ln w="12700">
            <a:solidFill>
              <a:srgbClr val="0FA3B1"/>
            </a:solidFill>
            <a:prstDash val="solid"/>
          </a:ln>
        </p:spPr>
      </p:sp>
      <p:sp>
        <p:nvSpPr>
          <p:cNvPr id="33" name="Text 28"/>
          <p:cNvSpPr txBox="1"/>
          <p:nvPr/>
        </p:nvSpPr>
        <p:spPr>
          <a:xfrm>
            <a:off x="6720840" y="35935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4" name="Text 29"/>
          <p:cNvSpPr txBox="1"/>
          <p:nvPr/>
        </p:nvSpPr>
        <p:spPr>
          <a:xfrm>
            <a:off x="7360920" y="3547872"/>
            <a:ext cx="3931920" cy="320040"/>
          </a:xfrm>
          <a:prstGeom prst="rect">
            <a:avLst/>
          </a:prstGeom>
          <a:noFill/>
          <a:ln/>
        </p:spPr>
        <p:txBody>
          <a:bodyPr wrap="square" lIns="0" tIns="0" rIns="0" bIns="0" rtlCol="0" anchor="t"/>
          <a:lstStyle/>
          <a:p>
            <a:pPr indent="0" marL="0">
              <a:buNone/>
            </a:pPr>
            <a:r>
              <a:rPr lang="en-US" sz="1450" b="1" dirty="0">
                <a:solidFill>
                  <a:srgbClr val="0F1B2D"/>
                </a:solidFill>
                <a:latin typeface="Calibri" pitchFamily="34" charset="0"/>
                <a:ea typeface="Calibri" pitchFamily="34" charset="-122"/>
                <a:cs typeface="Calibri" pitchFamily="34" charset="-120"/>
              </a:rPr>
              <a:t>Tool Accuracy</a:t>
            </a:r>
            <a:endParaRPr lang="en-US" sz="1450" dirty="0"/>
          </a:p>
        </p:txBody>
      </p:sp>
      <p:sp>
        <p:nvSpPr>
          <p:cNvPr id="35" name="Text 30"/>
          <p:cNvSpPr txBox="1"/>
          <p:nvPr/>
        </p:nvSpPr>
        <p:spPr>
          <a:xfrm>
            <a:off x="7360920" y="3858768"/>
            <a:ext cx="3931920" cy="32004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Right tool name(s), in the right order</a:t>
            </a:r>
            <a:endParaRPr lang="en-US" sz="1200" dirty="0"/>
          </a:p>
        </p:txBody>
      </p:sp>
      <p:sp>
        <p:nvSpPr>
          <p:cNvPr id="36" name="Shape 31"/>
          <p:cNvSpPr/>
          <p:nvPr/>
        </p:nvSpPr>
        <p:spPr>
          <a:xfrm>
            <a:off x="6583680" y="4325112"/>
            <a:ext cx="4828032" cy="749808"/>
          </a:xfrm>
          <a:prstGeom prst="roundRect">
            <a:avLst>
              <a:gd name="adj" fmla="val 14634"/>
            </a:avLst>
          </a:prstGeom>
          <a:solidFill>
            <a:srgbClr val="F1F5F9"/>
          </a:solidFill>
          <a:ln w="12700">
            <a:solidFill>
              <a:srgbClr val="F1F5F9"/>
            </a:solidFill>
            <a:prstDash val="solid"/>
          </a:ln>
        </p:spPr>
      </p:sp>
      <p:sp>
        <p:nvSpPr>
          <p:cNvPr id="37" name="Shape 32"/>
          <p:cNvSpPr/>
          <p:nvPr/>
        </p:nvSpPr>
        <p:spPr>
          <a:xfrm>
            <a:off x="6720840" y="4443984"/>
            <a:ext cx="512064" cy="512064"/>
          </a:xfrm>
          <a:prstGeom prst="ellipse">
            <a:avLst/>
          </a:prstGeom>
          <a:solidFill>
            <a:srgbClr val="E4572E"/>
          </a:solidFill>
          <a:ln w="12700">
            <a:solidFill>
              <a:srgbClr val="E4572E"/>
            </a:solidFill>
            <a:prstDash val="solid"/>
          </a:ln>
        </p:spPr>
      </p:sp>
      <p:sp>
        <p:nvSpPr>
          <p:cNvPr id="38" name="Text 33"/>
          <p:cNvSpPr txBox="1"/>
          <p:nvPr/>
        </p:nvSpPr>
        <p:spPr>
          <a:xfrm>
            <a:off x="6720840" y="444398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a:t>
            </a:r>
            <a:endParaRPr lang="en-US" sz="1500" dirty="0"/>
          </a:p>
        </p:txBody>
      </p:sp>
      <p:sp>
        <p:nvSpPr>
          <p:cNvPr id="39" name="Text 34"/>
          <p:cNvSpPr txBox="1"/>
          <p:nvPr/>
        </p:nvSpPr>
        <p:spPr>
          <a:xfrm>
            <a:off x="7360920" y="4398264"/>
            <a:ext cx="3931920" cy="320040"/>
          </a:xfrm>
          <a:prstGeom prst="rect">
            <a:avLst/>
          </a:prstGeom>
          <a:noFill/>
          <a:ln/>
        </p:spPr>
        <p:txBody>
          <a:bodyPr wrap="square" lIns="0" tIns="0" rIns="0" bIns="0" rtlCol="0" anchor="t"/>
          <a:lstStyle/>
          <a:p>
            <a:pPr indent="0" marL="0">
              <a:buNone/>
            </a:pPr>
            <a:r>
              <a:rPr lang="en-US" sz="1450" b="1" dirty="0">
                <a:solidFill>
                  <a:srgbClr val="0F1B2D"/>
                </a:solidFill>
                <a:latin typeface="Calibri" pitchFamily="34" charset="0"/>
                <a:ea typeface="Calibri" pitchFamily="34" charset="-122"/>
                <a:cs typeface="Calibri" pitchFamily="34" charset="-120"/>
              </a:rPr>
              <a:t>Exact Match</a:t>
            </a:r>
            <a:endParaRPr lang="en-US" sz="1450" dirty="0"/>
          </a:p>
        </p:txBody>
      </p:sp>
      <p:sp>
        <p:nvSpPr>
          <p:cNvPr id="40" name="Text 35"/>
          <p:cNvSpPr txBox="1"/>
          <p:nvPr/>
        </p:nvSpPr>
        <p:spPr>
          <a:xfrm>
            <a:off x="7360920" y="4709160"/>
            <a:ext cx="3931920" cy="32004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Whole call identical after normalisation</a:t>
            </a:r>
            <a:endParaRPr lang="en-US" sz="1200" dirty="0"/>
          </a:p>
        </p:txBody>
      </p:sp>
      <p:sp>
        <p:nvSpPr>
          <p:cNvPr id="41" name="Shape 36"/>
          <p:cNvSpPr/>
          <p:nvPr/>
        </p:nvSpPr>
        <p:spPr>
          <a:xfrm>
            <a:off x="6583680" y="5175504"/>
            <a:ext cx="4828032" cy="749808"/>
          </a:xfrm>
          <a:prstGeom prst="roundRect">
            <a:avLst>
              <a:gd name="adj" fmla="val 14634"/>
            </a:avLst>
          </a:prstGeom>
          <a:solidFill>
            <a:srgbClr val="F1F5F9"/>
          </a:solidFill>
          <a:ln w="12700">
            <a:solidFill>
              <a:srgbClr val="F1F5F9"/>
            </a:solidFill>
            <a:prstDash val="solid"/>
          </a:ln>
        </p:spPr>
      </p:sp>
      <p:sp>
        <p:nvSpPr>
          <p:cNvPr id="42" name="Shape 37"/>
          <p:cNvSpPr/>
          <p:nvPr/>
        </p:nvSpPr>
        <p:spPr>
          <a:xfrm>
            <a:off x="6720840" y="5294376"/>
            <a:ext cx="512064" cy="512064"/>
          </a:xfrm>
          <a:prstGeom prst="ellipse">
            <a:avLst/>
          </a:prstGeom>
          <a:solidFill>
            <a:srgbClr val="F2A93B"/>
          </a:solidFill>
          <a:ln w="12700">
            <a:solidFill>
              <a:srgbClr val="F2A93B"/>
            </a:solidFill>
            <a:prstDash val="solid"/>
          </a:ln>
        </p:spPr>
      </p:sp>
      <p:sp>
        <p:nvSpPr>
          <p:cNvPr id="43" name="Text 38"/>
          <p:cNvSpPr txBox="1"/>
          <p:nvPr/>
        </p:nvSpPr>
        <p:spPr>
          <a:xfrm>
            <a:off x="6720840" y="529437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44" name="Text 39"/>
          <p:cNvSpPr txBox="1"/>
          <p:nvPr/>
        </p:nvSpPr>
        <p:spPr>
          <a:xfrm>
            <a:off x="7360920" y="5248656"/>
            <a:ext cx="3931920" cy="320040"/>
          </a:xfrm>
          <a:prstGeom prst="rect">
            <a:avLst/>
          </a:prstGeom>
          <a:noFill/>
          <a:ln/>
        </p:spPr>
        <p:txBody>
          <a:bodyPr wrap="square" lIns="0" tIns="0" rIns="0" bIns="0" rtlCol="0" anchor="t"/>
          <a:lstStyle/>
          <a:p>
            <a:pPr indent="0" marL="0">
              <a:buNone/>
            </a:pPr>
            <a:r>
              <a:rPr lang="en-US" sz="1450" b="1" dirty="0">
                <a:solidFill>
                  <a:srgbClr val="0F1B2D"/>
                </a:solidFill>
                <a:latin typeface="Calibri" pitchFamily="34" charset="0"/>
                <a:ea typeface="Calibri" pitchFamily="34" charset="-122"/>
                <a:cs typeface="Calibri" pitchFamily="34" charset="-120"/>
              </a:rPr>
              <a:t>Parameter F1</a:t>
            </a:r>
            <a:endParaRPr lang="en-US" sz="1450" dirty="0"/>
          </a:p>
        </p:txBody>
      </p:sp>
      <p:sp>
        <p:nvSpPr>
          <p:cNvPr id="45" name="Text 40"/>
          <p:cNvSpPr txBox="1"/>
          <p:nvPr/>
        </p:nvSpPr>
        <p:spPr>
          <a:xfrm>
            <a:off x="7360920" y="5559552"/>
            <a:ext cx="3931920" cy="32004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Micro-averaged over arguments (1 of 2 correct)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B83F1D"/>
                </a:solidFill>
                <a:latin typeface="Calibri" pitchFamily="34" charset="0"/>
                <a:ea typeface="Calibri" pitchFamily="34" charset="-122"/>
                <a:cs typeface="Calibri" pitchFamily="34" charset="-120"/>
              </a:rPr>
              <a:t>RESULTS · FINDING 1</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Tool accuracy collapses when the query needs composition or inference</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11</a:t>
            </a:r>
            <a:endParaRPr lang="en-US" sz="1000" dirty="0"/>
          </a:p>
        </p:txBody>
      </p:sp>
      <p:graphicFrame>
        <p:nvGraphicFramePr>
          <p:cNvPr id="14" name="Chart 0" descr=""/>
          <p:cNvGraphicFramePr/>
          <p:nvPr/>
        </p:nvGraphicFramePr>
        <p:xfrm>
          <a:off x="457200" y="1554480"/>
          <a:ext cx="7589520" cy="4617720"/>
        </p:xfrm>
        <a:graphic xmlns:a="http://schemas.openxmlformats.org/drawingml/2006/main">
          <a:graphicData uri="http://schemas.openxmlformats.org/drawingml/2006/chart">
            <c:chart xmlns:c="http://schemas.openxmlformats.org/drawingml/2006/chart" r:id="rId1"/>
          </a:graphicData>
        </a:graphic>
      </p:graphicFrame>
      <p:sp>
        <p:nvSpPr>
          <p:cNvPr id="15" name="Shape 11"/>
          <p:cNvSpPr/>
          <p:nvPr/>
        </p:nvSpPr>
        <p:spPr>
          <a:xfrm>
            <a:off x="8275320" y="1691640"/>
            <a:ext cx="3364992" cy="1234440"/>
          </a:xfrm>
          <a:prstGeom prst="roundRect">
            <a:avLst>
              <a:gd name="adj" fmla="val 8889"/>
            </a:avLst>
          </a:prstGeom>
          <a:solidFill>
            <a:srgbClr val="F1F5F9"/>
          </a:solidFill>
          <a:ln w="12700">
            <a:solidFill>
              <a:srgbClr val="F1F5F9"/>
            </a:solidFill>
            <a:prstDash val="solid"/>
          </a:ln>
        </p:spPr>
      </p:sp>
      <p:sp>
        <p:nvSpPr>
          <p:cNvPr id="16" name="Text 12"/>
          <p:cNvSpPr txBox="1"/>
          <p:nvPr/>
        </p:nvSpPr>
        <p:spPr>
          <a:xfrm>
            <a:off x="8458200" y="1801368"/>
            <a:ext cx="3017520" cy="548640"/>
          </a:xfrm>
          <a:prstGeom prst="rect">
            <a:avLst/>
          </a:prstGeom>
          <a:noFill/>
          <a:ln/>
        </p:spPr>
        <p:txBody>
          <a:bodyPr wrap="square" lIns="0" tIns="0" rIns="0" bIns="0" rtlCol="0" anchor="t"/>
          <a:lstStyle/>
          <a:p>
            <a:pPr indent="0" marL="0">
              <a:buNone/>
            </a:pPr>
            <a:r>
              <a:rPr lang="en-US" sz="2600" b="1" dirty="0">
                <a:solidFill>
                  <a:srgbClr val="E4572E"/>
                </a:solidFill>
                <a:latin typeface="Calibri" pitchFamily="34" charset="0"/>
                <a:ea typeface="Calibri" pitchFamily="34" charset="-122"/>
                <a:cs typeface="Calibri" pitchFamily="34" charset="-120"/>
              </a:rPr>
              <a:t>92% → 33%</a:t>
            </a:r>
            <a:endParaRPr lang="en-US" sz="2600" dirty="0"/>
          </a:p>
        </p:txBody>
      </p:sp>
      <p:sp>
        <p:nvSpPr>
          <p:cNvPr id="17" name="Text 13"/>
          <p:cNvSpPr txBox="1"/>
          <p:nvPr/>
        </p:nvSpPr>
        <p:spPr>
          <a:xfrm>
            <a:off x="8458200" y="2350008"/>
            <a:ext cx="3017520" cy="548640"/>
          </a:xfrm>
          <a:prstGeom prst="rect">
            <a:avLst/>
          </a:prstGeom>
          <a:noFill/>
          <a:ln/>
        </p:spPr>
        <p:txBody>
          <a:bodyPr wrap="square" lIns="0" tIns="0" rIns="0" bIns="0" rtlCol="0" anchor="t"/>
          <a:lstStyle/>
          <a:p>
            <a:pPr indent="0" marL="0">
              <a:buNone/>
            </a:pPr>
            <a:r>
              <a:rPr lang="en-US" sz="1250" dirty="0">
                <a:solidFill>
                  <a:srgbClr val="1B2A41"/>
                </a:solidFill>
                <a:latin typeface="Calibri" pitchFamily="34" charset="0"/>
                <a:ea typeface="Calibri" pitchFamily="34" charset="-122"/>
                <a:cs typeface="Calibri" pitchFamily="34" charset="-120"/>
              </a:rPr>
              <a:t>best model, direct command (T1) → implicit intent (T4)</a:t>
            </a:r>
            <a:endParaRPr lang="en-US" sz="1250" dirty="0"/>
          </a:p>
        </p:txBody>
      </p:sp>
      <p:sp>
        <p:nvSpPr>
          <p:cNvPr id="18" name="Shape 14"/>
          <p:cNvSpPr/>
          <p:nvPr/>
        </p:nvSpPr>
        <p:spPr>
          <a:xfrm>
            <a:off x="8275320" y="3063240"/>
            <a:ext cx="3364992" cy="1234440"/>
          </a:xfrm>
          <a:prstGeom prst="roundRect">
            <a:avLst>
              <a:gd name="adj" fmla="val 8889"/>
            </a:avLst>
          </a:prstGeom>
          <a:solidFill>
            <a:srgbClr val="F1F5F9"/>
          </a:solidFill>
          <a:ln w="12700">
            <a:solidFill>
              <a:srgbClr val="F1F5F9"/>
            </a:solidFill>
            <a:prstDash val="solid"/>
          </a:ln>
        </p:spPr>
      </p:sp>
      <p:sp>
        <p:nvSpPr>
          <p:cNvPr id="19" name="Text 15"/>
          <p:cNvSpPr txBox="1"/>
          <p:nvPr/>
        </p:nvSpPr>
        <p:spPr>
          <a:xfrm>
            <a:off x="8458200" y="3172968"/>
            <a:ext cx="3017520" cy="548640"/>
          </a:xfrm>
          <a:prstGeom prst="rect">
            <a:avLst/>
          </a:prstGeom>
          <a:noFill/>
          <a:ln/>
        </p:spPr>
        <p:txBody>
          <a:bodyPr wrap="square" lIns="0" tIns="0" rIns="0" bIns="0" rtlCol="0" anchor="t"/>
          <a:lstStyle/>
          <a:p>
            <a:pPr indent="0" marL="0">
              <a:buNone/>
            </a:pPr>
            <a:r>
              <a:rPr lang="en-US" sz="2600" b="1" dirty="0">
                <a:solidFill>
                  <a:srgbClr val="0FA3B1"/>
                </a:solidFill>
                <a:latin typeface="Calibri" pitchFamily="34" charset="0"/>
                <a:ea typeface="Calibri" pitchFamily="34" charset="-122"/>
                <a:cs typeface="Calibri" pitchFamily="34" charset="-120"/>
              </a:rPr>
              <a:t>T5 ≈ 91%</a:t>
            </a:r>
            <a:endParaRPr lang="en-US" sz="2600" dirty="0"/>
          </a:p>
        </p:txBody>
      </p:sp>
      <p:sp>
        <p:nvSpPr>
          <p:cNvPr id="20" name="Text 16"/>
          <p:cNvSpPr txBox="1"/>
          <p:nvPr/>
        </p:nvSpPr>
        <p:spPr>
          <a:xfrm>
            <a:off x="8458200" y="3721608"/>
            <a:ext cx="3017520" cy="548640"/>
          </a:xfrm>
          <a:prstGeom prst="rect">
            <a:avLst/>
          </a:prstGeom>
          <a:noFill/>
          <a:ln/>
        </p:spPr>
        <p:txBody>
          <a:bodyPr wrap="square" lIns="0" tIns="0" rIns="0" bIns="0" rtlCol="0" anchor="t"/>
          <a:lstStyle/>
          <a:p>
            <a:pPr indent="0" marL="0">
              <a:buNone/>
            </a:pPr>
            <a:r>
              <a:rPr lang="en-US" sz="1250" dirty="0">
                <a:solidFill>
                  <a:srgbClr val="1B2A41"/>
                </a:solidFill>
                <a:latin typeface="Calibri" pitchFamily="34" charset="0"/>
                <a:ea typeface="Calibri" pitchFamily="34" charset="-122"/>
                <a:cs typeface="Calibri" pitchFamily="34" charset="-120"/>
              </a:rPr>
              <a:t>long, rambling input alone is not the problem</a:t>
            </a:r>
            <a:endParaRPr lang="en-US" sz="1250" dirty="0"/>
          </a:p>
        </p:txBody>
      </p:sp>
      <p:sp>
        <p:nvSpPr>
          <p:cNvPr id="21" name="Shape 17"/>
          <p:cNvSpPr/>
          <p:nvPr/>
        </p:nvSpPr>
        <p:spPr>
          <a:xfrm>
            <a:off x="8275320" y="4434840"/>
            <a:ext cx="3364992" cy="1234440"/>
          </a:xfrm>
          <a:prstGeom prst="roundRect">
            <a:avLst>
              <a:gd name="adj" fmla="val 8889"/>
            </a:avLst>
          </a:prstGeom>
          <a:solidFill>
            <a:srgbClr val="F1F5F9"/>
          </a:solidFill>
          <a:ln w="12700">
            <a:solidFill>
              <a:srgbClr val="F1F5F9"/>
            </a:solidFill>
            <a:prstDash val="solid"/>
          </a:ln>
        </p:spPr>
      </p:sp>
      <p:sp>
        <p:nvSpPr>
          <p:cNvPr id="22" name="Text 18"/>
          <p:cNvSpPr txBox="1"/>
          <p:nvPr/>
        </p:nvSpPr>
        <p:spPr>
          <a:xfrm>
            <a:off x="8458200" y="4544568"/>
            <a:ext cx="3017520" cy="548640"/>
          </a:xfrm>
          <a:prstGeom prst="rect">
            <a:avLst/>
          </a:prstGeom>
          <a:noFill/>
          <a:ln/>
        </p:spPr>
        <p:txBody>
          <a:bodyPr wrap="square" lIns="0" tIns="0" rIns="0" bIns="0" rtlCol="0" anchor="t"/>
          <a:lstStyle/>
          <a:p>
            <a:pPr indent="0" marL="0">
              <a:buNone/>
            </a:pPr>
            <a:r>
              <a:rPr lang="en-US" sz="2600" b="1" dirty="0">
                <a:solidFill>
                  <a:srgbClr val="E4572E"/>
                </a:solidFill>
                <a:latin typeface="Calibri" pitchFamily="34" charset="0"/>
                <a:ea typeface="Calibri" pitchFamily="34" charset="-122"/>
                <a:cs typeface="Calibri" pitchFamily="34" charset="-120"/>
              </a:rPr>
              <a:t>≤ 56%</a:t>
            </a:r>
            <a:endParaRPr lang="en-US" sz="2600" dirty="0"/>
          </a:p>
        </p:txBody>
      </p:sp>
      <p:sp>
        <p:nvSpPr>
          <p:cNvPr id="23" name="Text 19"/>
          <p:cNvSpPr txBox="1"/>
          <p:nvPr/>
        </p:nvSpPr>
        <p:spPr>
          <a:xfrm>
            <a:off x="8458200" y="5093208"/>
            <a:ext cx="3017520" cy="548640"/>
          </a:xfrm>
          <a:prstGeom prst="rect">
            <a:avLst/>
          </a:prstGeom>
          <a:noFill/>
          <a:ln/>
        </p:spPr>
        <p:txBody>
          <a:bodyPr wrap="square" lIns="0" tIns="0" rIns="0" bIns="0" rtlCol="0" anchor="t"/>
          <a:lstStyle/>
          <a:p>
            <a:pPr indent="0" marL="0">
              <a:buNone/>
            </a:pPr>
            <a:r>
              <a:rPr lang="en-US" sz="1250" dirty="0">
                <a:solidFill>
                  <a:srgbClr val="1B2A41"/>
                </a:solidFill>
                <a:latin typeface="Calibri" pitchFamily="34" charset="0"/>
                <a:ea typeface="Calibri" pitchFamily="34" charset="-122"/>
                <a:cs typeface="Calibri" pitchFamily="34" charset="-120"/>
              </a:rPr>
              <a:t>everyone, on conversation (T7) and intent blending (T8)</a:t>
            </a:r>
            <a:endParaRPr lang="en-US" sz="1250" dirty="0"/>
          </a:p>
        </p:txBody>
      </p:sp>
      <p:sp>
        <p:nvSpPr>
          <p:cNvPr id="24" name="Text 20"/>
          <p:cNvSpPr txBox="1"/>
          <p:nvPr/>
        </p:nvSpPr>
        <p:spPr>
          <a:xfrm>
            <a:off x="8275320" y="5897880"/>
            <a:ext cx="3364992" cy="320040"/>
          </a:xfrm>
          <a:prstGeom prst="rect">
            <a:avLst/>
          </a:prstGeom>
          <a:noFill/>
          <a:ln/>
        </p:spPr>
        <p:txBody>
          <a:bodyPr wrap="square" lIns="0" tIns="0" rIns="0" bIns="0" rtlCol="0" anchor="t"/>
          <a:lstStyle/>
          <a:p>
            <a:pPr indent="0" marL="0">
              <a:buNone/>
            </a:pPr>
            <a:r>
              <a:rPr lang="en-US" sz="1300" i="1" dirty="0">
                <a:solidFill>
                  <a:srgbClr val="5B6B7F"/>
                </a:solidFill>
                <a:latin typeface="Calibri" pitchFamily="34" charset="0"/>
                <a:ea typeface="Calibri" pitchFamily="34" charset="-122"/>
                <a:cs typeface="Calibri" pitchFamily="34" charset="-120"/>
              </a:rPr>
              <a:t>Length is cheap; reasoning is expensive.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B83F1D"/>
                </a:solidFill>
                <a:latin typeface="Calibri" pitchFamily="34" charset="0"/>
                <a:ea typeface="Calibri" pitchFamily="34" charset="-122"/>
                <a:cs typeface="Calibri" pitchFamily="34" charset="-120"/>
              </a:rPr>
              <a:t>RESULTS · FINDING 2</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Right tool, wrong arguments: exact match ≤ 16% even on plain parametric commands</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12</a:t>
            </a:r>
            <a:endParaRPr lang="en-US" sz="1000" dirty="0"/>
          </a:p>
        </p:txBody>
      </p:sp>
      <p:graphicFrame>
        <p:nvGraphicFramePr>
          <p:cNvPr id="14" name="Chart 0" descr=""/>
          <p:cNvGraphicFramePr/>
          <p:nvPr/>
        </p:nvGraphicFramePr>
        <p:xfrm>
          <a:off x="457200" y="1572768"/>
          <a:ext cx="7589520" cy="4572000"/>
        </p:xfrm>
        <a:graphic xmlns:a="http://schemas.openxmlformats.org/drawingml/2006/main">
          <a:graphicData uri="http://schemas.openxmlformats.org/drawingml/2006/chart">
            <c:chart xmlns:c="http://schemas.openxmlformats.org/drawingml/2006/chart" r:id="rId1"/>
          </a:graphicData>
        </a:graphic>
      </p:graphicFrame>
      <p:sp>
        <p:nvSpPr>
          <p:cNvPr id="15" name="Shape 11"/>
          <p:cNvSpPr/>
          <p:nvPr/>
        </p:nvSpPr>
        <p:spPr>
          <a:xfrm>
            <a:off x="8275320" y="1691640"/>
            <a:ext cx="3364992" cy="1965960"/>
          </a:xfrm>
          <a:prstGeom prst="roundRect">
            <a:avLst>
              <a:gd name="adj" fmla="val 5581"/>
            </a:avLst>
          </a:prstGeom>
          <a:solidFill>
            <a:srgbClr val="F1F5F9"/>
          </a:solidFill>
          <a:ln w="12700">
            <a:solidFill>
              <a:srgbClr val="F1F5F9"/>
            </a:solidFill>
            <a:prstDash val="solid"/>
          </a:ln>
        </p:spPr>
      </p:sp>
      <p:sp>
        <p:nvSpPr>
          <p:cNvPr id="16" name="Text 12"/>
          <p:cNvSpPr txBox="1"/>
          <p:nvPr/>
        </p:nvSpPr>
        <p:spPr>
          <a:xfrm>
            <a:off x="8458200" y="1783080"/>
            <a:ext cx="3017520" cy="548640"/>
          </a:xfrm>
          <a:prstGeom prst="rect">
            <a:avLst/>
          </a:prstGeom>
          <a:noFill/>
          <a:ln/>
        </p:spPr>
        <p:txBody>
          <a:bodyPr wrap="square" lIns="0" tIns="0" rIns="0" bIns="0" rtlCol="0" anchor="t"/>
          <a:lstStyle/>
          <a:p>
            <a:pPr indent="0" marL="0">
              <a:buNone/>
            </a:pPr>
            <a:r>
              <a:rPr lang="en-US" sz="3000" b="1" dirty="0">
                <a:solidFill>
                  <a:srgbClr val="0FA3B1"/>
                </a:solidFill>
                <a:latin typeface="Calibri" pitchFamily="34" charset="0"/>
                <a:ea typeface="Calibri" pitchFamily="34" charset="-122"/>
                <a:cs typeface="Calibri" pitchFamily="34" charset="-120"/>
              </a:rPr>
              <a:t>~80%</a:t>
            </a:r>
            <a:endParaRPr lang="en-US" sz="3000" dirty="0"/>
          </a:p>
        </p:txBody>
      </p:sp>
      <p:sp>
        <p:nvSpPr>
          <p:cNvPr id="17" name="Text 13"/>
          <p:cNvSpPr txBox="1"/>
          <p:nvPr/>
        </p:nvSpPr>
        <p:spPr>
          <a:xfrm>
            <a:off x="8458200" y="2331720"/>
            <a:ext cx="3017520" cy="32004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pick the right tool</a:t>
            </a:r>
            <a:endParaRPr lang="en-US" sz="1300" dirty="0"/>
          </a:p>
        </p:txBody>
      </p:sp>
      <p:sp>
        <p:nvSpPr>
          <p:cNvPr id="18" name="Text 14"/>
          <p:cNvSpPr txBox="1"/>
          <p:nvPr/>
        </p:nvSpPr>
        <p:spPr>
          <a:xfrm>
            <a:off x="8458200" y="2697480"/>
            <a:ext cx="3017520" cy="548640"/>
          </a:xfrm>
          <a:prstGeom prst="rect">
            <a:avLst/>
          </a:prstGeom>
          <a:noFill/>
          <a:ln/>
        </p:spPr>
        <p:txBody>
          <a:bodyPr wrap="square" lIns="0" tIns="0" rIns="0" bIns="0" rtlCol="0" anchor="t"/>
          <a:lstStyle/>
          <a:p>
            <a:pPr indent="0" marL="0">
              <a:buNone/>
            </a:pPr>
            <a:r>
              <a:rPr lang="en-US" sz="3000" b="1" dirty="0">
                <a:solidFill>
                  <a:srgbClr val="E4572E"/>
                </a:solidFill>
                <a:latin typeface="Calibri" pitchFamily="34" charset="0"/>
                <a:ea typeface="Calibri" pitchFamily="34" charset="-122"/>
                <a:cs typeface="Calibri" pitchFamily="34" charset="-120"/>
              </a:rPr>
              <a:t>10–16%</a:t>
            </a:r>
            <a:endParaRPr lang="en-US" sz="3000" dirty="0"/>
          </a:p>
        </p:txBody>
      </p:sp>
      <p:sp>
        <p:nvSpPr>
          <p:cNvPr id="19" name="Text 15"/>
          <p:cNvSpPr txBox="1"/>
          <p:nvPr/>
        </p:nvSpPr>
        <p:spPr>
          <a:xfrm>
            <a:off x="8458200" y="3246120"/>
            <a:ext cx="3017520" cy="32004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get every argument right</a:t>
            </a:r>
            <a:endParaRPr lang="en-US" sz="1300" dirty="0"/>
          </a:p>
        </p:txBody>
      </p:sp>
      <p:sp>
        <p:nvSpPr>
          <p:cNvPr id="20" name="Shape 16"/>
          <p:cNvSpPr/>
          <p:nvPr/>
        </p:nvSpPr>
        <p:spPr>
          <a:xfrm>
            <a:off x="8275320" y="3840480"/>
            <a:ext cx="3364992" cy="2286000"/>
          </a:xfrm>
          <a:prstGeom prst="roundRect">
            <a:avLst>
              <a:gd name="adj" fmla="val 4800"/>
            </a:avLst>
          </a:prstGeom>
          <a:solidFill>
            <a:srgbClr val="FBE1D9"/>
          </a:solidFill>
          <a:ln w="12700">
            <a:solidFill>
              <a:srgbClr val="FBE1D9"/>
            </a:solidFill>
            <a:prstDash val="solid"/>
          </a:ln>
        </p:spPr>
      </p:sp>
      <p:sp>
        <p:nvSpPr>
          <p:cNvPr id="21" name="Text 17"/>
          <p:cNvSpPr txBox="1"/>
          <p:nvPr/>
        </p:nvSpPr>
        <p:spPr>
          <a:xfrm>
            <a:off x="8458200" y="3931920"/>
            <a:ext cx="3017520" cy="2103120"/>
          </a:xfrm>
          <a:prstGeom prst="rect">
            <a:avLst/>
          </a:prstGeom>
          <a:noFill/>
          <a:ln/>
        </p:spPr>
        <p:txBody>
          <a:bodyPr wrap="square" lIns="0" tIns="0" rIns="0" bIns="0" rtlCol="0" anchor="t"/>
          <a:lstStyle/>
          <a:p>
            <a:pPr indent="0" marL="0">
              <a:lnSpc>
                <a:spcPct val="110000"/>
              </a:lnSpc>
              <a:buNone/>
            </a:pPr>
            <a:r>
              <a:rPr lang="en-US" sz="1350" b="1" dirty="0">
                <a:solidFill>
                  <a:srgbClr val="B83F1D"/>
                </a:solidFill>
                <a:latin typeface="Calibri" pitchFamily="34" charset="0"/>
                <a:ea typeface="Calibri" pitchFamily="34" charset="-122"/>
                <a:cs typeface="Calibri" pitchFamily="34" charset="-120"/>
              </a:rPr>
              <a:t>Not an ASR problem. </a:t>
            </a:r>
            <a:pPr indent="0" marL="0">
              <a:lnSpc>
                <a:spcPct val="110000"/>
              </a:lnSpc>
              <a:buNone/>
            </a:pPr>
            <a:r>
              <a:rPr lang="en-US" sz="1350" dirty="0">
                <a:solidFill>
                  <a:srgbClr val="1B2A41"/>
                </a:solidFill>
                <a:latin typeface="Calibri" pitchFamily="34" charset="0"/>
                <a:ea typeface="Calibri" pitchFamily="34" charset="-122"/>
                <a:cs typeface="Calibri" pitchFamily="34" charset="-120"/>
              </a:rPr>
              <a:t>With a perfect transcript (oracle), Gemma-3-12B still reaches only 12.3% exact match. </a:t>
            </a:r>
            <a:endParaRPr lang="en-US" sz="1350" dirty="0"/>
          </a:p>
          <a:p>
            <a:pPr indent="0" marL="0">
              <a:lnSpc>
                <a:spcPct val="110000"/>
              </a:lnSpc>
              <a:buNone/>
            </a:pPr>
            <a:r>
              <a:rPr lang="en-US" sz="1350" dirty="0">
                <a:solidFill>
                  <a:srgbClr val="1B2A41"/>
                </a:solidFill>
                <a:latin typeface="Calibri" pitchFamily="34" charset="0"/>
                <a:ea typeface="Calibri" pitchFamily="34" charset="-122"/>
                <a:cs typeface="Calibri" pitchFamily="34" charset="-120"/>
              </a:rPr>
              <a:t>The bottleneck is argument grounding: units, ranges, enumerations, defaults.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B83F1D"/>
                </a:solidFill>
                <a:latin typeface="Calibri" pitchFamily="34" charset="0"/>
                <a:ea typeface="Calibri" pitchFamily="34" charset="-122"/>
                <a:cs typeface="Calibri" pitchFamily="34" charset="-120"/>
              </a:rPr>
              <a:t>RESULTS · FINDING 3</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End-to-end SpeechLMs do not yet beat a strong cascade</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13</a:t>
            </a:r>
            <a:endParaRPr lang="en-US" sz="1000" dirty="0"/>
          </a:p>
        </p:txBody>
      </p:sp>
      <p:graphicFrame>
        <p:nvGraphicFramePr>
          <p:cNvPr id="14" name="Chart 0" descr=""/>
          <p:cNvGraphicFramePr/>
          <p:nvPr/>
        </p:nvGraphicFramePr>
        <p:xfrm>
          <a:off x="457200" y="1920240"/>
          <a:ext cx="5532120" cy="3520440"/>
        </p:xfrm>
        <a:graphic xmlns:a="http://schemas.openxmlformats.org/drawingml/2006/main">
          <a:graphicData uri="http://schemas.openxmlformats.org/drawingml/2006/chart">
            <c:chart xmlns:c="http://schemas.openxmlformats.org/drawingml/2006/chart" r:id="rId1"/>
          </a:graphicData>
        </a:graphic>
      </p:graphicFrame>
      <p:sp>
        <p:nvSpPr>
          <p:cNvPr id="15" name="Text 11"/>
          <p:cNvSpPr txBox="1"/>
          <p:nvPr/>
        </p:nvSpPr>
        <p:spPr>
          <a:xfrm>
            <a:off x="548640" y="1600200"/>
            <a:ext cx="5394960" cy="320040"/>
          </a:xfrm>
          <a:prstGeom prst="rect">
            <a:avLst/>
          </a:prstGeom>
          <a:noFill/>
          <a:ln/>
        </p:spPr>
        <p:txBody>
          <a:bodyPr wrap="square" lIns="0" tIns="0" rIns="0" bIns="0" rtlCol="0" anchor="t"/>
          <a:lstStyle/>
          <a:p>
            <a:pPr indent="0" marL="0">
              <a:buNone/>
            </a:pPr>
            <a:r>
              <a:rPr lang="en-US" sz="1400" b="1" dirty="0">
                <a:solidFill>
                  <a:srgbClr val="0F1B2D"/>
                </a:solidFill>
                <a:latin typeface="Calibri" pitchFamily="34" charset="0"/>
                <a:ea typeface="Calibri" pitchFamily="34" charset="-122"/>
                <a:cs typeface="Calibri" pitchFamily="34" charset="-120"/>
              </a:rPr>
              <a:t>Tool accuracy (%)  ·  end-to-end wins 6 of 8 tiers</a:t>
            </a:r>
            <a:endParaRPr lang="en-US" sz="1400" dirty="0"/>
          </a:p>
        </p:txBody>
      </p:sp>
      <p:graphicFrame>
        <p:nvGraphicFramePr>
          <p:cNvPr id="16" name="Chart 1" descr=""/>
          <p:cNvGraphicFramePr/>
          <p:nvPr/>
        </p:nvGraphicFramePr>
        <p:xfrm>
          <a:off x="6217920" y="1920240"/>
          <a:ext cx="5532120" cy="3520440"/>
        </p:xfrm>
        <a:graphic xmlns:a="http://schemas.openxmlformats.org/drawingml/2006/main">
          <a:graphicData uri="http://schemas.openxmlformats.org/drawingml/2006/chart">
            <c:chart xmlns:c="http://schemas.openxmlformats.org/drawingml/2006/chart" r:id="rId2"/>
          </a:graphicData>
        </a:graphic>
      </p:graphicFrame>
      <p:sp>
        <p:nvSpPr>
          <p:cNvPr id="17" name="Text 12"/>
          <p:cNvSpPr txBox="1"/>
          <p:nvPr/>
        </p:nvSpPr>
        <p:spPr>
          <a:xfrm>
            <a:off x="6309360" y="1600200"/>
            <a:ext cx="5394960" cy="320040"/>
          </a:xfrm>
          <a:prstGeom prst="rect">
            <a:avLst/>
          </a:prstGeom>
          <a:noFill/>
          <a:ln/>
        </p:spPr>
        <p:txBody>
          <a:bodyPr wrap="square" lIns="0" tIns="0" rIns="0" bIns="0" rtlCol="0" anchor="t"/>
          <a:lstStyle/>
          <a:p>
            <a:pPr indent="0" marL="0">
              <a:buNone/>
            </a:pPr>
            <a:r>
              <a:rPr lang="en-US" sz="1400" b="1" dirty="0">
                <a:solidFill>
                  <a:srgbClr val="0F1B2D"/>
                </a:solidFill>
                <a:latin typeface="Calibri" pitchFamily="34" charset="0"/>
                <a:ea typeface="Calibri" pitchFamily="34" charset="-122"/>
                <a:cs typeface="Calibri" pitchFamily="34" charset="-120"/>
              </a:rPr>
              <a:t>Parameter F1 (%)  ·  cascade wins 5 of 7 tiers</a:t>
            </a:r>
            <a:endParaRPr lang="en-US" sz="1400" dirty="0"/>
          </a:p>
        </p:txBody>
      </p:sp>
      <p:sp>
        <p:nvSpPr>
          <p:cNvPr id="18" name="Shape 13"/>
          <p:cNvSpPr/>
          <p:nvPr/>
        </p:nvSpPr>
        <p:spPr>
          <a:xfrm>
            <a:off x="548640" y="5532120"/>
            <a:ext cx="11091672" cy="685800"/>
          </a:xfrm>
          <a:prstGeom prst="roundRect">
            <a:avLst>
              <a:gd name="adj" fmla="val 16000"/>
            </a:avLst>
          </a:prstGeom>
          <a:solidFill>
            <a:srgbClr val="F1F5F9"/>
          </a:solidFill>
          <a:ln w="9525">
            <a:solidFill>
              <a:srgbClr val="D5DCE5"/>
            </a:solidFill>
            <a:prstDash val="solid"/>
          </a:ln>
        </p:spPr>
      </p:sp>
      <p:sp>
        <p:nvSpPr>
          <p:cNvPr id="19" name="Text 14"/>
          <p:cNvSpPr txBox="1"/>
          <p:nvPr/>
        </p:nvSpPr>
        <p:spPr>
          <a:xfrm>
            <a:off x="777240" y="5532120"/>
            <a:ext cx="10698480" cy="685800"/>
          </a:xfrm>
          <a:prstGeom prst="rect">
            <a:avLst/>
          </a:prstGeom>
          <a:noFill/>
          <a:ln/>
        </p:spPr>
        <p:txBody>
          <a:bodyPr wrap="square" lIns="0" tIns="0" rIns="0" bIns="0" rtlCol="0" anchor="ctr"/>
          <a:lstStyle/>
          <a:p>
            <a:pPr indent="0" marL="0">
              <a:buNone/>
            </a:pPr>
            <a:r>
              <a:rPr lang="en-US" sz="1450" b="1" dirty="0">
                <a:solidFill>
                  <a:srgbClr val="0F1B2D"/>
                </a:solidFill>
                <a:latin typeface="Calibri" pitchFamily="34" charset="0"/>
                <a:ea typeface="Calibri" pitchFamily="34" charset="-122"/>
                <a:cs typeface="Calibri" pitchFamily="34" charset="-120"/>
              </a:rPr>
              <a:t>Audio-native models hear the intent; text models still fill the arguments better. </a:t>
            </a:r>
            <a:pPr indent="0" marL="0">
              <a:buNone/>
            </a:pPr>
            <a:r>
              <a:rPr lang="en-US" sz="1450" dirty="0">
                <a:solidFill>
                  <a:srgbClr val="1B2A41"/>
                </a:solidFill>
                <a:latin typeface="Calibri" pitchFamily="34" charset="0"/>
                <a:ea typeface="Calibri" pitchFamily="34" charset="-122"/>
                <a:cs typeface="Calibri" pitchFamily="34" charset="-120"/>
              </a:rPr>
              <a:t>And ASR is not free: gold transcripts add 10–14 points of tool accuracy to the cascade (backup).</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B83F1D"/>
                </a:solidFill>
                <a:latin typeface="Calibri" pitchFamily="34" charset="0"/>
                <a:ea typeface="Calibri" pitchFamily="34" charset="-122"/>
                <a:cs typeface="Calibri" pitchFamily="34" charset="-120"/>
              </a:rPr>
              <a:t>RESULTS · FINDING 4</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Noise degrades every system, and the cascade degrades fastest</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14</a:t>
            </a:r>
            <a:endParaRPr lang="en-US" sz="1000" dirty="0"/>
          </a:p>
        </p:txBody>
      </p:sp>
      <p:pic>
        <p:nvPicPr>
          <p:cNvPr id="14" name="Image 0" descr="/home/user/Audio2Tool/presentation/src/assets/fig3_right.png">    </p:cNvPr>
          <p:cNvPicPr>
            <a:picLocks noChangeAspect="1"/>
          </p:cNvPicPr>
          <p:nvPr/>
        </p:nvPicPr>
        <p:blipFill>
          <a:blip r:embed="rId1"/>
          <a:stretch>
            <a:fillRect/>
          </a:stretch>
        </p:blipFill>
        <p:spPr>
          <a:xfrm>
            <a:off x="548640" y="1600200"/>
            <a:ext cx="5029200" cy="4443984"/>
          </a:xfrm>
          <a:prstGeom prst="rect">
            <a:avLst/>
          </a:prstGeom>
        </p:spPr>
      </p:pic>
      <p:sp>
        <p:nvSpPr>
          <p:cNvPr id="15" name="Text 11"/>
          <p:cNvSpPr txBox="1"/>
          <p:nvPr/>
        </p:nvSpPr>
        <p:spPr>
          <a:xfrm>
            <a:off x="548640" y="6053328"/>
            <a:ext cx="5120640" cy="365760"/>
          </a:xfrm>
          <a:prstGeom prst="rect">
            <a:avLst/>
          </a:prstGeom>
          <a:noFill/>
          <a:ln/>
        </p:spPr>
        <p:txBody>
          <a:bodyPr wrap="square" lIns="0" tIns="0" rIns="0" bIns="0" rtlCol="0" anchor="t"/>
          <a:lstStyle/>
          <a:p>
            <a:pPr indent="0" marL="0">
              <a:buNone/>
            </a:pPr>
            <a:r>
              <a:rPr lang="en-US" sz="1100" i="1" dirty="0">
                <a:solidFill>
                  <a:srgbClr val="5B6B7F"/>
                </a:solidFill>
                <a:latin typeface="Calibri" pitchFamily="34" charset="0"/>
                <a:ea typeface="Calibri" pitchFamily="34" charset="-122"/>
                <a:cs typeface="Calibri" pitchFamily="34" charset="-120"/>
              </a:rPr>
              <a:t>Intent-classification F1 vs. noise level (paper Fig. 3, right). Error bars: std. over noise types.</a:t>
            </a:r>
            <a:endParaRPr lang="en-US" sz="1100" dirty="0"/>
          </a:p>
        </p:txBody>
      </p:sp>
      <p:sp>
        <p:nvSpPr>
          <p:cNvPr id="16" name="Shape 12"/>
          <p:cNvSpPr/>
          <p:nvPr/>
        </p:nvSpPr>
        <p:spPr>
          <a:xfrm>
            <a:off x="5989320" y="1600200"/>
            <a:ext cx="5650992" cy="1005840"/>
          </a:xfrm>
          <a:prstGeom prst="roundRect">
            <a:avLst>
              <a:gd name="adj" fmla="val 10909"/>
            </a:avLst>
          </a:prstGeom>
          <a:solidFill>
            <a:srgbClr val="F1F5F9"/>
          </a:solidFill>
          <a:ln w="12700">
            <a:solidFill>
              <a:srgbClr val="F1F5F9"/>
            </a:solidFill>
            <a:prstDash val="solid"/>
          </a:ln>
        </p:spPr>
      </p:sp>
      <p:sp>
        <p:nvSpPr>
          <p:cNvPr id="17" name="Shape 13"/>
          <p:cNvSpPr/>
          <p:nvPr/>
        </p:nvSpPr>
        <p:spPr>
          <a:xfrm>
            <a:off x="6199632" y="1810512"/>
            <a:ext cx="585216" cy="585216"/>
          </a:xfrm>
          <a:prstGeom prst="ellipse">
            <a:avLst/>
          </a:prstGeom>
          <a:solidFill>
            <a:srgbClr val="E4572E"/>
          </a:solidFill>
          <a:ln w="12700">
            <a:solidFill>
              <a:srgbClr val="E4572E"/>
            </a:solidFill>
            <a:prstDash val="solid"/>
          </a:ln>
        </p:spPr>
      </p:sp>
      <p:pic>
        <p:nvPicPr>
          <p:cNvPr id="18" name="Image 1" descr="preencoded.png">    </p:cNvPr>
          <p:cNvPicPr>
            <a:picLocks noChangeAspect="1"/>
          </p:cNvPicPr>
          <p:nvPr/>
        </p:nvPicPr>
        <p:blipFill>
          <a:blip r:embed="rId2"/>
          <a:stretch>
            <a:fillRect/>
          </a:stretch>
        </p:blipFill>
        <p:spPr>
          <a:xfrm>
            <a:off x="6328380" y="1939260"/>
            <a:ext cx="327721" cy="327721"/>
          </a:xfrm>
          <a:prstGeom prst="rect">
            <a:avLst/>
          </a:prstGeom>
        </p:spPr>
      </p:pic>
      <p:sp>
        <p:nvSpPr>
          <p:cNvPr id="19" name="Text 14"/>
          <p:cNvSpPr txBox="1"/>
          <p:nvPr/>
        </p:nvSpPr>
        <p:spPr>
          <a:xfrm>
            <a:off x="6949440" y="1719072"/>
            <a:ext cx="4572000" cy="347472"/>
          </a:xfrm>
          <a:prstGeom prst="rect">
            <a:avLst/>
          </a:prstGeom>
          <a:noFill/>
          <a:ln/>
        </p:spPr>
        <p:txBody>
          <a:bodyPr wrap="square" lIns="0" tIns="0" rIns="0" bIns="0" rtlCol="0" anchor="t"/>
          <a:lstStyle/>
          <a:p>
            <a:pPr indent="0" marL="0">
              <a:buNone/>
            </a:pPr>
            <a:r>
              <a:rPr lang="en-US" sz="1500" b="1" dirty="0">
                <a:solidFill>
                  <a:srgbClr val="0F1B2D"/>
                </a:solidFill>
                <a:latin typeface="Calibri" pitchFamily="34" charset="0"/>
                <a:ea typeface="Calibri" pitchFamily="34" charset="-122"/>
                <a:cs typeface="Calibri" pitchFamily="34" charset="-120"/>
              </a:rPr>
              <a:t>3 noise families × 3 SNR levels</a:t>
            </a:r>
            <a:endParaRPr lang="en-US" sz="1500" dirty="0"/>
          </a:p>
        </p:txBody>
      </p:sp>
      <p:sp>
        <p:nvSpPr>
          <p:cNvPr id="20" name="Text 15"/>
          <p:cNvSpPr txBox="1"/>
          <p:nvPr/>
        </p:nvSpPr>
        <p:spPr>
          <a:xfrm>
            <a:off x="6949440" y="2066544"/>
            <a:ext cx="4572000" cy="502920"/>
          </a:xfrm>
          <a:prstGeom prst="rect">
            <a:avLst/>
          </a:prstGeom>
          <a:noFill/>
          <a:ln/>
        </p:spPr>
        <p:txBody>
          <a:bodyPr wrap="square" lIns="0" tIns="0" rIns="0" bIns="0" rtlCol="0" anchor="t"/>
          <a:lstStyle/>
          <a:p>
            <a:pPr indent="0" marL="0">
              <a:buNone/>
            </a:pPr>
            <a:r>
              <a:rPr lang="en-US" sz="1250" dirty="0">
                <a:solidFill>
                  <a:srgbClr val="1B2A41"/>
                </a:solidFill>
                <a:latin typeface="Calibri" pitchFamily="34" charset="0"/>
                <a:ea typeface="Calibri" pitchFamily="34" charset="-122"/>
                <a:cs typeface="Calibri" pitchFamily="34" charset="-120"/>
              </a:rPr>
              <a:t>Babble, mechanical hum, impulsive (MS-SNSD) at +15, +5 and −5 dB</a:t>
            </a:r>
            <a:endParaRPr lang="en-US" sz="1250" dirty="0"/>
          </a:p>
        </p:txBody>
      </p:sp>
      <p:sp>
        <p:nvSpPr>
          <p:cNvPr id="21" name="Shape 16"/>
          <p:cNvSpPr/>
          <p:nvPr/>
        </p:nvSpPr>
        <p:spPr>
          <a:xfrm>
            <a:off x="5989320" y="2724912"/>
            <a:ext cx="5650992" cy="1005840"/>
          </a:xfrm>
          <a:prstGeom prst="roundRect">
            <a:avLst>
              <a:gd name="adj" fmla="val 10909"/>
            </a:avLst>
          </a:prstGeom>
          <a:solidFill>
            <a:srgbClr val="F1F5F9"/>
          </a:solidFill>
          <a:ln w="12700">
            <a:solidFill>
              <a:srgbClr val="F1F5F9"/>
            </a:solidFill>
            <a:prstDash val="solid"/>
          </a:ln>
        </p:spPr>
      </p:sp>
      <p:sp>
        <p:nvSpPr>
          <p:cNvPr id="22" name="Shape 17"/>
          <p:cNvSpPr/>
          <p:nvPr/>
        </p:nvSpPr>
        <p:spPr>
          <a:xfrm>
            <a:off x="6199632" y="2935224"/>
            <a:ext cx="585216" cy="585216"/>
          </a:xfrm>
          <a:prstGeom prst="ellipse">
            <a:avLst/>
          </a:prstGeom>
          <a:solidFill>
            <a:srgbClr val="E4572E"/>
          </a:solidFill>
          <a:ln w="12700">
            <a:solidFill>
              <a:srgbClr val="E4572E"/>
            </a:solidFill>
            <a:prstDash val="solid"/>
          </a:ln>
        </p:spPr>
      </p:sp>
      <p:pic>
        <p:nvPicPr>
          <p:cNvPr id="23" name="Image 2" descr="preencoded.png">    </p:cNvPr>
          <p:cNvPicPr>
            <a:picLocks noChangeAspect="1"/>
          </p:cNvPicPr>
          <p:nvPr/>
        </p:nvPicPr>
        <p:blipFill>
          <a:blip r:embed="rId3"/>
          <a:stretch>
            <a:fillRect/>
          </a:stretch>
        </p:blipFill>
        <p:spPr>
          <a:xfrm>
            <a:off x="6328380" y="3063972"/>
            <a:ext cx="327721" cy="327721"/>
          </a:xfrm>
          <a:prstGeom prst="rect">
            <a:avLst/>
          </a:prstGeom>
        </p:spPr>
      </p:pic>
      <p:sp>
        <p:nvSpPr>
          <p:cNvPr id="24" name="Text 18"/>
          <p:cNvSpPr txBox="1"/>
          <p:nvPr/>
        </p:nvSpPr>
        <p:spPr>
          <a:xfrm>
            <a:off x="6949440" y="2843784"/>
            <a:ext cx="4572000" cy="347472"/>
          </a:xfrm>
          <a:prstGeom prst="rect">
            <a:avLst/>
          </a:prstGeom>
          <a:noFill/>
          <a:ln/>
        </p:spPr>
        <p:txBody>
          <a:bodyPr wrap="square" lIns="0" tIns="0" rIns="0" bIns="0" rtlCol="0" anchor="t"/>
          <a:lstStyle/>
          <a:p>
            <a:pPr indent="0" marL="0">
              <a:buNone/>
            </a:pPr>
            <a:r>
              <a:rPr lang="en-US" sz="1500" b="1" dirty="0">
                <a:solidFill>
                  <a:srgbClr val="0F1B2D"/>
                </a:solidFill>
                <a:latin typeface="Calibri" pitchFamily="34" charset="0"/>
                <a:ea typeface="Calibri" pitchFamily="34" charset="-122"/>
                <a:cs typeface="Calibri" pitchFamily="34" charset="-120"/>
              </a:rPr>
              <a:t>Monotonic degradation for everyone</a:t>
            </a:r>
            <a:endParaRPr lang="en-US" sz="1500" dirty="0"/>
          </a:p>
        </p:txBody>
      </p:sp>
      <p:sp>
        <p:nvSpPr>
          <p:cNvPr id="25" name="Text 19"/>
          <p:cNvSpPr txBox="1"/>
          <p:nvPr/>
        </p:nvSpPr>
        <p:spPr>
          <a:xfrm>
            <a:off x="6949440" y="3191256"/>
            <a:ext cx="4572000" cy="502920"/>
          </a:xfrm>
          <a:prstGeom prst="rect">
            <a:avLst/>
          </a:prstGeom>
          <a:noFill/>
          <a:ln/>
        </p:spPr>
        <p:txBody>
          <a:bodyPr wrap="square" lIns="0" tIns="0" rIns="0" bIns="0" rtlCol="0" anchor="t"/>
          <a:lstStyle/>
          <a:p>
            <a:pPr indent="0" marL="0">
              <a:buNone/>
            </a:pPr>
            <a:r>
              <a:rPr lang="en-US" sz="1250" dirty="0">
                <a:solidFill>
                  <a:srgbClr val="1B2A41"/>
                </a:solidFill>
                <a:latin typeface="Calibri" pitchFamily="34" charset="0"/>
                <a:ea typeface="Calibri" pitchFamily="34" charset="-122"/>
                <a:cs typeface="Calibri" pitchFamily="34" charset="-120"/>
              </a:rPr>
              <a:t>F1 falls steadily from low to high noise for every system tested</a:t>
            </a:r>
            <a:endParaRPr lang="en-US" sz="1250" dirty="0"/>
          </a:p>
        </p:txBody>
      </p:sp>
      <p:sp>
        <p:nvSpPr>
          <p:cNvPr id="26" name="Shape 20"/>
          <p:cNvSpPr/>
          <p:nvPr/>
        </p:nvSpPr>
        <p:spPr>
          <a:xfrm>
            <a:off x="5989320" y="3849624"/>
            <a:ext cx="5650992" cy="1005840"/>
          </a:xfrm>
          <a:prstGeom prst="roundRect">
            <a:avLst>
              <a:gd name="adj" fmla="val 10909"/>
            </a:avLst>
          </a:prstGeom>
          <a:solidFill>
            <a:srgbClr val="F1F5F9"/>
          </a:solidFill>
          <a:ln w="12700">
            <a:solidFill>
              <a:srgbClr val="F1F5F9"/>
            </a:solidFill>
            <a:prstDash val="solid"/>
          </a:ln>
        </p:spPr>
      </p:sp>
      <p:sp>
        <p:nvSpPr>
          <p:cNvPr id="27" name="Shape 21"/>
          <p:cNvSpPr/>
          <p:nvPr/>
        </p:nvSpPr>
        <p:spPr>
          <a:xfrm>
            <a:off x="6199632" y="4059936"/>
            <a:ext cx="585216" cy="585216"/>
          </a:xfrm>
          <a:prstGeom prst="ellipse">
            <a:avLst/>
          </a:prstGeom>
          <a:solidFill>
            <a:srgbClr val="E4572E"/>
          </a:solidFill>
          <a:ln w="12700">
            <a:solidFill>
              <a:srgbClr val="E4572E"/>
            </a:solidFill>
            <a:prstDash val="solid"/>
          </a:ln>
        </p:spPr>
      </p:sp>
      <p:pic>
        <p:nvPicPr>
          <p:cNvPr id="28" name="Image 3" descr="preencoded.png">    </p:cNvPr>
          <p:cNvPicPr>
            <a:picLocks noChangeAspect="1"/>
          </p:cNvPicPr>
          <p:nvPr/>
        </p:nvPicPr>
        <p:blipFill>
          <a:blip r:embed="rId4"/>
          <a:stretch>
            <a:fillRect/>
          </a:stretch>
        </p:blipFill>
        <p:spPr>
          <a:xfrm>
            <a:off x="6328380" y="4188684"/>
            <a:ext cx="327721" cy="327721"/>
          </a:xfrm>
          <a:prstGeom prst="rect">
            <a:avLst/>
          </a:prstGeom>
        </p:spPr>
      </p:pic>
      <p:sp>
        <p:nvSpPr>
          <p:cNvPr id="29" name="Text 22"/>
          <p:cNvSpPr txBox="1"/>
          <p:nvPr/>
        </p:nvSpPr>
        <p:spPr>
          <a:xfrm>
            <a:off x="6949440" y="3968496"/>
            <a:ext cx="4572000" cy="347472"/>
          </a:xfrm>
          <a:prstGeom prst="rect">
            <a:avLst/>
          </a:prstGeom>
          <a:noFill/>
          <a:ln/>
        </p:spPr>
        <p:txBody>
          <a:bodyPr wrap="square" lIns="0" tIns="0" rIns="0" bIns="0" rtlCol="0" anchor="t"/>
          <a:lstStyle/>
          <a:p>
            <a:pPr indent="0" marL="0">
              <a:buNone/>
            </a:pPr>
            <a:r>
              <a:rPr lang="en-US" sz="1500" b="1" dirty="0">
                <a:solidFill>
                  <a:srgbClr val="0F1B2D"/>
                </a:solidFill>
                <a:latin typeface="Calibri" pitchFamily="34" charset="0"/>
                <a:ea typeface="Calibri" pitchFamily="34" charset="-122"/>
                <a:cs typeface="Calibri" pitchFamily="34" charset="-120"/>
              </a:rPr>
              <a:t>Cascades compound ASR errors</a:t>
            </a:r>
            <a:endParaRPr lang="en-US" sz="1500" dirty="0"/>
          </a:p>
        </p:txBody>
      </p:sp>
      <p:sp>
        <p:nvSpPr>
          <p:cNvPr id="30" name="Text 23"/>
          <p:cNvSpPr txBox="1"/>
          <p:nvPr/>
        </p:nvSpPr>
        <p:spPr>
          <a:xfrm>
            <a:off x="6949440" y="4315968"/>
            <a:ext cx="4572000" cy="502920"/>
          </a:xfrm>
          <a:prstGeom prst="rect">
            <a:avLst/>
          </a:prstGeom>
          <a:noFill/>
          <a:ln/>
        </p:spPr>
        <p:txBody>
          <a:bodyPr wrap="square" lIns="0" tIns="0" rIns="0" bIns="0" rtlCol="0" anchor="t"/>
          <a:lstStyle/>
          <a:p>
            <a:pPr indent="0" marL="0">
              <a:buNone/>
            </a:pPr>
            <a:r>
              <a:rPr lang="en-US" sz="1250" dirty="0">
                <a:solidFill>
                  <a:srgbClr val="1B2A41"/>
                </a:solidFill>
                <a:latin typeface="Calibri" pitchFamily="34" charset="0"/>
                <a:ea typeface="Calibri" pitchFamily="34" charset="-122"/>
                <a:cs typeface="Calibri" pitchFamily="34" charset="-120"/>
              </a:rPr>
              <a:t>Whisper + Gemma-3-12B loses the most; Qwen3-Omni-30B is the most robust</a:t>
            </a:r>
            <a:endParaRPr lang="en-US" sz="1250" dirty="0"/>
          </a:p>
        </p:txBody>
      </p:sp>
      <p:sp>
        <p:nvSpPr>
          <p:cNvPr id="31" name="Shape 24"/>
          <p:cNvSpPr/>
          <p:nvPr/>
        </p:nvSpPr>
        <p:spPr>
          <a:xfrm>
            <a:off x="5989320" y="4974336"/>
            <a:ext cx="5650992" cy="1005840"/>
          </a:xfrm>
          <a:prstGeom prst="roundRect">
            <a:avLst>
              <a:gd name="adj" fmla="val 10909"/>
            </a:avLst>
          </a:prstGeom>
          <a:solidFill>
            <a:srgbClr val="F1F5F9"/>
          </a:solidFill>
          <a:ln w="12700">
            <a:solidFill>
              <a:srgbClr val="F1F5F9"/>
            </a:solidFill>
            <a:prstDash val="solid"/>
          </a:ln>
        </p:spPr>
      </p:sp>
      <p:sp>
        <p:nvSpPr>
          <p:cNvPr id="32" name="Shape 25"/>
          <p:cNvSpPr/>
          <p:nvPr/>
        </p:nvSpPr>
        <p:spPr>
          <a:xfrm>
            <a:off x="6199632" y="5184648"/>
            <a:ext cx="585216" cy="585216"/>
          </a:xfrm>
          <a:prstGeom prst="ellipse">
            <a:avLst/>
          </a:prstGeom>
          <a:solidFill>
            <a:srgbClr val="0FA3B1"/>
          </a:solidFill>
          <a:ln w="12700">
            <a:solidFill>
              <a:srgbClr val="0FA3B1"/>
            </a:solidFill>
            <a:prstDash val="solid"/>
          </a:ln>
        </p:spPr>
      </p:sp>
      <p:pic>
        <p:nvPicPr>
          <p:cNvPr id="33" name="Image 4" descr="preencoded.png">    </p:cNvPr>
          <p:cNvPicPr>
            <a:picLocks noChangeAspect="1"/>
          </p:cNvPicPr>
          <p:nvPr/>
        </p:nvPicPr>
        <p:blipFill>
          <a:blip r:embed="rId5"/>
          <a:stretch>
            <a:fillRect/>
          </a:stretch>
        </p:blipFill>
        <p:spPr>
          <a:xfrm>
            <a:off x="6328380" y="5313396"/>
            <a:ext cx="327721" cy="327721"/>
          </a:xfrm>
          <a:prstGeom prst="rect">
            <a:avLst/>
          </a:prstGeom>
        </p:spPr>
      </p:pic>
      <p:sp>
        <p:nvSpPr>
          <p:cNvPr id="34" name="Text 26"/>
          <p:cNvSpPr txBox="1"/>
          <p:nvPr/>
        </p:nvSpPr>
        <p:spPr>
          <a:xfrm>
            <a:off x="6949440" y="5093208"/>
            <a:ext cx="4572000" cy="347472"/>
          </a:xfrm>
          <a:prstGeom prst="rect">
            <a:avLst/>
          </a:prstGeom>
          <a:noFill/>
          <a:ln/>
        </p:spPr>
        <p:txBody>
          <a:bodyPr wrap="square" lIns="0" tIns="0" rIns="0" bIns="0" rtlCol="0" anchor="t"/>
          <a:lstStyle/>
          <a:p>
            <a:pPr indent="0" marL="0">
              <a:buNone/>
            </a:pPr>
            <a:r>
              <a:rPr lang="en-US" sz="1500" b="1" dirty="0">
                <a:solidFill>
                  <a:srgbClr val="0F1B2D"/>
                </a:solidFill>
                <a:latin typeface="Calibri" pitchFamily="34" charset="0"/>
                <a:ea typeface="Calibri" pitchFamily="34" charset="-122"/>
                <a:cs typeface="Calibri" pitchFamily="34" charset="-120"/>
              </a:rPr>
              <a:t>So noise is in the benchmark</a:t>
            </a:r>
            <a:endParaRPr lang="en-US" sz="1500" dirty="0"/>
          </a:p>
        </p:txBody>
      </p:sp>
      <p:sp>
        <p:nvSpPr>
          <p:cNvPr id="35" name="Text 27"/>
          <p:cNvSpPr txBox="1"/>
          <p:nvPr/>
        </p:nvSpPr>
        <p:spPr>
          <a:xfrm>
            <a:off x="6949440" y="5440680"/>
            <a:ext cx="4572000" cy="502920"/>
          </a:xfrm>
          <a:prstGeom prst="rect">
            <a:avLst/>
          </a:prstGeom>
          <a:noFill/>
          <a:ln/>
        </p:spPr>
        <p:txBody>
          <a:bodyPr wrap="square" lIns="0" tIns="0" rIns="0" bIns="0" rtlCol="0" anchor="t"/>
          <a:lstStyle/>
          <a:p>
            <a:pPr indent="0" marL="0">
              <a:buNone/>
            </a:pPr>
            <a:r>
              <a:rPr lang="en-US" sz="1250" dirty="0">
                <a:solidFill>
                  <a:srgbClr val="1B2A41"/>
                </a:solidFill>
                <a:latin typeface="Calibri" pitchFamily="34" charset="0"/>
                <a:ea typeface="Calibri" pitchFamily="34" charset="-122"/>
                <a:cs typeface="Calibri" pitchFamily="34" charset="-120"/>
              </a:rPr>
              <a:t>Multiple noise types and levels are part of the released data, not just this ablation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0B7F8A"/>
                </a:solidFill>
                <a:latin typeface="Calibri" pitchFamily="34" charset="0"/>
                <a:ea typeface="Calibri" pitchFamily="34" charset="-122"/>
                <a:cs typeface="Calibri" pitchFamily="34" charset="-120"/>
              </a:rPr>
              <a:t>TAKEAWAYS</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What Audio2Tool tells us about speech tool use today</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15</a:t>
            </a:r>
            <a:endParaRPr lang="en-US" sz="1000" dirty="0"/>
          </a:p>
        </p:txBody>
      </p:sp>
      <p:sp>
        <p:nvSpPr>
          <p:cNvPr id="14" name="Shape 11"/>
          <p:cNvSpPr/>
          <p:nvPr/>
        </p:nvSpPr>
        <p:spPr>
          <a:xfrm>
            <a:off x="548640" y="1600200"/>
            <a:ext cx="7269480" cy="1005840"/>
          </a:xfrm>
          <a:prstGeom prst="roundRect">
            <a:avLst>
              <a:gd name="adj" fmla="val 10909"/>
            </a:avLst>
          </a:prstGeom>
          <a:solidFill>
            <a:srgbClr val="F1F5F9"/>
          </a:solidFill>
          <a:ln w="12700">
            <a:solidFill>
              <a:srgbClr val="F1F5F9"/>
            </a:solidFill>
            <a:prstDash val="solid"/>
          </a:ln>
        </p:spPr>
      </p:sp>
      <p:sp>
        <p:nvSpPr>
          <p:cNvPr id="15" name="Shape 12"/>
          <p:cNvSpPr/>
          <p:nvPr/>
        </p:nvSpPr>
        <p:spPr>
          <a:xfrm>
            <a:off x="758952" y="1810512"/>
            <a:ext cx="585216" cy="585216"/>
          </a:xfrm>
          <a:prstGeom prst="ellipse">
            <a:avLst/>
          </a:prstGeom>
          <a:solidFill>
            <a:srgbClr val="0FA3B1"/>
          </a:solidFill>
          <a:ln w="12700">
            <a:solidFill>
              <a:srgbClr val="0FA3B1"/>
            </a:solidFill>
            <a:prstDash val="solid"/>
          </a:ln>
        </p:spPr>
      </p:sp>
      <p:pic>
        <p:nvPicPr>
          <p:cNvPr id="16" name="Image 0" descr="preencoded.png">    </p:cNvPr>
          <p:cNvPicPr>
            <a:picLocks noChangeAspect="1"/>
          </p:cNvPicPr>
          <p:nvPr/>
        </p:nvPicPr>
        <p:blipFill>
          <a:blip r:embed="rId1"/>
          <a:stretch>
            <a:fillRect/>
          </a:stretch>
        </p:blipFill>
        <p:spPr>
          <a:xfrm>
            <a:off x="887700" y="1939260"/>
            <a:ext cx="327721" cy="327721"/>
          </a:xfrm>
          <a:prstGeom prst="rect">
            <a:avLst/>
          </a:prstGeom>
        </p:spPr>
      </p:pic>
      <p:sp>
        <p:nvSpPr>
          <p:cNvPr id="17" name="Text 13"/>
          <p:cNvSpPr txBox="1"/>
          <p:nvPr/>
        </p:nvSpPr>
        <p:spPr>
          <a:xfrm>
            <a:off x="1508760" y="1709928"/>
            <a:ext cx="6217920" cy="365760"/>
          </a:xfrm>
          <a:prstGeom prst="rect">
            <a:avLst/>
          </a:prstGeom>
          <a:noFill/>
          <a:ln/>
        </p:spPr>
        <p:txBody>
          <a:bodyPr wrap="square" lIns="0" tIns="0" rIns="0" bIns="0" rtlCol="0" anchor="t"/>
          <a:lstStyle/>
          <a:p>
            <a:pPr indent="0" marL="0">
              <a:buNone/>
            </a:pPr>
            <a:r>
              <a:rPr lang="en-US" sz="1550" b="1" dirty="0">
                <a:solidFill>
                  <a:srgbClr val="0F1B2D"/>
                </a:solidFill>
                <a:latin typeface="Calibri" pitchFamily="34" charset="0"/>
                <a:ea typeface="Calibri" pitchFamily="34" charset="-122"/>
                <a:cs typeface="Calibri" pitchFamily="34" charset="-120"/>
              </a:rPr>
              <a:t>Tool selection is nearly solved for direct commands</a:t>
            </a:r>
            <a:endParaRPr lang="en-US" sz="1550" dirty="0"/>
          </a:p>
        </p:txBody>
      </p:sp>
      <p:sp>
        <p:nvSpPr>
          <p:cNvPr id="18" name="Text 14"/>
          <p:cNvSpPr txBox="1"/>
          <p:nvPr/>
        </p:nvSpPr>
        <p:spPr>
          <a:xfrm>
            <a:off x="1508760" y="2093976"/>
            <a:ext cx="6217920" cy="45720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&gt;90% for the best model on Tier 1</a:t>
            </a:r>
            <a:endParaRPr lang="en-US" sz="1300" dirty="0"/>
          </a:p>
        </p:txBody>
      </p:sp>
      <p:sp>
        <p:nvSpPr>
          <p:cNvPr id="19" name="Shape 15"/>
          <p:cNvSpPr/>
          <p:nvPr/>
        </p:nvSpPr>
        <p:spPr>
          <a:xfrm>
            <a:off x="548640" y="2724912"/>
            <a:ext cx="7269480" cy="1005840"/>
          </a:xfrm>
          <a:prstGeom prst="roundRect">
            <a:avLst>
              <a:gd name="adj" fmla="val 10909"/>
            </a:avLst>
          </a:prstGeom>
          <a:solidFill>
            <a:srgbClr val="F1F5F9"/>
          </a:solidFill>
          <a:ln w="12700">
            <a:solidFill>
              <a:srgbClr val="F1F5F9"/>
            </a:solidFill>
            <a:prstDash val="solid"/>
          </a:ln>
        </p:spPr>
      </p:sp>
      <p:sp>
        <p:nvSpPr>
          <p:cNvPr id="20" name="Shape 16"/>
          <p:cNvSpPr/>
          <p:nvPr/>
        </p:nvSpPr>
        <p:spPr>
          <a:xfrm>
            <a:off x="758952" y="2935224"/>
            <a:ext cx="585216" cy="585216"/>
          </a:xfrm>
          <a:prstGeom prst="ellipse">
            <a:avLst/>
          </a:prstGeom>
          <a:solidFill>
            <a:srgbClr val="E4572E"/>
          </a:solidFill>
          <a:ln w="12700">
            <a:solidFill>
              <a:srgbClr val="E4572E"/>
            </a:solidFill>
            <a:prstDash val="solid"/>
          </a:ln>
        </p:spPr>
      </p:sp>
      <p:pic>
        <p:nvPicPr>
          <p:cNvPr id="21" name="Image 1" descr="preencoded.png">    </p:cNvPr>
          <p:cNvPicPr>
            <a:picLocks noChangeAspect="1"/>
          </p:cNvPicPr>
          <p:nvPr/>
        </p:nvPicPr>
        <p:blipFill>
          <a:blip r:embed="rId2"/>
          <a:stretch>
            <a:fillRect/>
          </a:stretch>
        </p:blipFill>
        <p:spPr>
          <a:xfrm>
            <a:off x="887700" y="3063972"/>
            <a:ext cx="327721" cy="327721"/>
          </a:xfrm>
          <a:prstGeom prst="rect">
            <a:avLst/>
          </a:prstGeom>
        </p:spPr>
      </p:pic>
      <p:sp>
        <p:nvSpPr>
          <p:cNvPr id="22" name="Text 17"/>
          <p:cNvSpPr txBox="1"/>
          <p:nvPr/>
        </p:nvSpPr>
        <p:spPr>
          <a:xfrm>
            <a:off x="1508760" y="2834640"/>
            <a:ext cx="6217920" cy="365760"/>
          </a:xfrm>
          <a:prstGeom prst="rect">
            <a:avLst/>
          </a:prstGeom>
          <a:noFill/>
          <a:ln/>
        </p:spPr>
        <p:txBody>
          <a:bodyPr wrap="square" lIns="0" tIns="0" rIns="0" bIns="0" rtlCol="0" anchor="t"/>
          <a:lstStyle/>
          <a:p>
            <a:pPr indent="0" marL="0">
              <a:buNone/>
            </a:pPr>
            <a:r>
              <a:rPr lang="en-US" sz="1550" b="1" dirty="0">
                <a:solidFill>
                  <a:srgbClr val="0F1B2D"/>
                </a:solidFill>
                <a:latin typeface="Calibri" pitchFamily="34" charset="0"/>
                <a:ea typeface="Calibri" pitchFamily="34" charset="-122"/>
                <a:cs typeface="Calibri" pitchFamily="34" charset="-120"/>
              </a:rPr>
              <a:t>Argument grounding is the bottleneck (not ASR)</a:t>
            </a:r>
            <a:endParaRPr lang="en-US" sz="1550" dirty="0"/>
          </a:p>
        </p:txBody>
      </p:sp>
      <p:sp>
        <p:nvSpPr>
          <p:cNvPr id="23" name="Text 18"/>
          <p:cNvSpPr txBox="1"/>
          <p:nvPr/>
        </p:nvSpPr>
        <p:spPr>
          <a:xfrm>
            <a:off x="1508760" y="3218688"/>
            <a:ext cx="6217920" cy="45720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Exact match ≤16% on parametric commands, even with gold transcripts</a:t>
            </a:r>
            <a:endParaRPr lang="en-US" sz="1300" dirty="0"/>
          </a:p>
        </p:txBody>
      </p:sp>
      <p:sp>
        <p:nvSpPr>
          <p:cNvPr id="24" name="Shape 19"/>
          <p:cNvSpPr/>
          <p:nvPr/>
        </p:nvSpPr>
        <p:spPr>
          <a:xfrm>
            <a:off x="548640" y="3849624"/>
            <a:ext cx="7269480" cy="1005840"/>
          </a:xfrm>
          <a:prstGeom prst="roundRect">
            <a:avLst>
              <a:gd name="adj" fmla="val 10909"/>
            </a:avLst>
          </a:prstGeom>
          <a:solidFill>
            <a:srgbClr val="F1F5F9"/>
          </a:solidFill>
          <a:ln w="12700">
            <a:solidFill>
              <a:srgbClr val="F1F5F9"/>
            </a:solidFill>
            <a:prstDash val="solid"/>
          </a:ln>
        </p:spPr>
      </p:sp>
      <p:sp>
        <p:nvSpPr>
          <p:cNvPr id="25" name="Shape 20"/>
          <p:cNvSpPr/>
          <p:nvPr/>
        </p:nvSpPr>
        <p:spPr>
          <a:xfrm>
            <a:off x="758952" y="4059936"/>
            <a:ext cx="585216" cy="585216"/>
          </a:xfrm>
          <a:prstGeom prst="ellipse">
            <a:avLst/>
          </a:prstGeom>
          <a:solidFill>
            <a:srgbClr val="F2A93B"/>
          </a:solidFill>
          <a:ln w="12700">
            <a:solidFill>
              <a:srgbClr val="F2A93B"/>
            </a:solidFill>
            <a:prstDash val="solid"/>
          </a:ln>
        </p:spPr>
      </p:sp>
      <p:pic>
        <p:nvPicPr>
          <p:cNvPr id="26" name="Image 2" descr="preencoded.png">    </p:cNvPr>
          <p:cNvPicPr>
            <a:picLocks noChangeAspect="1"/>
          </p:cNvPicPr>
          <p:nvPr/>
        </p:nvPicPr>
        <p:blipFill>
          <a:blip r:embed="rId3"/>
          <a:stretch>
            <a:fillRect/>
          </a:stretch>
        </p:blipFill>
        <p:spPr>
          <a:xfrm>
            <a:off x="887700" y="4188684"/>
            <a:ext cx="327721" cy="327721"/>
          </a:xfrm>
          <a:prstGeom prst="rect">
            <a:avLst/>
          </a:prstGeom>
        </p:spPr>
      </p:pic>
      <p:sp>
        <p:nvSpPr>
          <p:cNvPr id="27" name="Text 21"/>
          <p:cNvSpPr txBox="1"/>
          <p:nvPr/>
        </p:nvSpPr>
        <p:spPr>
          <a:xfrm>
            <a:off x="1508760" y="3959352"/>
            <a:ext cx="6217920" cy="365760"/>
          </a:xfrm>
          <a:prstGeom prst="rect">
            <a:avLst/>
          </a:prstGeom>
          <a:noFill/>
          <a:ln/>
        </p:spPr>
        <p:txBody>
          <a:bodyPr wrap="square" lIns="0" tIns="0" rIns="0" bIns="0" rtlCol="0" anchor="t"/>
          <a:lstStyle/>
          <a:p>
            <a:pPr indent="0" marL="0">
              <a:buNone/>
            </a:pPr>
            <a:r>
              <a:rPr lang="en-US" sz="1550" b="1" dirty="0">
                <a:solidFill>
                  <a:srgbClr val="0F1B2D"/>
                </a:solidFill>
                <a:latin typeface="Calibri" pitchFamily="34" charset="0"/>
                <a:ea typeface="Calibri" pitchFamily="34" charset="-122"/>
                <a:cs typeface="Calibri" pitchFamily="34" charset="-120"/>
              </a:rPr>
              <a:t>Composition, implicit intent, competing speakers: open</a:t>
            </a:r>
            <a:endParaRPr lang="en-US" sz="1550" dirty="0"/>
          </a:p>
        </p:txBody>
      </p:sp>
      <p:sp>
        <p:nvSpPr>
          <p:cNvPr id="28" name="Text 22"/>
          <p:cNvSpPr txBox="1"/>
          <p:nvPr/>
        </p:nvSpPr>
        <p:spPr>
          <a:xfrm>
            <a:off x="1508760" y="4343400"/>
            <a:ext cx="6217920" cy="45720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Tiers 3–4 and 7–8 sit at 33–75% tool accuracy; long input alone is fine</a:t>
            </a:r>
            <a:endParaRPr lang="en-US" sz="1300" dirty="0"/>
          </a:p>
        </p:txBody>
      </p:sp>
      <p:sp>
        <p:nvSpPr>
          <p:cNvPr id="29" name="Shape 23"/>
          <p:cNvSpPr/>
          <p:nvPr/>
        </p:nvSpPr>
        <p:spPr>
          <a:xfrm>
            <a:off x="548640" y="4974336"/>
            <a:ext cx="7269480" cy="1005840"/>
          </a:xfrm>
          <a:prstGeom prst="roundRect">
            <a:avLst>
              <a:gd name="adj" fmla="val 10909"/>
            </a:avLst>
          </a:prstGeom>
          <a:solidFill>
            <a:srgbClr val="F1F5F9"/>
          </a:solidFill>
          <a:ln w="12700">
            <a:solidFill>
              <a:srgbClr val="F1F5F9"/>
            </a:solidFill>
            <a:prstDash val="solid"/>
          </a:ln>
        </p:spPr>
      </p:sp>
      <p:sp>
        <p:nvSpPr>
          <p:cNvPr id="30" name="Shape 24"/>
          <p:cNvSpPr/>
          <p:nvPr/>
        </p:nvSpPr>
        <p:spPr>
          <a:xfrm>
            <a:off x="758952" y="5184648"/>
            <a:ext cx="585216" cy="585216"/>
          </a:xfrm>
          <a:prstGeom prst="ellipse">
            <a:avLst/>
          </a:prstGeom>
          <a:solidFill>
            <a:srgbClr val="1B2A41"/>
          </a:solidFill>
          <a:ln w="12700">
            <a:solidFill>
              <a:srgbClr val="1B2A41"/>
            </a:solidFill>
            <a:prstDash val="solid"/>
          </a:ln>
        </p:spPr>
      </p:sp>
      <p:pic>
        <p:nvPicPr>
          <p:cNvPr id="31" name="Image 3" descr="preencoded.png">    </p:cNvPr>
          <p:cNvPicPr>
            <a:picLocks noChangeAspect="1"/>
          </p:cNvPicPr>
          <p:nvPr/>
        </p:nvPicPr>
        <p:blipFill>
          <a:blip r:embed="rId4"/>
          <a:stretch>
            <a:fillRect/>
          </a:stretch>
        </p:blipFill>
        <p:spPr>
          <a:xfrm>
            <a:off x="887700" y="5313396"/>
            <a:ext cx="327721" cy="327721"/>
          </a:xfrm>
          <a:prstGeom prst="rect">
            <a:avLst/>
          </a:prstGeom>
        </p:spPr>
      </p:pic>
      <p:sp>
        <p:nvSpPr>
          <p:cNvPr id="32" name="Text 25"/>
          <p:cNvSpPr txBox="1"/>
          <p:nvPr/>
        </p:nvSpPr>
        <p:spPr>
          <a:xfrm>
            <a:off x="1508760" y="5084064"/>
            <a:ext cx="6217920" cy="365760"/>
          </a:xfrm>
          <a:prstGeom prst="rect">
            <a:avLst/>
          </a:prstGeom>
          <a:noFill/>
          <a:ln/>
        </p:spPr>
        <p:txBody>
          <a:bodyPr wrap="square" lIns="0" tIns="0" rIns="0" bIns="0" rtlCol="0" anchor="t"/>
          <a:lstStyle/>
          <a:p>
            <a:pPr indent="0" marL="0">
              <a:buNone/>
            </a:pPr>
            <a:r>
              <a:rPr lang="en-US" sz="1550" b="1" dirty="0">
                <a:solidFill>
                  <a:srgbClr val="0F1B2D"/>
                </a:solidFill>
                <a:latin typeface="Calibri" pitchFamily="34" charset="0"/>
                <a:ea typeface="Calibri" pitchFamily="34" charset="-122"/>
                <a:cs typeface="Calibri" pitchFamily="34" charset="-120"/>
              </a:rPr>
              <a:t>End-to-end does not yet beat a strong cascade</a:t>
            </a:r>
            <a:endParaRPr lang="en-US" sz="1550" dirty="0"/>
          </a:p>
        </p:txBody>
      </p:sp>
      <p:sp>
        <p:nvSpPr>
          <p:cNvPr id="33" name="Text 26"/>
          <p:cNvSpPr txBox="1"/>
          <p:nvPr/>
        </p:nvSpPr>
        <p:spPr>
          <a:xfrm>
            <a:off x="1508760" y="5468112"/>
            <a:ext cx="6217920" cy="45720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SpeechLMs pick tools better; text LLMs fill arguments better; noise hurts cascades most</a:t>
            </a:r>
            <a:endParaRPr lang="en-US" sz="1300" dirty="0"/>
          </a:p>
        </p:txBody>
      </p:sp>
      <p:sp>
        <p:nvSpPr>
          <p:cNvPr id="34" name="Shape 27"/>
          <p:cNvSpPr/>
          <p:nvPr/>
        </p:nvSpPr>
        <p:spPr>
          <a:xfrm>
            <a:off x="8046720" y="1600200"/>
            <a:ext cx="3593592" cy="4379976"/>
          </a:xfrm>
          <a:prstGeom prst="roundRect">
            <a:avLst>
              <a:gd name="adj" fmla="val 3053"/>
            </a:avLst>
          </a:prstGeom>
          <a:solidFill>
            <a:srgbClr val="0F1B2D"/>
          </a:solidFill>
          <a:ln w="12700">
            <a:solidFill>
              <a:srgbClr val="0F1B2D"/>
            </a:solidFill>
            <a:prstDash val="solid"/>
          </a:ln>
        </p:spPr>
      </p:sp>
      <p:sp>
        <p:nvSpPr>
          <p:cNvPr id="35" name="Text 28"/>
          <p:cNvSpPr txBox="1"/>
          <p:nvPr/>
        </p:nvSpPr>
        <p:spPr>
          <a:xfrm>
            <a:off x="8275320" y="1755648"/>
            <a:ext cx="3200400" cy="411480"/>
          </a:xfrm>
          <a:prstGeom prst="rect">
            <a:avLst/>
          </a:prstGeom>
          <a:noFill/>
          <a:ln/>
        </p:spPr>
        <p:txBody>
          <a:bodyPr wrap="square" lIns="0" tIns="0" rIns="0" bIns="0" rtlCol="0" anchor="t"/>
          <a:lstStyle/>
          <a:p>
            <a:pPr indent="0" marL="0">
              <a:buNone/>
            </a:pPr>
            <a:r>
              <a:rPr lang="en-US" sz="2000" b="1" dirty="0">
                <a:solidFill>
                  <a:srgbClr val="0FA3B1"/>
                </a:solidFill>
                <a:latin typeface="Calibri" pitchFamily="34" charset="0"/>
                <a:ea typeface="Calibri" pitchFamily="34" charset="-122"/>
                <a:cs typeface="Calibri" pitchFamily="34" charset="-120"/>
              </a:rPr>
              <a:t>Next</a:t>
            </a:r>
            <a:endParaRPr lang="en-US" sz="2000" dirty="0"/>
          </a:p>
        </p:txBody>
      </p:sp>
      <p:sp>
        <p:nvSpPr>
          <p:cNvPr id="36" name="Shape 29"/>
          <p:cNvSpPr/>
          <p:nvPr/>
        </p:nvSpPr>
        <p:spPr>
          <a:xfrm>
            <a:off x="8275320" y="2359152"/>
            <a:ext cx="201168" cy="201168"/>
          </a:xfrm>
          <a:prstGeom prst="ellipse">
            <a:avLst/>
          </a:prstGeom>
          <a:solidFill>
            <a:srgbClr val="0FA3B1"/>
          </a:solidFill>
          <a:ln w="12700">
            <a:solidFill>
              <a:srgbClr val="0FA3B1"/>
            </a:solidFill>
            <a:prstDash val="solid"/>
          </a:ln>
        </p:spPr>
      </p:sp>
      <p:sp>
        <p:nvSpPr>
          <p:cNvPr id="37" name="Text 30"/>
          <p:cNvSpPr txBox="1"/>
          <p:nvPr/>
        </p:nvSpPr>
        <p:spPr>
          <a:xfrm>
            <a:off x="8595360" y="2286000"/>
            <a:ext cx="292608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Real recordings</a:t>
            </a:r>
            <a:endParaRPr lang="en-US" sz="1500" dirty="0"/>
          </a:p>
        </p:txBody>
      </p:sp>
      <p:sp>
        <p:nvSpPr>
          <p:cNvPr id="38" name="Text 31"/>
          <p:cNvSpPr txBox="1"/>
          <p:nvPr/>
        </p:nvSpPr>
        <p:spPr>
          <a:xfrm>
            <a:off x="8595360" y="2633472"/>
            <a:ext cx="2926080" cy="457200"/>
          </a:xfrm>
          <a:prstGeom prst="rect">
            <a:avLst/>
          </a:prstGeom>
          <a:noFill/>
          <a:ln/>
        </p:spPr>
        <p:txBody>
          <a:bodyPr wrap="square" lIns="0" tIns="0" rIns="0" bIns="0" rtlCol="0" anchor="t"/>
          <a:lstStyle/>
          <a:p>
            <a:pPr indent="0" marL="0">
              <a:buNone/>
            </a:pPr>
            <a:r>
              <a:rPr lang="en-US" sz="1250" dirty="0">
                <a:solidFill>
                  <a:srgbClr val="C9D3DF"/>
                </a:solidFill>
                <a:latin typeface="Calibri" pitchFamily="34" charset="0"/>
                <a:ea typeface="Calibri" pitchFamily="34" charset="-122"/>
                <a:cs typeface="Calibri" pitchFamily="34" charset="-120"/>
              </a:rPr>
              <a:t>beyond zero-shot cloned speech</a:t>
            </a:r>
            <a:endParaRPr lang="en-US" sz="1250" dirty="0"/>
          </a:p>
        </p:txBody>
      </p:sp>
      <p:sp>
        <p:nvSpPr>
          <p:cNvPr id="39" name="Shape 32"/>
          <p:cNvSpPr/>
          <p:nvPr/>
        </p:nvSpPr>
        <p:spPr>
          <a:xfrm>
            <a:off x="8275320" y="3255264"/>
            <a:ext cx="201168" cy="201168"/>
          </a:xfrm>
          <a:prstGeom prst="ellipse">
            <a:avLst/>
          </a:prstGeom>
          <a:solidFill>
            <a:srgbClr val="0FA3B1"/>
          </a:solidFill>
          <a:ln w="12700">
            <a:solidFill>
              <a:srgbClr val="0FA3B1"/>
            </a:solidFill>
            <a:prstDash val="solid"/>
          </a:ln>
        </p:spPr>
      </p:sp>
      <p:sp>
        <p:nvSpPr>
          <p:cNvPr id="40" name="Text 33"/>
          <p:cNvSpPr txBox="1"/>
          <p:nvPr/>
        </p:nvSpPr>
        <p:spPr>
          <a:xfrm>
            <a:off x="8595360" y="3182112"/>
            <a:ext cx="292608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Safety-critical scenarios</a:t>
            </a:r>
            <a:endParaRPr lang="en-US" sz="1500" dirty="0"/>
          </a:p>
        </p:txBody>
      </p:sp>
      <p:sp>
        <p:nvSpPr>
          <p:cNvPr id="41" name="Text 34"/>
          <p:cNvSpPr txBox="1"/>
          <p:nvPr/>
        </p:nvSpPr>
        <p:spPr>
          <a:xfrm>
            <a:off x="8595360" y="3529584"/>
            <a:ext cx="2926080" cy="457200"/>
          </a:xfrm>
          <a:prstGeom prst="rect">
            <a:avLst/>
          </a:prstGeom>
          <a:noFill/>
          <a:ln/>
        </p:spPr>
        <p:txBody>
          <a:bodyPr wrap="square" lIns="0" tIns="0" rIns="0" bIns="0" rtlCol="0" anchor="t"/>
          <a:lstStyle/>
          <a:p>
            <a:pPr indent="0" marL="0">
              <a:buNone/>
            </a:pPr>
            <a:r>
              <a:rPr lang="en-US" sz="1250" dirty="0">
                <a:solidFill>
                  <a:srgbClr val="C9D3DF"/>
                </a:solidFill>
                <a:latin typeface="Calibri" pitchFamily="34" charset="0"/>
                <a:ea typeface="Calibri" pitchFamily="34" charset="-122"/>
                <a:cs typeface="Calibri" pitchFamily="34" charset="-120"/>
              </a:rPr>
              <a:t>where a wrong action has real cost</a:t>
            </a:r>
            <a:endParaRPr lang="en-US" sz="1250" dirty="0"/>
          </a:p>
        </p:txBody>
      </p:sp>
      <p:sp>
        <p:nvSpPr>
          <p:cNvPr id="42" name="Shape 35"/>
          <p:cNvSpPr/>
          <p:nvPr/>
        </p:nvSpPr>
        <p:spPr>
          <a:xfrm>
            <a:off x="8275320" y="4151376"/>
            <a:ext cx="201168" cy="201168"/>
          </a:xfrm>
          <a:prstGeom prst="ellipse">
            <a:avLst/>
          </a:prstGeom>
          <a:solidFill>
            <a:srgbClr val="0FA3B1"/>
          </a:solidFill>
          <a:ln w="12700">
            <a:solidFill>
              <a:srgbClr val="0FA3B1"/>
            </a:solidFill>
            <a:prstDash val="solid"/>
          </a:ln>
        </p:spPr>
      </p:sp>
      <p:sp>
        <p:nvSpPr>
          <p:cNvPr id="43" name="Text 36"/>
          <p:cNvSpPr txBox="1"/>
          <p:nvPr/>
        </p:nvSpPr>
        <p:spPr>
          <a:xfrm>
            <a:off x="8595360" y="4078224"/>
            <a:ext cx="292608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Broader domains, languages</a:t>
            </a:r>
            <a:endParaRPr lang="en-US" sz="1500" dirty="0"/>
          </a:p>
        </p:txBody>
      </p:sp>
      <p:sp>
        <p:nvSpPr>
          <p:cNvPr id="44" name="Text 37"/>
          <p:cNvSpPr txBox="1"/>
          <p:nvPr/>
        </p:nvSpPr>
        <p:spPr>
          <a:xfrm>
            <a:off x="8595360" y="4425696"/>
            <a:ext cx="2926080" cy="457200"/>
          </a:xfrm>
          <a:prstGeom prst="rect">
            <a:avLst/>
          </a:prstGeom>
          <a:noFill/>
          <a:ln/>
        </p:spPr>
        <p:txBody>
          <a:bodyPr wrap="square" lIns="0" tIns="0" rIns="0" bIns="0" rtlCol="0" anchor="t"/>
          <a:lstStyle/>
          <a:p>
            <a:pPr indent="0" marL="0">
              <a:buNone/>
            </a:pPr>
            <a:r>
              <a:rPr lang="en-US" sz="1250" dirty="0">
                <a:solidFill>
                  <a:srgbClr val="C9D3DF"/>
                </a:solidFill>
                <a:latin typeface="Calibri" pitchFamily="34" charset="0"/>
                <a:ea typeface="Calibri" pitchFamily="34" charset="-122"/>
                <a:cs typeface="Calibri" pitchFamily="34" charset="-120"/>
              </a:rPr>
              <a:t>and per-accent, per-noise breakdowns</a:t>
            </a:r>
            <a:endParaRPr lang="en-US" sz="1250" dirty="0"/>
          </a:p>
        </p:txBody>
      </p:sp>
      <p:sp>
        <p:nvSpPr>
          <p:cNvPr id="45" name="Shape 38"/>
          <p:cNvSpPr/>
          <p:nvPr/>
        </p:nvSpPr>
        <p:spPr>
          <a:xfrm>
            <a:off x="8275320" y="5047488"/>
            <a:ext cx="201168" cy="201168"/>
          </a:xfrm>
          <a:prstGeom prst="ellipse">
            <a:avLst/>
          </a:prstGeom>
          <a:solidFill>
            <a:srgbClr val="0FA3B1"/>
          </a:solidFill>
          <a:ln w="12700">
            <a:solidFill>
              <a:srgbClr val="0FA3B1"/>
            </a:solidFill>
            <a:prstDash val="solid"/>
          </a:ln>
        </p:spPr>
      </p:sp>
      <p:sp>
        <p:nvSpPr>
          <p:cNvPr id="46" name="Text 39"/>
          <p:cNvSpPr txBox="1"/>
          <p:nvPr/>
        </p:nvSpPr>
        <p:spPr>
          <a:xfrm>
            <a:off x="8595360" y="4974336"/>
            <a:ext cx="292608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Use the tiers</a:t>
            </a:r>
            <a:endParaRPr lang="en-US" sz="1500" dirty="0"/>
          </a:p>
        </p:txBody>
      </p:sp>
      <p:sp>
        <p:nvSpPr>
          <p:cNvPr id="47" name="Text 40"/>
          <p:cNvSpPr txBox="1"/>
          <p:nvPr/>
        </p:nvSpPr>
        <p:spPr>
          <a:xfrm>
            <a:off x="8595360" y="5321808"/>
            <a:ext cx="2926080" cy="457200"/>
          </a:xfrm>
          <a:prstGeom prst="rect">
            <a:avLst/>
          </a:prstGeom>
          <a:noFill/>
          <a:ln/>
        </p:spPr>
        <p:txBody>
          <a:bodyPr wrap="square" lIns="0" tIns="0" rIns="0" bIns="0" rtlCol="0" anchor="t"/>
          <a:lstStyle/>
          <a:p>
            <a:pPr indent="0" marL="0">
              <a:buNone/>
            </a:pPr>
            <a:r>
              <a:rPr lang="en-US" sz="1250" dirty="0">
                <a:solidFill>
                  <a:srgbClr val="C9D3DF"/>
                </a:solidFill>
                <a:latin typeface="Calibri" pitchFamily="34" charset="0"/>
                <a:ea typeface="Calibri" pitchFamily="34" charset="-122"/>
                <a:cs typeface="Calibri" pitchFamily="34" charset="-120"/>
              </a:rPr>
              <a:t>report where a model fails, not just its average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p:bgPr>
    </p:bg>
    <p:spTree>
      <p:nvGrpSpPr>
        <p:cNvPr id="1" name=""/>
        <p:cNvGrpSpPr/>
        <p:nvPr/>
      </p:nvGrpSpPr>
      <p:grpSpPr>
        <a:xfrm>
          <a:off x="0" y="0"/>
          <a:ext cx="0" cy="0"/>
          <a:chOff x="0" y="0"/>
          <a:chExt cx="0" cy="0"/>
        </a:xfrm>
      </p:grpSpPr>
      <p:sp>
        <p:nvSpPr>
          <p:cNvPr id="3" name="Shape 0"/>
          <p:cNvSpPr/>
          <p:nvPr/>
        </p:nvSpPr>
        <p:spPr>
          <a:xfrm>
            <a:off x="731520" y="1042416"/>
            <a:ext cx="195417" cy="201168"/>
          </a:xfrm>
          <a:prstGeom prst="roundRect">
            <a:avLst>
              <a:gd name="adj" fmla="val 50000"/>
            </a:avLst>
          </a:prstGeom>
          <a:solidFill>
            <a:srgbClr val="0FA3B1"/>
          </a:solidFill>
          <a:ln w="12700">
            <a:solidFill>
              <a:srgbClr val="0FA3B1"/>
            </a:solidFill>
            <a:prstDash val="solid"/>
          </a:ln>
        </p:spPr>
      </p:sp>
      <p:sp>
        <p:nvSpPr>
          <p:cNvPr id="4" name="Shape 1"/>
          <p:cNvSpPr/>
          <p:nvPr/>
        </p:nvSpPr>
        <p:spPr>
          <a:xfrm>
            <a:off x="1135484" y="966978"/>
            <a:ext cx="195417" cy="352044"/>
          </a:xfrm>
          <a:prstGeom prst="roundRect">
            <a:avLst>
              <a:gd name="adj" fmla="val 50000"/>
            </a:avLst>
          </a:prstGeom>
          <a:solidFill>
            <a:srgbClr val="0FA3B1"/>
          </a:solidFill>
          <a:ln w="12700">
            <a:solidFill>
              <a:srgbClr val="0FA3B1"/>
            </a:solidFill>
            <a:prstDash val="solid"/>
          </a:ln>
        </p:spPr>
      </p:sp>
      <p:sp>
        <p:nvSpPr>
          <p:cNvPr id="5" name="Shape 2"/>
          <p:cNvSpPr/>
          <p:nvPr/>
        </p:nvSpPr>
        <p:spPr>
          <a:xfrm>
            <a:off x="1539448" y="866394"/>
            <a:ext cx="195417" cy="553212"/>
          </a:xfrm>
          <a:prstGeom prst="roundRect">
            <a:avLst>
              <a:gd name="adj" fmla="val 50000"/>
            </a:avLst>
          </a:prstGeom>
          <a:solidFill>
            <a:srgbClr val="0FA3B1"/>
          </a:solidFill>
          <a:ln w="12700">
            <a:solidFill>
              <a:srgbClr val="0FA3B1"/>
            </a:solidFill>
            <a:prstDash val="solid"/>
          </a:ln>
        </p:spPr>
      </p:sp>
      <p:sp>
        <p:nvSpPr>
          <p:cNvPr id="6" name="Shape 3"/>
          <p:cNvSpPr/>
          <p:nvPr/>
        </p:nvSpPr>
        <p:spPr>
          <a:xfrm>
            <a:off x="1943412" y="740664"/>
            <a:ext cx="195417" cy="804672"/>
          </a:xfrm>
          <a:prstGeom prst="roundRect">
            <a:avLst>
              <a:gd name="adj" fmla="val 50000"/>
            </a:avLst>
          </a:prstGeom>
          <a:solidFill>
            <a:srgbClr val="0FA3B1"/>
          </a:solidFill>
          <a:ln w="12700">
            <a:solidFill>
              <a:srgbClr val="0FA3B1"/>
            </a:solidFill>
            <a:prstDash val="solid"/>
          </a:ln>
        </p:spPr>
      </p:sp>
      <p:sp>
        <p:nvSpPr>
          <p:cNvPr id="7" name="Shape 4"/>
          <p:cNvSpPr/>
          <p:nvPr/>
        </p:nvSpPr>
        <p:spPr>
          <a:xfrm>
            <a:off x="2347376" y="640080"/>
            <a:ext cx="195417" cy="1005840"/>
          </a:xfrm>
          <a:prstGeom prst="roundRect">
            <a:avLst>
              <a:gd name="adj" fmla="val 50000"/>
            </a:avLst>
          </a:prstGeom>
          <a:solidFill>
            <a:srgbClr val="0FA3B1"/>
          </a:solidFill>
          <a:ln w="12700">
            <a:solidFill>
              <a:srgbClr val="0FA3B1"/>
            </a:solidFill>
            <a:prstDash val="solid"/>
          </a:ln>
        </p:spPr>
      </p:sp>
      <p:sp>
        <p:nvSpPr>
          <p:cNvPr id="8" name="Shape 5"/>
          <p:cNvSpPr/>
          <p:nvPr/>
        </p:nvSpPr>
        <p:spPr>
          <a:xfrm>
            <a:off x="2751340" y="790956"/>
            <a:ext cx="195417" cy="704088"/>
          </a:xfrm>
          <a:prstGeom prst="roundRect">
            <a:avLst>
              <a:gd name="adj" fmla="val 50000"/>
            </a:avLst>
          </a:prstGeom>
          <a:solidFill>
            <a:srgbClr val="0FA3B1"/>
          </a:solidFill>
          <a:ln w="12700">
            <a:solidFill>
              <a:srgbClr val="0FA3B1"/>
            </a:solidFill>
            <a:prstDash val="solid"/>
          </a:ln>
        </p:spPr>
      </p:sp>
      <p:sp>
        <p:nvSpPr>
          <p:cNvPr id="9" name="Shape 6"/>
          <p:cNvSpPr/>
          <p:nvPr/>
        </p:nvSpPr>
        <p:spPr>
          <a:xfrm>
            <a:off x="3155304" y="916686"/>
            <a:ext cx="195417" cy="452628"/>
          </a:xfrm>
          <a:prstGeom prst="roundRect">
            <a:avLst>
              <a:gd name="adj" fmla="val 50000"/>
            </a:avLst>
          </a:prstGeom>
          <a:solidFill>
            <a:srgbClr val="0FA3B1"/>
          </a:solidFill>
          <a:ln w="12700">
            <a:solidFill>
              <a:srgbClr val="0FA3B1"/>
            </a:solidFill>
            <a:prstDash val="solid"/>
          </a:ln>
        </p:spPr>
      </p:sp>
      <p:sp>
        <p:nvSpPr>
          <p:cNvPr id="10" name="Shape 7"/>
          <p:cNvSpPr/>
          <p:nvPr/>
        </p:nvSpPr>
        <p:spPr>
          <a:xfrm>
            <a:off x="3559268" y="690372"/>
            <a:ext cx="195417" cy="905256"/>
          </a:xfrm>
          <a:prstGeom prst="roundRect">
            <a:avLst>
              <a:gd name="adj" fmla="val 50000"/>
            </a:avLst>
          </a:prstGeom>
          <a:solidFill>
            <a:srgbClr val="0FA3B1"/>
          </a:solidFill>
          <a:ln w="12700">
            <a:solidFill>
              <a:srgbClr val="0FA3B1"/>
            </a:solidFill>
            <a:prstDash val="solid"/>
          </a:ln>
        </p:spPr>
      </p:sp>
      <p:sp>
        <p:nvSpPr>
          <p:cNvPr id="11" name="Shape 8"/>
          <p:cNvSpPr/>
          <p:nvPr/>
        </p:nvSpPr>
        <p:spPr>
          <a:xfrm>
            <a:off x="3963232" y="841248"/>
            <a:ext cx="195417" cy="603504"/>
          </a:xfrm>
          <a:prstGeom prst="roundRect">
            <a:avLst>
              <a:gd name="adj" fmla="val 50000"/>
            </a:avLst>
          </a:prstGeom>
          <a:solidFill>
            <a:srgbClr val="0FA3B1"/>
          </a:solidFill>
          <a:ln w="12700">
            <a:solidFill>
              <a:srgbClr val="0FA3B1"/>
            </a:solidFill>
            <a:prstDash val="solid"/>
          </a:ln>
        </p:spPr>
      </p:sp>
      <p:sp>
        <p:nvSpPr>
          <p:cNvPr id="12" name="Shape 9"/>
          <p:cNvSpPr/>
          <p:nvPr/>
        </p:nvSpPr>
        <p:spPr>
          <a:xfrm>
            <a:off x="4367196" y="992124"/>
            <a:ext cx="195417" cy="301752"/>
          </a:xfrm>
          <a:prstGeom prst="roundRect">
            <a:avLst>
              <a:gd name="adj" fmla="val 50000"/>
            </a:avLst>
          </a:prstGeom>
          <a:solidFill>
            <a:srgbClr val="0FA3B1"/>
          </a:solidFill>
          <a:ln w="12700">
            <a:solidFill>
              <a:srgbClr val="0FA3B1"/>
            </a:solidFill>
            <a:prstDash val="solid"/>
          </a:ln>
        </p:spPr>
      </p:sp>
      <p:sp>
        <p:nvSpPr>
          <p:cNvPr id="13" name="Shape 10"/>
          <p:cNvSpPr/>
          <p:nvPr/>
        </p:nvSpPr>
        <p:spPr>
          <a:xfrm>
            <a:off x="4771160" y="891540"/>
            <a:ext cx="195417" cy="502920"/>
          </a:xfrm>
          <a:prstGeom prst="roundRect">
            <a:avLst>
              <a:gd name="adj" fmla="val 50000"/>
            </a:avLst>
          </a:prstGeom>
          <a:solidFill>
            <a:srgbClr val="0FA3B1"/>
          </a:solidFill>
          <a:ln w="12700">
            <a:solidFill>
              <a:srgbClr val="0FA3B1"/>
            </a:solidFill>
            <a:prstDash val="solid"/>
          </a:ln>
        </p:spPr>
      </p:sp>
      <p:sp>
        <p:nvSpPr>
          <p:cNvPr id="14" name="Shape 11"/>
          <p:cNvSpPr/>
          <p:nvPr/>
        </p:nvSpPr>
        <p:spPr>
          <a:xfrm>
            <a:off x="5175124" y="715518"/>
            <a:ext cx="195417" cy="854964"/>
          </a:xfrm>
          <a:prstGeom prst="roundRect">
            <a:avLst>
              <a:gd name="adj" fmla="val 50000"/>
            </a:avLst>
          </a:prstGeom>
          <a:solidFill>
            <a:srgbClr val="0FA3B1"/>
          </a:solidFill>
          <a:ln w="12700">
            <a:solidFill>
              <a:srgbClr val="0FA3B1"/>
            </a:solidFill>
            <a:prstDash val="solid"/>
          </a:ln>
        </p:spPr>
      </p:sp>
      <p:sp>
        <p:nvSpPr>
          <p:cNvPr id="15" name="Shape 12"/>
          <p:cNvSpPr/>
          <p:nvPr/>
        </p:nvSpPr>
        <p:spPr>
          <a:xfrm>
            <a:off x="5579088" y="816102"/>
            <a:ext cx="195417" cy="653796"/>
          </a:xfrm>
          <a:prstGeom prst="roundRect">
            <a:avLst>
              <a:gd name="adj" fmla="val 50000"/>
            </a:avLst>
          </a:prstGeom>
          <a:solidFill>
            <a:srgbClr val="0FA3B1"/>
          </a:solidFill>
          <a:ln w="12700">
            <a:solidFill>
              <a:srgbClr val="0FA3B1"/>
            </a:solidFill>
            <a:prstDash val="solid"/>
          </a:ln>
        </p:spPr>
      </p:sp>
      <p:sp>
        <p:nvSpPr>
          <p:cNvPr id="16" name="Shape 13"/>
          <p:cNvSpPr/>
          <p:nvPr/>
        </p:nvSpPr>
        <p:spPr>
          <a:xfrm>
            <a:off x="5983052" y="941832"/>
            <a:ext cx="195417" cy="402336"/>
          </a:xfrm>
          <a:prstGeom prst="roundRect">
            <a:avLst>
              <a:gd name="adj" fmla="val 50000"/>
            </a:avLst>
          </a:prstGeom>
          <a:solidFill>
            <a:srgbClr val="0FA3B1"/>
          </a:solidFill>
          <a:ln w="12700">
            <a:solidFill>
              <a:srgbClr val="0FA3B1"/>
            </a:solidFill>
            <a:prstDash val="solid"/>
          </a:ln>
        </p:spPr>
      </p:sp>
      <p:sp>
        <p:nvSpPr>
          <p:cNvPr id="17" name="Shape 14"/>
          <p:cNvSpPr/>
          <p:nvPr/>
        </p:nvSpPr>
        <p:spPr>
          <a:xfrm>
            <a:off x="6387016" y="1017270"/>
            <a:ext cx="195417" cy="251460"/>
          </a:xfrm>
          <a:prstGeom prst="roundRect">
            <a:avLst>
              <a:gd name="adj" fmla="val 50000"/>
            </a:avLst>
          </a:prstGeom>
          <a:solidFill>
            <a:srgbClr val="0FA3B1"/>
          </a:solidFill>
          <a:ln w="12700">
            <a:solidFill>
              <a:srgbClr val="0FA3B1"/>
            </a:solidFill>
            <a:prstDash val="solid"/>
          </a:ln>
        </p:spPr>
      </p:sp>
      <p:sp>
        <p:nvSpPr>
          <p:cNvPr id="18" name="Shape 15"/>
          <p:cNvSpPr/>
          <p:nvPr/>
        </p:nvSpPr>
        <p:spPr>
          <a:xfrm>
            <a:off x="6790980" y="866394"/>
            <a:ext cx="195417" cy="553212"/>
          </a:xfrm>
          <a:prstGeom prst="roundRect">
            <a:avLst>
              <a:gd name="adj" fmla="val 50000"/>
            </a:avLst>
          </a:prstGeom>
          <a:solidFill>
            <a:srgbClr val="0FA3B1"/>
          </a:solidFill>
          <a:ln w="12700">
            <a:solidFill>
              <a:srgbClr val="0FA3B1"/>
            </a:solidFill>
            <a:prstDash val="solid"/>
          </a:ln>
        </p:spPr>
      </p:sp>
      <p:sp>
        <p:nvSpPr>
          <p:cNvPr id="19" name="Shape 16"/>
          <p:cNvSpPr/>
          <p:nvPr/>
        </p:nvSpPr>
        <p:spPr>
          <a:xfrm>
            <a:off x="7194944" y="665226"/>
            <a:ext cx="195417" cy="955548"/>
          </a:xfrm>
          <a:prstGeom prst="roundRect">
            <a:avLst>
              <a:gd name="adj" fmla="val 50000"/>
            </a:avLst>
          </a:prstGeom>
          <a:solidFill>
            <a:srgbClr val="0FA3B1"/>
          </a:solidFill>
          <a:ln w="12700">
            <a:solidFill>
              <a:srgbClr val="0FA3B1"/>
            </a:solidFill>
            <a:prstDash val="solid"/>
          </a:ln>
        </p:spPr>
      </p:sp>
      <p:sp>
        <p:nvSpPr>
          <p:cNvPr id="20" name="Shape 17"/>
          <p:cNvSpPr/>
          <p:nvPr/>
        </p:nvSpPr>
        <p:spPr>
          <a:xfrm>
            <a:off x="7598908" y="790956"/>
            <a:ext cx="195417" cy="704088"/>
          </a:xfrm>
          <a:prstGeom prst="roundRect">
            <a:avLst>
              <a:gd name="adj" fmla="val 50000"/>
            </a:avLst>
          </a:prstGeom>
          <a:solidFill>
            <a:srgbClr val="0FA3B1"/>
          </a:solidFill>
          <a:ln w="12700">
            <a:solidFill>
              <a:srgbClr val="0FA3B1"/>
            </a:solidFill>
            <a:prstDash val="solid"/>
          </a:ln>
        </p:spPr>
      </p:sp>
      <p:sp>
        <p:nvSpPr>
          <p:cNvPr id="21" name="Shape 18"/>
          <p:cNvSpPr/>
          <p:nvPr/>
        </p:nvSpPr>
        <p:spPr>
          <a:xfrm>
            <a:off x="8002872" y="966978"/>
            <a:ext cx="195417" cy="352044"/>
          </a:xfrm>
          <a:prstGeom prst="roundRect">
            <a:avLst>
              <a:gd name="adj" fmla="val 50000"/>
            </a:avLst>
          </a:prstGeom>
          <a:solidFill>
            <a:srgbClr val="0FA3B1"/>
          </a:solidFill>
          <a:ln w="12700">
            <a:solidFill>
              <a:srgbClr val="0FA3B1"/>
            </a:solidFill>
            <a:prstDash val="solid"/>
          </a:ln>
        </p:spPr>
      </p:sp>
      <p:sp>
        <p:nvSpPr>
          <p:cNvPr id="22" name="Shape 19"/>
          <p:cNvSpPr/>
          <p:nvPr/>
        </p:nvSpPr>
        <p:spPr>
          <a:xfrm>
            <a:off x="8406836" y="841248"/>
            <a:ext cx="195417" cy="603504"/>
          </a:xfrm>
          <a:prstGeom prst="roundRect">
            <a:avLst>
              <a:gd name="adj" fmla="val 50000"/>
            </a:avLst>
          </a:prstGeom>
          <a:solidFill>
            <a:srgbClr val="0FA3B1"/>
          </a:solidFill>
          <a:ln w="12700">
            <a:solidFill>
              <a:srgbClr val="0FA3B1"/>
            </a:solidFill>
            <a:prstDash val="solid"/>
          </a:ln>
        </p:spPr>
      </p:sp>
      <p:sp>
        <p:nvSpPr>
          <p:cNvPr id="23" name="Shape 20"/>
          <p:cNvSpPr/>
          <p:nvPr/>
        </p:nvSpPr>
        <p:spPr>
          <a:xfrm>
            <a:off x="8810800" y="740664"/>
            <a:ext cx="195417" cy="804672"/>
          </a:xfrm>
          <a:prstGeom prst="roundRect">
            <a:avLst>
              <a:gd name="adj" fmla="val 50000"/>
            </a:avLst>
          </a:prstGeom>
          <a:solidFill>
            <a:srgbClr val="0FA3B1"/>
          </a:solidFill>
          <a:ln w="12700">
            <a:solidFill>
              <a:srgbClr val="0FA3B1"/>
            </a:solidFill>
            <a:prstDash val="solid"/>
          </a:ln>
        </p:spPr>
      </p:sp>
      <p:sp>
        <p:nvSpPr>
          <p:cNvPr id="24" name="Shape 21"/>
          <p:cNvSpPr/>
          <p:nvPr/>
        </p:nvSpPr>
        <p:spPr>
          <a:xfrm>
            <a:off x="9214764" y="916686"/>
            <a:ext cx="195417" cy="452628"/>
          </a:xfrm>
          <a:prstGeom prst="roundRect">
            <a:avLst>
              <a:gd name="adj" fmla="val 50000"/>
            </a:avLst>
          </a:prstGeom>
          <a:solidFill>
            <a:srgbClr val="0FA3B1"/>
          </a:solidFill>
          <a:ln w="12700">
            <a:solidFill>
              <a:srgbClr val="0FA3B1"/>
            </a:solidFill>
            <a:prstDash val="solid"/>
          </a:ln>
        </p:spPr>
      </p:sp>
      <p:sp>
        <p:nvSpPr>
          <p:cNvPr id="25" name="Shape 22"/>
          <p:cNvSpPr/>
          <p:nvPr/>
        </p:nvSpPr>
        <p:spPr>
          <a:xfrm>
            <a:off x="9618727" y="992124"/>
            <a:ext cx="195417" cy="301752"/>
          </a:xfrm>
          <a:prstGeom prst="roundRect">
            <a:avLst>
              <a:gd name="adj" fmla="val 50000"/>
            </a:avLst>
          </a:prstGeom>
          <a:solidFill>
            <a:srgbClr val="0FA3B1"/>
          </a:solidFill>
          <a:ln w="12700">
            <a:solidFill>
              <a:srgbClr val="0FA3B1"/>
            </a:solidFill>
            <a:prstDash val="solid"/>
          </a:ln>
        </p:spPr>
      </p:sp>
      <p:sp>
        <p:nvSpPr>
          <p:cNvPr id="26" name="Shape 23"/>
          <p:cNvSpPr/>
          <p:nvPr/>
        </p:nvSpPr>
        <p:spPr>
          <a:xfrm>
            <a:off x="10022691" y="891540"/>
            <a:ext cx="195417" cy="502920"/>
          </a:xfrm>
          <a:prstGeom prst="roundRect">
            <a:avLst>
              <a:gd name="adj" fmla="val 50000"/>
            </a:avLst>
          </a:prstGeom>
          <a:solidFill>
            <a:srgbClr val="0FA3B1"/>
          </a:solidFill>
          <a:ln w="12700">
            <a:solidFill>
              <a:srgbClr val="0FA3B1"/>
            </a:solidFill>
            <a:prstDash val="solid"/>
          </a:ln>
        </p:spPr>
      </p:sp>
      <p:sp>
        <p:nvSpPr>
          <p:cNvPr id="27" name="Shape 24"/>
          <p:cNvSpPr/>
          <p:nvPr/>
        </p:nvSpPr>
        <p:spPr>
          <a:xfrm>
            <a:off x="10426655" y="790956"/>
            <a:ext cx="195417" cy="704088"/>
          </a:xfrm>
          <a:prstGeom prst="roundRect">
            <a:avLst>
              <a:gd name="adj" fmla="val 50000"/>
            </a:avLst>
          </a:prstGeom>
          <a:solidFill>
            <a:srgbClr val="0FA3B1"/>
          </a:solidFill>
          <a:ln w="12700">
            <a:solidFill>
              <a:srgbClr val="0FA3B1"/>
            </a:solidFill>
            <a:prstDash val="solid"/>
          </a:ln>
        </p:spPr>
      </p:sp>
      <p:sp>
        <p:nvSpPr>
          <p:cNvPr id="28" name="Shape 25"/>
          <p:cNvSpPr/>
          <p:nvPr/>
        </p:nvSpPr>
        <p:spPr>
          <a:xfrm>
            <a:off x="10830619" y="941832"/>
            <a:ext cx="195417" cy="402336"/>
          </a:xfrm>
          <a:prstGeom prst="roundRect">
            <a:avLst>
              <a:gd name="adj" fmla="val 50000"/>
            </a:avLst>
          </a:prstGeom>
          <a:solidFill>
            <a:srgbClr val="0FA3B1"/>
          </a:solidFill>
          <a:ln w="12700">
            <a:solidFill>
              <a:srgbClr val="0FA3B1"/>
            </a:solidFill>
            <a:prstDash val="solid"/>
          </a:ln>
        </p:spPr>
      </p:sp>
      <p:sp>
        <p:nvSpPr>
          <p:cNvPr id="29" name="Shape 26"/>
          <p:cNvSpPr/>
          <p:nvPr/>
        </p:nvSpPr>
        <p:spPr>
          <a:xfrm>
            <a:off x="11234583" y="1042416"/>
            <a:ext cx="195417" cy="201168"/>
          </a:xfrm>
          <a:prstGeom prst="roundRect">
            <a:avLst>
              <a:gd name="adj" fmla="val 50000"/>
            </a:avLst>
          </a:prstGeom>
          <a:solidFill>
            <a:srgbClr val="0FA3B1"/>
          </a:solidFill>
          <a:ln w="12700">
            <a:solidFill>
              <a:srgbClr val="0FA3B1"/>
            </a:solidFill>
            <a:prstDash val="solid"/>
          </a:ln>
        </p:spPr>
      </p:sp>
      <p:sp>
        <p:nvSpPr>
          <p:cNvPr id="30" name="Text 27"/>
          <p:cNvSpPr txBox="1"/>
          <p:nvPr/>
        </p:nvSpPr>
        <p:spPr>
          <a:xfrm>
            <a:off x="731520" y="1920240"/>
            <a:ext cx="7315200" cy="1005840"/>
          </a:xfrm>
          <a:prstGeom prst="rect">
            <a:avLst/>
          </a:prstGeom>
          <a:noFill/>
          <a:ln/>
        </p:spPr>
        <p:txBody>
          <a:bodyPr wrap="square" lIns="0" tIns="0" rIns="0" bIns="0" rtlCol="0" anchor="t"/>
          <a:lstStyle/>
          <a:p>
            <a:pPr indent="0" marL="0">
              <a:buNone/>
            </a:pPr>
            <a:r>
              <a:rPr lang="en-US" sz="6000" b="1" dirty="0">
                <a:solidFill>
                  <a:srgbClr val="0FA3B1"/>
                </a:solidFill>
                <a:latin typeface="Calibri" pitchFamily="34" charset="0"/>
                <a:ea typeface="Calibri" pitchFamily="34" charset="-122"/>
                <a:cs typeface="Calibri" pitchFamily="34" charset="-120"/>
              </a:rPr>
              <a:t>Speak. </a:t>
            </a:r>
            <a:pPr indent="0" marL="0">
              <a:buNone/>
            </a:pPr>
            <a:r>
              <a:rPr lang="en-US" sz="6000" b="1" dirty="0">
                <a:solidFill>
                  <a:srgbClr val="F2A93B"/>
                </a:solidFill>
                <a:latin typeface="Calibri" pitchFamily="34" charset="0"/>
                <a:ea typeface="Calibri" pitchFamily="34" charset="-122"/>
                <a:cs typeface="Calibri" pitchFamily="34" charset="-120"/>
              </a:rPr>
              <a:t>Call. </a:t>
            </a:r>
            <a:pPr indent="0" marL="0">
              <a:buNone/>
            </a:pPr>
            <a:r>
              <a:rPr lang="en-US" sz="6000" b="1" dirty="0">
                <a:solidFill>
                  <a:srgbClr val="E4572E"/>
                </a:solidFill>
                <a:latin typeface="Calibri" pitchFamily="34" charset="0"/>
                <a:ea typeface="Calibri" pitchFamily="34" charset="-122"/>
                <a:cs typeface="Calibri" pitchFamily="34" charset="-120"/>
              </a:rPr>
              <a:t>Act.</a:t>
            </a:r>
            <a:endParaRPr lang="en-US" sz="6000" dirty="0"/>
          </a:p>
        </p:txBody>
      </p:sp>
      <p:sp>
        <p:nvSpPr>
          <p:cNvPr id="31" name="Text 28"/>
          <p:cNvSpPr txBox="1"/>
          <p:nvPr/>
        </p:nvSpPr>
        <p:spPr>
          <a:xfrm>
            <a:off x="731520" y="3017520"/>
            <a:ext cx="7680960" cy="914400"/>
          </a:xfrm>
          <a:prstGeom prst="rect">
            <a:avLst/>
          </a:prstGeom>
          <a:noFill/>
          <a:ln/>
        </p:spPr>
        <p:txBody>
          <a:bodyPr wrap="square" lIns="0" tIns="0" rIns="0" bIns="0" rtlCol="0" anchor="t"/>
          <a:lstStyle/>
          <a:p>
            <a:pPr indent="0" marL="0">
              <a:lnSpc>
                <a:spcPct val="115000"/>
              </a:lnSpc>
              <a:buNone/>
            </a:pPr>
            <a:r>
              <a:rPr lang="en-US" sz="1700" dirty="0">
                <a:solidFill>
                  <a:srgbClr val="DCE4EE"/>
                </a:solidFill>
                <a:latin typeface="Calibri" pitchFamily="34" charset="0"/>
                <a:ea typeface="Calibri" pitchFamily="34" charset="-122"/>
                <a:cs typeface="Calibri" pitchFamily="34" charset="-120"/>
              </a:rPr>
              <a:t>Dataset, evaluation harness and audio samples are released.</a:t>
            </a:r>
            <a:endParaRPr lang="en-US" sz="1700" dirty="0"/>
          </a:p>
          <a:p>
            <a:pPr indent="0" marL="0">
              <a:lnSpc>
                <a:spcPct val="115000"/>
              </a:lnSpc>
              <a:buNone/>
            </a:pPr>
            <a:r>
              <a:rPr lang="en-US" sz="1700" dirty="0">
                <a:solidFill>
                  <a:srgbClr val="DCE4EE"/>
                </a:solidFill>
                <a:latin typeface="Calibri" pitchFamily="34" charset="0"/>
                <a:ea typeface="Calibri" pitchFamily="34" charset="-122"/>
                <a:cs typeface="Calibri" pitchFamily="34" charset="-120"/>
              </a:rPr>
              <a:t>We would love to see your model on the leaderboard, one tier at a time.</a:t>
            </a:r>
            <a:endParaRPr lang="en-US" sz="1700" dirty="0"/>
          </a:p>
        </p:txBody>
      </p:sp>
      <p:pic>
        <p:nvPicPr>
          <p:cNvPr id="32" name="Image 0" descr="preencoded.png">    </p:cNvPr>
          <p:cNvPicPr>
            <a:picLocks noChangeAspect="1"/>
          </p:cNvPicPr>
          <p:nvPr/>
        </p:nvPicPr>
        <p:blipFill>
          <a:blip r:embed="rId1"/>
          <a:stretch>
            <a:fillRect/>
          </a:stretch>
        </p:blipFill>
        <p:spPr>
          <a:xfrm>
            <a:off x="777240" y="4215384"/>
            <a:ext cx="310896" cy="310896"/>
          </a:xfrm>
          <a:prstGeom prst="rect">
            <a:avLst/>
          </a:prstGeom>
        </p:spPr>
      </p:pic>
      <p:sp>
        <p:nvSpPr>
          <p:cNvPr id="33" name="Text 29"/>
          <p:cNvSpPr txBox="1"/>
          <p:nvPr/>
        </p:nvSpPr>
        <p:spPr>
          <a:xfrm>
            <a:off x="1280160" y="4160520"/>
            <a:ext cx="6858000" cy="42062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audio2tool.github.io   </a:t>
            </a:r>
            <a:pPr indent="0" marL="0">
              <a:buNone/>
            </a:pPr>
            <a:r>
              <a:rPr lang="en-US" sz="1600" dirty="0">
                <a:solidFill>
                  <a:srgbClr val="8A97A8"/>
                </a:solidFill>
                <a:latin typeface="Calibri" pitchFamily="34" charset="0"/>
                <a:ea typeface="Calibri" pitchFamily="34" charset="-122"/>
                <a:cs typeface="Calibri" pitchFamily="34" charset="-120"/>
              </a:rPr>
              <a:t>samples, dataset, benchmark</a:t>
            </a:r>
            <a:endParaRPr lang="en-US" sz="1600" dirty="0"/>
          </a:p>
        </p:txBody>
      </p:sp>
      <p:pic>
        <p:nvPicPr>
          <p:cNvPr id="34" name="Image 1" descr="preencoded.png">    </p:cNvPr>
          <p:cNvPicPr>
            <a:picLocks noChangeAspect="1"/>
          </p:cNvPicPr>
          <p:nvPr/>
        </p:nvPicPr>
        <p:blipFill>
          <a:blip r:embed="rId2"/>
          <a:stretch>
            <a:fillRect/>
          </a:stretch>
        </p:blipFill>
        <p:spPr>
          <a:xfrm>
            <a:off x="777240" y="4718304"/>
            <a:ext cx="310896" cy="310896"/>
          </a:xfrm>
          <a:prstGeom prst="rect">
            <a:avLst/>
          </a:prstGeom>
        </p:spPr>
      </p:pic>
      <p:sp>
        <p:nvSpPr>
          <p:cNvPr id="35" name="Text 30"/>
          <p:cNvSpPr txBox="1"/>
          <p:nvPr/>
        </p:nvSpPr>
        <p:spPr>
          <a:xfrm>
            <a:off x="1280160" y="4663440"/>
            <a:ext cx="6858000" cy="42062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arXiv:2604.22821   </a:t>
            </a:r>
            <a:pPr indent="0" marL="0">
              <a:buNone/>
            </a:pPr>
            <a:r>
              <a:rPr lang="en-US" sz="1600" dirty="0">
                <a:solidFill>
                  <a:srgbClr val="8A97A8"/>
                </a:solidFill>
                <a:latin typeface="Calibri" pitchFamily="34" charset="0"/>
                <a:ea typeface="Calibri" pitchFamily="34" charset="-122"/>
                <a:cs typeface="Calibri" pitchFamily="34" charset="-120"/>
              </a:rPr>
              <a:t>paper</a:t>
            </a:r>
            <a:endParaRPr lang="en-US" sz="1600" dirty="0"/>
          </a:p>
        </p:txBody>
      </p:sp>
      <p:pic>
        <p:nvPicPr>
          <p:cNvPr id="36" name="Image 2" descr="preencoded.png">    </p:cNvPr>
          <p:cNvPicPr>
            <a:picLocks noChangeAspect="1"/>
          </p:cNvPicPr>
          <p:nvPr/>
        </p:nvPicPr>
        <p:blipFill>
          <a:blip r:embed="rId3"/>
          <a:stretch>
            <a:fillRect/>
          </a:stretch>
        </p:blipFill>
        <p:spPr>
          <a:xfrm>
            <a:off x="777240" y="5221224"/>
            <a:ext cx="310896" cy="310896"/>
          </a:xfrm>
          <a:prstGeom prst="rect">
            <a:avLst/>
          </a:prstGeom>
        </p:spPr>
      </p:pic>
      <p:sp>
        <p:nvSpPr>
          <p:cNvPr id="37" name="Text 31"/>
          <p:cNvSpPr txBox="1"/>
          <p:nvPr/>
        </p:nvSpPr>
        <p:spPr>
          <a:xfrm>
            <a:off x="1280160" y="5166360"/>
            <a:ext cx="6858000" cy="42062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github.com/RamitPahwa/Audio2Tool   </a:t>
            </a:r>
            <a:pPr indent="0" marL="0">
              <a:buNone/>
            </a:pPr>
            <a:r>
              <a:rPr lang="en-US" sz="1600" dirty="0">
                <a:solidFill>
                  <a:srgbClr val="8A97A8"/>
                </a:solidFill>
                <a:latin typeface="Calibri" pitchFamily="34" charset="0"/>
                <a:ea typeface="Calibri" pitchFamily="34" charset="-122"/>
                <a:cs typeface="Calibri" pitchFamily="34" charset="-120"/>
              </a:rPr>
              <a:t>code</a:t>
            </a:r>
            <a:endParaRPr lang="en-US" sz="1600" dirty="0"/>
          </a:p>
        </p:txBody>
      </p:sp>
      <p:pic>
        <p:nvPicPr>
          <p:cNvPr id="38" name="Image 3" descr="preencoded.png">    </p:cNvPr>
          <p:cNvPicPr>
            <a:picLocks noChangeAspect="1"/>
          </p:cNvPicPr>
          <p:nvPr/>
        </p:nvPicPr>
        <p:blipFill>
          <a:blip r:embed="rId4"/>
          <a:stretch>
            <a:fillRect/>
          </a:stretch>
        </p:blipFill>
        <p:spPr>
          <a:xfrm>
            <a:off x="777240" y="5724144"/>
            <a:ext cx="310896" cy="310896"/>
          </a:xfrm>
          <a:prstGeom prst="rect">
            <a:avLst/>
          </a:prstGeom>
        </p:spPr>
      </p:pic>
      <p:sp>
        <p:nvSpPr>
          <p:cNvPr id="39" name="Text 32"/>
          <p:cNvSpPr txBox="1"/>
          <p:nvPr/>
        </p:nvSpPr>
        <p:spPr>
          <a:xfrm>
            <a:off x="1280160" y="5669280"/>
            <a:ext cx="6858000" cy="42062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ramitpahwa@rivianvw.tech   </a:t>
            </a:r>
            <a:pPr indent="0" marL="0">
              <a:buNone/>
            </a:pPr>
            <a:r>
              <a:rPr lang="en-US" sz="1600" dirty="0">
                <a:solidFill>
                  <a:srgbClr val="8A97A8"/>
                </a:solidFill>
                <a:latin typeface="Calibri" pitchFamily="34" charset="0"/>
                <a:ea typeface="Calibri" pitchFamily="34" charset="-122"/>
                <a:cs typeface="Calibri" pitchFamily="34" charset="-120"/>
              </a:rPr>
              <a:t>contact</a:t>
            </a:r>
            <a:endParaRPr lang="en-US" sz="1600" dirty="0"/>
          </a:p>
        </p:txBody>
      </p:sp>
      <p:sp>
        <p:nvSpPr>
          <p:cNvPr id="40" name="Shape 33"/>
          <p:cNvSpPr/>
          <p:nvPr/>
        </p:nvSpPr>
        <p:spPr>
          <a:xfrm>
            <a:off x="8732520" y="1920240"/>
            <a:ext cx="2926080" cy="3520440"/>
          </a:xfrm>
          <a:prstGeom prst="roundRect">
            <a:avLst>
              <a:gd name="adj" fmla="val 4688"/>
            </a:avLst>
          </a:prstGeom>
          <a:solidFill>
            <a:srgbClr val="FFFFFF"/>
          </a:solidFill>
          <a:ln w="12700">
            <a:solidFill>
              <a:srgbClr val="FFFFFF"/>
            </a:solidFill>
            <a:prstDash val="solid"/>
          </a:ln>
        </p:spPr>
      </p:sp>
      <p:pic>
        <p:nvPicPr>
          <p:cNvPr id="41" name="Image 4" descr="/home/user/Audio2Tool/presentation/src/assets/qr_demo.png">    </p:cNvPr>
          <p:cNvPicPr>
            <a:picLocks noChangeAspect="1"/>
          </p:cNvPicPr>
          <p:nvPr/>
        </p:nvPicPr>
        <p:blipFill>
          <a:blip r:embed="rId5"/>
          <a:stretch>
            <a:fillRect/>
          </a:stretch>
        </p:blipFill>
        <p:spPr>
          <a:xfrm>
            <a:off x="8915400" y="2103120"/>
            <a:ext cx="2560320" cy="2560320"/>
          </a:xfrm>
          <a:prstGeom prst="rect">
            <a:avLst/>
          </a:prstGeom>
        </p:spPr>
      </p:pic>
      <p:sp>
        <p:nvSpPr>
          <p:cNvPr id="42" name="Text 34"/>
          <p:cNvSpPr txBox="1"/>
          <p:nvPr/>
        </p:nvSpPr>
        <p:spPr>
          <a:xfrm>
            <a:off x="8732520" y="4709160"/>
            <a:ext cx="2926080" cy="365760"/>
          </a:xfrm>
          <a:prstGeom prst="rect">
            <a:avLst/>
          </a:prstGeom>
          <a:noFill/>
          <a:ln/>
        </p:spPr>
        <p:txBody>
          <a:bodyPr wrap="square" lIns="0" tIns="0" rIns="0" bIns="0" rtlCol="0" anchor="t"/>
          <a:lstStyle/>
          <a:p>
            <a:pPr algn="ctr" indent="0" marL="0">
              <a:buNone/>
            </a:pPr>
            <a:r>
              <a:rPr lang="en-US" sz="1400" b="1" dirty="0">
                <a:solidFill>
                  <a:srgbClr val="0F1B2D"/>
                </a:solidFill>
                <a:latin typeface="Calibri" pitchFamily="34" charset="0"/>
                <a:ea typeface="Calibri" pitchFamily="34" charset="-122"/>
                <a:cs typeface="Calibri" pitchFamily="34" charset="-120"/>
              </a:rPr>
              <a:t>audio2tool.github.io</a:t>
            </a:r>
            <a:endParaRPr lang="en-US" sz="1400" dirty="0"/>
          </a:p>
        </p:txBody>
      </p:sp>
      <p:sp>
        <p:nvSpPr>
          <p:cNvPr id="43" name="Text 35"/>
          <p:cNvSpPr txBox="1"/>
          <p:nvPr/>
        </p:nvSpPr>
        <p:spPr>
          <a:xfrm>
            <a:off x="8732520" y="5029200"/>
            <a:ext cx="2926080" cy="320040"/>
          </a:xfrm>
          <a:prstGeom prst="rect">
            <a:avLst/>
          </a:prstGeom>
          <a:noFill/>
          <a:ln/>
        </p:spPr>
        <p:txBody>
          <a:bodyPr wrap="square" lIns="0" tIns="0" rIns="0" bIns="0" rtlCol="0" anchor="t"/>
          <a:lstStyle/>
          <a:p>
            <a:pPr algn="ctr" indent="0" marL="0">
              <a:buNone/>
            </a:pPr>
            <a:r>
              <a:rPr lang="en-US" sz="1150" dirty="0">
                <a:solidFill>
                  <a:srgbClr val="5B6B7F"/>
                </a:solidFill>
                <a:latin typeface="Calibri" pitchFamily="34" charset="0"/>
                <a:ea typeface="Calibri" pitchFamily="34" charset="-122"/>
                <a:cs typeface="Calibri" pitchFamily="34" charset="-120"/>
              </a:rPr>
              <a:t>listen to Tier 6, 7 and 8 samples</a:t>
            </a:r>
            <a:endParaRPr lang="en-US" sz="1150" dirty="0"/>
          </a:p>
        </p:txBody>
      </p:sp>
      <p:sp>
        <p:nvSpPr>
          <p:cNvPr id="44" name="Text 36"/>
          <p:cNvSpPr txBox="1"/>
          <p:nvPr/>
        </p:nvSpPr>
        <p:spPr>
          <a:xfrm>
            <a:off x="731520" y="6172200"/>
            <a:ext cx="10972800" cy="411480"/>
          </a:xfrm>
          <a:prstGeom prst="rect">
            <a:avLst/>
          </a:prstGeom>
          <a:noFill/>
          <a:ln/>
        </p:spPr>
        <p:txBody>
          <a:bodyPr wrap="square" lIns="0" tIns="0" rIns="0" bIns="0" rtlCol="0" anchor="t"/>
          <a:lstStyle/>
          <a:p>
            <a:pPr indent="0" marL="0">
              <a:buNone/>
            </a:pPr>
            <a:r>
              <a:rPr lang="en-US" sz="1800" b="1" dirty="0">
                <a:solidFill>
                  <a:srgbClr val="0FA3B1"/>
                </a:solidFill>
                <a:latin typeface="Calibri" pitchFamily="34" charset="0"/>
                <a:ea typeface="Calibri" pitchFamily="34" charset="-122"/>
                <a:cs typeface="Calibri" pitchFamily="34" charset="-120"/>
              </a:rPr>
              <a:t>Thank you  ·  Questions?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5B6B7F"/>
                </a:solidFill>
                <a:latin typeface="Calibri" pitchFamily="34" charset="0"/>
                <a:ea typeface="Calibri" pitchFamily="34" charset="-122"/>
                <a:cs typeface="Calibri" pitchFamily="34" charset="-120"/>
              </a:rPr>
              <a:t>BACKUP</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Full results by tier (paper Table 3)</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17</a:t>
            </a:r>
            <a:endParaRPr lang="en-US" sz="1000" dirty="0"/>
          </a:p>
        </p:txBody>
      </p:sp>
      <p:pic>
        <p:nvPicPr>
          <p:cNvPr id="14" name="Image 0" descr="/home/user/Audio2Tool/presentation/src/assets/table3.png">    </p:cNvPr>
          <p:cNvPicPr>
            <a:picLocks noChangeAspect="1"/>
          </p:cNvPicPr>
          <p:nvPr/>
        </p:nvPicPr>
        <p:blipFill>
          <a:blip r:embed="rId1"/>
          <a:stretch>
            <a:fillRect/>
          </a:stretch>
        </p:blipFill>
        <p:spPr>
          <a:xfrm>
            <a:off x="548640" y="1554480"/>
            <a:ext cx="11091672" cy="4114800"/>
          </a:xfrm>
          <a:prstGeom prst="rect">
            <a:avLst/>
          </a:prstGeom>
        </p:spPr>
      </p:pic>
      <p:sp>
        <p:nvSpPr>
          <p:cNvPr id="15" name="Text 11"/>
          <p:cNvSpPr txBox="1"/>
          <p:nvPr/>
        </p:nvSpPr>
        <p:spPr>
          <a:xfrm>
            <a:off x="548640" y="5669280"/>
            <a:ext cx="11064240" cy="54864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Rows 1–4: oracle (gold transcript) + text LLM  ·  rows 5–9: Whisper-v3 + text LLM  ·  rows 10–14: end-to-end SpeechLMs.  Acc = tool accuracy, EM = exact match, F1 = parameter F1. F1 undefined for Tier 1 (no parameters).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5B6B7F"/>
                </a:solidFill>
                <a:latin typeface="Calibri" pitchFamily="34" charset="0"/>
                <a:ea typeface="Calibri" pitchFamily="34" charset="-122"/>
                <a:cs typeface="Calibri" pitchFamily="34" charset="-120"/>
              </a:rPr>
              <a:t>BACKUP</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The ASR tax: gold transcripts add 10–14 points of tool accuracy to the same LLM</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18</a:t>
            </a:r>
            <a:endParaRPr lang="en-US" sz="1000" dirty="0"/>
          </a:p>
        </p:txBody>
      </p:sp>
      <p:graphicFrame>
        <p:nvGraphicFramePr>
          <p:cNvPr id="14" name="Chart 0" descr=""/>
          <p:cNvGraphicFramePr/>
          <p:nvPr/>
        </p:nvGraphicFramePr>
        <p:xfrm>
          <a:off x="457200" y="1600200"/>
          <a:ext cx="7589520" cy="4526280"/>
        </p:xfrm>
        <a:graphic xmlns:a="http://schemas.openxmlformats.org/drawingml/2006/main">
          <a:graphicData uri="http://schemas.openxmlformats.org/drawingml/2006/chart">
            <c:chart xmlns:c="http://schemas.openxmlformats.org/drawingml/2006/chart" r:id="rId1"/>
          </a:graphicData>
        </a:graphic>
      </p:graphicFrame>
      <p:sp>
        <p:nvSpPr>
          <p:cNvPr id="15" name="Shape 11"/>
          <p:cNvSpPr/>
          <p:nvPr/>
        </p:nvSpPr>
        <p:spPr>
          <a:xfrm>
            <a:off x="8275320" y="1691640"/>
            <a:ext cx="3364992" cy="4389120"/>
          </a:xfrm>
          <a:prstGeom prst="roundRect">
            <a:avLst>
              <a:gd name="adj" fmla="val 3261"/>
            </a:avLst>
          </a:prstGeom>
          <a:solidFill>
            <a:srgbClr val="F1F5F9"/>
          </a:solidFill>
          <a:ln w="12700">
            <a:solidFill>
              <a:srgbClr val="F1F5F9"/>
            </a:solidFill>
            <a:prstDash val="solid"/>
          </a:ln>
        </p:spPr>
      </p:sp>
      <p:sp>
        <p:nvSpPr>
          <p:cNvPr id="16" name="Text 12"/>
          <p:cNvSpPr txBox="1"/>
          <p:nvPr/>
        </p:nvSpPr>
        <p:spPr>
          <a:xfrm>
            <a:off x="8458200" y="1828800"/>
            <a:ext cx="3017520" cy="640080"/>
          </a:xfrm>
          <a:prstGeom prst="rect">
            <a:avLst/>
          </a:prstGeom>
          <a:noFill/>
          <a:ln/>
        </p:spPr>
        <p:txBody>
          <a:bodyPr wrap="square" lIns="0" tIns="0" rIns="0" bIns="0" rtlCol="0" anchor="t"/>
          <a:lstStyle/>
          <a:p>
            <a:pPr indent="0" marL="0">
              <a:buNone/>
            </a:pPr>
            <a:r>
              <a:rPr lang="en-US" sz="1500" b="1" dirty="0">
                <a:solidFill>
                  <a:srgbClr val="0F1B2D"/>
                </a:solidFill>
                <a:latin typeface="Calibri" pitchFamily="34" charset="0"/>
                <a:ea typeface="Calibri" pitchFamily="34" charset="-122"/>
                <a:cs typeface="Calibri" pitchFamily="34" charset="-120"/>
              </a:rPr>
              <a:t>Qwen3-8B gap</a:t>
            </a:r>
            <a:endParaRPr lang="en-US" sz="1500" dirty="0"/>
          </a:p>
          <a:p>
            <a:pPr indent="0" marL="0">
              <a:buNone/>
            </a:pPr>
            <a:r>
              <a:rPr lang="en-US" sz="1500" b="1" dirty="0">
                <a:solidFill>
                  <a:srgbClr val="0F1B2D"/>
                </a:solidFill>
                <a:latin typeface="Calibri" pitchFamily="34" charset="0"/>
                <a:ea typeface="Calibri" pitchFamily="34" charset="-122"/>
                <a:cs typeface="Calibri" pitchFamily="34" charset="-120"/>
              </a:rPr>
              <a:t>(gold − Whisper)</a:t>
            </a:r>
            <a:endParaRPr lang="en-US" sz="1500" dirty="0"/>
          </a:p>
        </p:txBody>
      </p:sp>
      <p:sp>
        <p:nvSpPr>
          <p:cNvPr id="17" name="Text 13"/>
          <p:cNvSpPr txBox="1"/>
          <p:nvPr/>
        </p:nvSpPr>
        <p:spPr>
          <a:xfrm>
            <a:off x="8458200" y="2468880"/>
            <a:ext cx="3017520" cy="2743200"/>
          </a:xfrm>
          <a:prstGeom prst="rect">
            <a:avLst/>
          </a:prstGeom>
          <a:noFill/>
          <a:ln/>
        </p:spPr>
        <p:txBody>
          <a:bodyPr wrap="square" lIns="0" tIns="0" rIns="0" bIns="0" rtlCol="0" anchor="t"/>
          <a:lstStyle/>
          <a:p>
            <a:pPr indent="0" marL="0">
              <a:lnSpc>
                <a:spcPct val="130000"/>
              </a:lnSpc>
              <a:buNone/>
            </a:pPr>
            <a:r>
              <a:rPr lang="en-US" sz="1400" dirty="0">
                <a:solidFill>
                  <a:srgbClr val="1B2A41"/>
                </a:solidFill>
                <a:latin typeface="Courier New" pitchFamily="34" charset="0"/>
                <a:ea typeface="Courier New" pitchFamily="34" charset="-122"/>
                <a:cs typeface="Courier New" pitchFamily="34" charset="-120"/>
              </a:rPr>
              <a:t>T1   +7.5</a:t>
            </a:r>
            <a:endParaRPr lang="en-US" sz="1400" dirty="0"/>
          </a:p>
          <a:p>
            <a:pPr indent="0" marL="0">
              <a:lnSpc>
                <a:spcPct val="130000"/>
              </a:lnSpc>
              <a:buNone/>
            </a:pPr>
            <a:r>
              <a:rPr lang="en-US" sz="1400" dirty="0">
                <a:solidFill>
                  <a:srgbClr val="1B2A41"/>
                </a:solidFill>
                <a:latin typeface="Courier New" pitchFamily="34" charset="0"/>
                <a:ea typeface="Courier New" pitchFamily="34" charset="-122"/>
                <a:cs typeface="Courier New" pitchFamily="34" charset="-120"/>
              </a:rPr>
              <a:t>T2   +9.7</a:t>
            </a:r>
            <a:endParaRPr lang="en-US" sz="1400" dirty="0"/>
          </a:p>
          <a:p>
            <a:pPr indent="0" marL="0">
              <a:lnSpc>
                <a:spcPct val="130000"/>
              </a:lnSpc>
              <a:buNone/>
            </a:pPr>
            <a:r>
              <a:rPr lang="en-US" sz="1400" dirty="0">
                <a:solidFill>
                  <a:srgbClr val="1B2A41"/>
                </a:solidFill>
                <a:latin typeface="Courier New" pitchFamily="34" charset="0"/>
                <a:ea typeface="Courier New" pitchFamily="34" charset="-122"/>
                <a:cs typeface="Courier New" pitchFamily="34" charset="-120"/>
              </a:rPr>
              <a:t>T3   +13.2</a:t>
            </a:r>
            <a:endParaRPr lang="en-US" sz="1400" dirty="0"/>
          </a:p>
          <a:p>
            <a:pPr indent="0" marL="0">
              <a:lnSpc>
                <a:spcPct val="130000"/>
              </a:lnSpc>
              <a:buNone/>
            </a:pPr>
            <a:r>
              <a:rPr lang="en-US" sz="1400" dirty="0">
                <a:solidFill>
                  <a:srgbClr val="1B2A41"/>
                </a:solidFill>
                <a:latin typeface="Courier New" pitchFamily="34" charset="0"/>
                <a:ea typeface="Courier New" pitchFamily="34" charset="-122"/>
                <a:cs typeface="Courier New" pitchFamily="34" charset="-120"/>
              </a:rPr>
              <a:t>T4   +9.2</a:t>
            </a:r>
            <a:endParaRPr lang="en-US" sz="1400" dirty="0"/>
          </a:p>
          <a:p>
            <a:pPr indent="0" marL="0">
              <a:lnSpc>
                <a:spcPct val="130000"/>
              </a:lnSpc>
              <a:buNone/>
            </a:pPr>
            <a:r>
              <a:rPr lang="en-US" sz="1400" dirty="0">
                <a:solidFill>
                  <a:srgbClr val="1B2A41"/>
                </a:solidFill>
                <a:latin typeface="Courier New" pitchFamily="34" charset="0"/>
                <a:ea typeface="Courier New" pitchFamily="34" charset="-122"/>
                <a:cs typeface="Courier New" pitchFamily="34" charset="-120"/>
              </a:rPr>
              <a:t>T5   +13.6</a:t>
            </a:r>
            <a:endParaRPr lang="en-US" sz="1400" dirty="0"/>
          </a:p>
          <a:p>
            <a:pPr indent="0" marL="0">
              <a:lnSpc>
                <a:spcPct val="130000"/>
              </a:lnSpc>
              <a:buNone/>
            </a:pPr>
            <a:r>
              <a:rPr lang="en-US" sz="1400" dirty="0">
                <a:solidFill>
                  <a:srgbClr val="1B2A41"/>
                </a:solidFill>
                <a:latin typeface="Courier New" pitchFamily="34" charset="0"/>
                <a:ea typeface="Courier New" pitchFamily="34" charset="-122"/>
                <a:cs typeface="Courier New" pitchFamily="34" charset="-120"/>
              </a:rPr>
              <a:t>T6   +13.4</a:t>
            </a:r>
            <a:endParaRPr lang="en-US" sz="1400" dirty="0"/>
          </a:p>
          <a:p>
            <a:pPr indent="0" marL="0">
              <a:lnSpc>
                <a:spcPct val="130000"/>
              </a:lnSpc>
              <a:buNone/>
            </a:pPr>
            <a:r>
              <a:rPr lang="en-US" sz="1400" dirty="0">
                <a:solidFill>
                  <a:srgbClr val="1B2A41"/>
                </a:solidFill>
                <a:latin typeface="Courier New" pitchFamily="34" charset="0"/>
                <a:ea typeface="Courier New" pitchFamily="34" charset="-122"/>
                <a:cs typeface="Courier New" pitchFamily="34" charset="-120"/>
              </a:rPr>
              <a:t>T7   +12.7</a:t>
            </a:r>
            <a:endParaRPr lang="en-US" sz="1400" dirty="0"/>
          </a:p>
        </p:txBody>
      </p:sp>
      <p:sp>
        <p:nvSpPr>
          <p:cNvPr id="18" name="Text 14"/>
          <p:cNvSpPr txBox="1"/>
          <p:nvPr/>
        </p:nvSpPr>
        <p:spPr>
          <a:xfrm>
            <a:off x="8458200" y="5394960"/>
            <a:ext cx="3017520" cy="54864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points of tool accuracy recovered with perfect ASR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5B6B7F"/>
                </a:solidFill>
                <a:latin typeface="Calibri" pitchFamily="34" charset="0"/>
                <a:ea typeface="Calibri" pitchFamily="34" charset="-122"/>
                <a:cs typeface="Calibri" pitchFamily="34" charset="-120"/>
              </a:rPr>
              <a:t>BACKUP</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Audio2Tool vs. SLU corpora (paper Table 1)</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194560"/>
                <a:gridCol w="1463040"/>
                <a:gridCol w="1828800"/>
                <a:gridCol w="2011680"/>
                <a:gridCol w="1463040"/>
                <a:gridCol w="2130552"/>
              </a:tblGrid>
              <a:tr h="43891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Dataset</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Domains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Intents / tools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Slots / parameters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Multi-intent</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0F1B2D"/>
                    </a:solidFill>
                  </a:tcPr>
                </a:tc>
              </a:tr>
              <a:tr h="438912">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ATIS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41</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intent + slots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38912">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SNIPS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intent + slots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38912">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FSC</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intent + slots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38912">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SLURP</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46</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56</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intent + slots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38912">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MixATIS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41</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intent + slots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38912">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MixSNIPS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intent + slots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38912">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MAC-SLU</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81</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192</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dirty="0">
                          <a:solidFill>
                            <a:srgbClr val="0F1B2D"/>
                          </a:solidFill>
                          <a:latin typeface="Calibri" pitchFamily="34" charset="0"/>
                          <a:ea typeface="Calibri" pitchFamily="34" charset="-122"/>
                          <a:cs typeface="Calibri" pitchFamily="34" charset="-120"/>
                        </a:rPr>
                        <a:t>intent + slots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438912">
                <a:tc>
                  <a:txBody>
                    <a:bodyPr/>
                    <a:lstStyle/>
                    <a:p>
                      <a:pPr algn="ctr" indent="0" marL="0">
                        <a:buNone/>
                      </a:pPr>
                      <a:r>
                        <a:rPr lang="en-US" sz="1400" b="1" dirty="0">
                          <a:solidFill>
                            <a:srgbClr val="0B7F8A"/>
                          </a:solidFill>
                          <a:latin typeface="Calibri" pitchFamily="34" charset="0"/>
                          <a:ea typeface="Calibri" pitchFamily="34" charset="-122"/>
                          <a:cs typeface="Calibri" pitchFamily="34" charset="-120"/>
                        </a:rPr>
                        <a:t>Audio2Tool</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b="1" dirty="0">
                          <a:solidFill>
                            <a:srgbClr val="0F1B2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b="1" dirty="0">
                          <a:solidFill>
                            <a:srgbClr val="0F1B2D"/>
                          </a:solidFill>
                          <a:latin typeface="Calibri" pitchFamily="34" charset="0"/>
                          <a:ea typeface="Calibri" pitchFamily="34" charset="-122"/>
                          <a:cs typeface="Calibri" pitchFamily="34" charset="-120"/>
                        </a:rPr>
                        <a:t>152</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b="1" dirty="0">
                          <a:solidFill>
                            <a:srgbClr val="0F1B2D"/>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b="1" dirty="0">
                          <a:solidFill>
                            <a:srgbClr val="0F1B2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400" b="1" dirty="0">
                          <a:solidFill>
                            <a:srgbClr val="0B7F8A"/>
                          </a:solidFill>
                          <a:latin typeface="Calibri" pitchFamily="34" charset="0"/>
                          <a:ea typeface="Calibri" pitchFamily="34" charset="-122"/>
                          <a:cs typeface="Calibri" pitchFamily="34" charset="-120"/>
                        </a:rPr>
                        <a:t>executable tool call(s)</a:t>
                      </a:r>
                      <a:endParaRPr lang="en-US" sz="1400" dirty="0">
                        <a:latin typeface="Calibri" charset="0"/>
                        <a:ea typeface="Calibri" charset="0"/>
                        <a:cs typeface="Calibri" charset="0"/>
                      </a:endParaRPr>
                    </a:p>
                  </a:txBody>
                  <a:tcPr marL="91440" marR="9144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bl>
          </a:graphicData>
        </a:graphic>
      </p:graphicFrame>
      <p:sp>
        <p:nvSpPr>
          <p:cNvPr id="15" name="Text 11"/>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300" i="1" dirty="0">
                <a:solidFill>
                  <a:srgbClr val="5B6B7F"/>
                </a:solidFill>
                <a:latin typeface="Calibri" pitchFamily="34" charset="0"/>
                <a:ea typeface="Calibri" pitchFamily="34" charset="-122"/>
                <a:cs typeface="Calibri" pitchFamily="34" charset="-120"/>
              </a:rPr>
              <a:t>Slot count is lower by construction: tool arguments are typed parameters with constrained ranges, not free-text spans.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t"/>
          <a:lstStyle/>
          <a:p>
            <a:pPr indent="0" marL="0">
              <a:buNone/>
            </a:pPr>
            <a:r>
              <a:rPr lang="en-US" sz="1200" b="1" spc="300" kern="0" dirty="0">
                <a:solidFill>
                  <a:srgbClr val="5B6B7F"/>
                </a:solidFill>
                <a:latin typeface="Calibri" pitchFamily="34" charset="0"/>
                <a:ea typeface="Calibri" pitchFamily="34" charset="-122"/>
                <a:cs typeface="Calibri" pitchFamily="34" charset="-120"/>
              </a:rPr>
              <a:t>BACKUP</a:t>
            </a:r>
            <a:endParaRPr lang="en-US" sz="1200" dirty="0"/>
          </a:p>
        </p:txBody>
      </p:sp>
      <p:sp>
        <p:nvSpPr>
          <p:cNvPr id="3" name="Text 1"/>
          <p:cNvSpPr txBox="1"/>
          <p:nvPr/>
        </p:nvSpPr>
        <p:spPr>
          <a:xfrm>
            <a:off x="548640" y="548640"/>
            <a:ext cx="10332720" cy="914400"/>
          </a:xfrm>
          <a:prstGeom prst="rect">
            <a:avLst/>
          </a:prstGeom>
          <a:noFill/>
          <a:ln/>
        </p:spPr>
        <p:txBody>
          <a:bodyPr wrap="square" lIns="0" tIns="0" rIns="0" bIns="0" rtlCol="0" anchor="t"/>
          <a:lstStyle/>
          <a:p>
            <a:pPr indent="0" marL="0">
              <a:buNone/>
            </a:pPr>
            <a:r>
              <a:rPr lang="en-US" sz="2800" b="1" dirty="0">
                <a:solidFill>
                  <a:srgbClr val="0F1B2D"/>
                </a:solidFill>
                <a:latin typeface="Calibri" pitchFamily="34" charset="0"/>
                <a:ea typeface="Calibri" pitchFamily="34" charset="-122"/>
                <a:cs typeface="Calibri" pitchFamily="34" charset="-120"/>
              </a:rPr>
              <a:t>Tier generation details: word budgets, prompt inputs and label fields (paper Fig. 1)</a:t>
            </a:r>
            <a:endParaRPr lang="en-US" sz="2800" dirty="0"/>
          </a:p>
        </p:txBody>
      </p:sp>
      <p:sp>
        <p:nvSpPr>
          <p:cNvPr id="4" name="Shape 2"/>
          <p:cNvSpPr/>
          <p:nvPr/>
        </p:nvSpPr>
        <p:spPr>
          <a:xfrm>
            <a:off x="11018520" y="536296"/>
            <a:ext cx="50189" cy="134417"/>
          </a:xfrm>
          <a:prstGeom prst="roundRect">
            <a:avLst>
              <a:gd name="adj" fmla="val 50000"/>
            </a:avLst>
          </a:prstGeom>
          <a:solidFill>
            <a:srgbClr val="0FA3B1"/>
          </a:solidFill>
          <a:ln w="12700">
            <a:solidFill>
              <a:srgbClr val="0FA3B1"/>
            </a:solidFill>
            <a:prstDash val="solid"/>
          </a:ln>
        </p:spPr>
      </p:sp>
      <p:sp>
        <p:nvSpPr>
          <p:cNvPr id="5" name="Shape 3"/>
          <p:cNvSpPr/>
          <p:nvPr/>
        </p:nvSpPr>
        <p:spPr>
          <a:xfrm>
            <a:off x="11116835" y="469087"/>
            <a:ext cx="50189" cy="268834"/>
          </a:xfrm>
          <a:prstGeom prst="roundRect">
            <a:avLst>
              <a:gd name="adj" fmla="val 50000"/>
            </a:avLst>
          </a:prstGeom>
          <a:solidFill>
            <a:srgbClr val="0FA3B1"/>
          </a:solidFill>
          <a:ln w="12700">
            <a:solidFill>
              <a:srgbClr val="0FA3B1"/>
            </a:solidFill>
            <a:prstDash val="solid"/>
          </a:ln>
        </p:spPr>
      </p:sp>
      <p:sp>
        <p:nvSpPr>
          <p:cNvPr id="6" name="Shape 4"/>
          <p:cNvSpPr/>
          <p:nvPr/>
        </p:nvSpPr>
        <p:spPr>
          <a:xfrm>
            <a:off x="11215150" y="411480"/>
            <a:ext cx="50189" cy="384048"/>
          </a:xfrm>
          <a:prstGeom prst="roundRect">
            <a:avLst>
              <a:gd name="adj" fmla="val 50000"/>
            </a:avLst>
          </a:prstGeom>
          <a:solidFill>
            <a:srgbClr val="0FA3B1"/>
          </a:solidFill>
          <a:ln w="12700">
            <a:solidFill>
              <a:srgbClr val="0FA3B1"/>
            </a:solidFill>
            <a:prstDash val="solid"/>
          </a:ln>
        </p:spPr>
      </p:sp>
      <p:sp>
        <p:nvSpPr>
          <p:cNvPr id="7" name="Shape 5"/>
          <p:cNvSpPr/>
          <p:nvPr/>
        </p:nvSpPr>
        <p:spPr>
          <a:xfrm>
            <a:off x="11313466" y="488290"/>
            <a:ext cx="50189" cy="230429"/>
          </a:xfrm>
          <a:prstGeom prst="roundRect">
            <a:avLst>
              <a:gd name="adj" fmla="val 50000"/>
            </a:avLst>
          </a:prstGeom>
          <a:solidFill>
            <a:srgbClr val="0FA3B1"/>
          </a:solidFill>
          <a:ln w="12700">
            <a:solidFill>
              <a:srgbClr val="0FA3B1"/>
            </a:solidFill>
            <a:prstDash val="solid"/>
          </a:ln>
        </p:spPr>
      </p:sp>
      <p:sp>
        <p:nvSpPr>
          <p:cNvPr id="8" name="Shape 6"/>
          <p:cNvSpPr/>
          <p:nvPr/>
        </p:nvSpPr>
        <p:spPr>
          <a:xfrm>
            <a:off x="11411781" y="440284"/>
            <a:ext cx="50189" cy="326441"/>
          </a:xfrm>
          <a:prstGeom prst="roundRect">
            <a:avLst>
              <a:gd name="adj" fmla="val 50000"/>
            </a:avLst>
          </a:prstGeom>
          <a:solidFill>
            <a:srgbClr val="0FA3B1"/>
          </a:solidFill>
          <a:ln w="12700">
            <a:solidFill>
              <a:srgbClr val="0FA3B1"/>
            </a:solidFill>
            <a:prstDash val="solid"/>
          </a:ln>
        </p:spPr>
      </p:sp>
      <p:sp>
        <p:nvSpPr>
          <p:cNvPr id="9" name="Shape 7"/>
          <p:cNvSpPr/>
          <p:nvPr/>
        </p:nvSpPr>
        <p:spPr>
          <a:xfrm>
            <a:off x="11510096" y="517093"/>
            <a:ext cx="50189" cy="172822"/>
          </a:xfrm>
          <a:prstGeom prst="roundRect">
            <a:avLst>
              <a:gd name="adj" fmla="val 50000"/>
            </a:avLst>
          </a:prstGeom>
          <a:solidFill>
            <a:srgbClr val="0FA3B1"/>
          </a:solidFill>
          <a:ln w="12700">
            <a:solidFill>
              <a:srgbClr val="0FA3B1"/>
            </a:solidFill>
            <a:prstDash val="solid"/>
          </a:ln>
        </p:spPr>
      </p:sp>
      <p:sp>
        <p:nvSpPr>
          <p:cNvPr id="10" name="Shape 8"/>
          <p:cNvSpPr/>
          <p:nvPr/>
        </p:nvSpPr>
        <p:spPr>
          <a:xfrm>
            <a:off x="11608411" y="555498"/>
            <a:ext cx="50189" cy="96012"/>
          </a:xfrm>
          <a:prstGeom prst="roundRect">
            <a:avLst>
              <a:gd name="adj" fmla="val 50000"/>
            </a:avLst>
          </a:prstGeom>
          <a:solidFill>
            <a:srgbClr val="0FA3B1"/>
          </a:solidFill>
          <a:ln w="12700">
            <a:solidFill>
              <a:srgbClr val="0FA3B1"/>
            </a:solidFill>
            <a:prstDash val="solid"/>
          </a:ln>
        </p:spPr>
      </p:sp>
      <p:sp>
        <p:nvSpPr>
          <p:cNvPr id="11" name="Text 9"/>
          <p:cNvSpPr txBox="1"/>
          <p:nvPr/>
        </p:nvSpPr>
        <p:spPr>
          <a:xfrm>
            <a:off x="548640" y="6473952"/>
            <a:ext cx="6400800" cy="256032"/>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Audio2Tool  ·  Interspeech 2026  ·  Sydney</a:t>
            </a:r>
            <a:endParaRPr lang="en-US" sz="1000" dirty="0"/>
          </a:p>
        </p:txBody>
      </p:sp>
      <p:sp>
        <p:nvSpPr>
          <p:cNvPr id="12" name="Text 10"/>
          <p:cNvSpPr txBox="1"/>
          <p:nvPr/>
        </p:nvSpPr>
        <p:spPr>
          <a:xfrm>
            <a:off x="11109960" y="6473952"/>
            <a:ext cx="530352" cy="256032"/>
          </a:xfrm>
          <a:prstGeom prst="rect">
            <a:avLst/>
          </a:prstGeom>
          <a:noFill/>
          <a:ln/>
        </p:spPr>
        <p:txBody>
          <a:bodyPr wrap="square" lIns="0" tIns="0" rIns="0" bIns="0" rtlCol="0" anchor="t"/>
          <a:lstStyle/>
          <a:p>
            <a:pPr algn="r" indent="0" marL="0">
              <a:buNone/>
            </a:pPr>
            <a:r>
              <a:rPr lang="en-US" sz="1000" dirty="0">
                <a:solidFill>
                  <a:srgbClr val="8A97A8"/>
                </a:solidFill>
                <a:latin typeface="Calibri" pitchFamily="34" charset="0"/>
                <a:ea typeface="Calibri" pitchFamily="34" charset="-122"/>
                <a:cs typeface="Calibri" pitchFamily="34" charset="-120"/>
              </a:rPr>
              <a:t>20</a:t>
            </a:r>
            <a:endParaRPr lang="en-US" sz="1000" dirty="0"/>
          </a:p>
        </p:txBody>
      </p:sp>
      <p:pic>
        <p:nvPicPr>
          <p:cNvPr id="14" name="Image 0" descr="/home/user/Audio2Tool/presentation/src/assets/fig1_tiers.png">    </p:cNvPr>
          <p:cNvPicPr>
            <a:picLocks noChangeAspect="1"/>
          </p:cNvPicPr>
          <p:nvPr/>
        </p:nvPicPr>
        <p:blipFill>
          <a:blip r:embed="rId1"/>
          <a:stretch>
            <a:fillRect/>
          </a:stretch>
        </p:blipFill>
        <p:spPr>
          <a:xfrm>
            <a:off x="548640" y="2011680"/>
            <a:ext cx="11091672" cy="1965960"/>
          </a:xfrm>
          <a:prstGeom prst="rect">
            <a:avLst/>
          </a:prstGeom>
        </p:spPr>
      </p:pic>
      <p:sp>
        <p:nvSpPr>
          <p:cNvPr id="15" name="Shape 11"/>
          <p:cNvSpPr/>
          <p:nvPr/>
        </p:nvSpPr>
        <p:spPr>
          <a:xfrm>
            <a:off x="548640" y="4434840"/>
            <a:ext cx="5468112" cy="658368"/>
          </a:xfrm>
          <a:prstGeom prst="roundRect">
            <a:avLst>
              <a:gd name="adj" fmla="val 16667"/>
            </a:avLst>
          </a:prstGeom>
          <a:solidFill>
            <a:srgbClr val="F1F5F9"/>
          </a:solidFill>
          <a:ln w="12700">
            <a:solidFill>
              <a:srgbClr val="F1F5F9"/>
            </a:solidFill>
            <a:prstDash val="solid"/>
          </a:ln>
        </p:spPr>
      </p:sp>
      <p:sp>
        <p:nvSpPr>
          <p:cNvPr id="16" name="Text 12"/>
          <p:cNvSpPr txBox="1"/>
          <p:nvPr/>
        </p:nvSpPr>
        <p:spPr>
          <a:xfrm>
            <a:off x="731520" y="4434840"/>
            <a:ext cx="5120640" cy="658368"/>
          </a:xfrm>
          <a:prstGeom prst="rect">
            <a:avLst/>
          </a:prstGeom>
          <a:noFill/>
          <a:ln/>
        </p:spPr>
        <p:txBody>
          <a:bodyPr wrap="square" lIns="0" tIns="0" rIns="0" bIns="0"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Generators   </a:t>
            </a:r>
            <a:pPr indent="0" marL="0">
              <a:buNone/>
            </a:pPr>
            <a:r>
              <a:rPr lang="en-US" sz="1300" dirty="0">
                <a:solidFill>
                  <a:srgbClr val="1B2A41"/>
                </a:solidFill>
                <a:latin typeface="Calibri" pitchFamily="34" charset="0"/>
                <a:ea typeface="Calibri" pitchFamily="34" charset="-122"/>
                <a:cs typeface="Calibri" pitchFamily="34" charset="-120"/>
              </a:rPr>
              <a:t>GPT-5.2 · Gemini 2.5 Pro · Claude Opus</a:t>
            </a:r>
            <a:endParaRPr lang="en-US" sz="1300" dirty="0"/>
          </a:p>
        </p:txBody>
      </p:sp>
      <p:sp>
        <p:nvSpPr>
          <p:cNvPr id="17" name="Shape 13"/>
          <p:cNvSpPr/>
          <p:nvPr/>
        </p:nvSpPr>
        <p:spPr>
          <a:xfrm>
            <a:off x="6172200" y="4434840"/>
            <a:ext cx="5468112" cy="658368"/>
          </a:xfrm>
          <a:prstGeom prst="roundRect">
            <a:avLst>
              <a:gd name="adj" fmla="val 16667"/>
            </a:avLst>
          </a:prstGeom>
          <a:solidFill>
            <a:srgbClr val="F1F5F9"/>
          </a:solidFill>
          <a:ln w="12700">
            <a:solidFill>
              <a:srgbClr val="F1F5F9"/>
            </a:solidFill>
            <a:prstDash val="solid"/>
          </a:ln>
        </p:spPr>
      </p:sp>
      <p:sp>
        <p:nvSpPr>
          <p:cNvPr id="18" name="Text 14"/>
          <p:cNvSpPr txBox="1"/>
          <p:nvPr/>
        </p:nvSpPr>
        <p:spPr>
          <a:xfrm>
            <a:off x="6355080" y="4434840"/>
            <a:ext cx="5120640" cy="658368"/>
          </a:xfrm>
          <a:prstGeom prst="rect">
            <a:avLst/>
          </a:prstGeom>
          <a:noFill/>
          <a:ln/>
        </p:spPr>
        <p:txBody>
          <a:bodyPr wrap="square" lIns="0" tIns="0" rIns="0" bIns="0"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Judges (disjoint)   </a:t>
            </a:r>
            <a:pPr indent="0" marL="0">
              <a:buNone/>
            </a:pPr>
            <a:r>
              <a:rPr lang="en-US" sz="1300" dirty="0">
                <a:solidFill>
                  <a:srgbClr val="1B2A41"/>
                </a:solidFill>
                <a:latin typeface="Calibri" pitchFamily="34" charset="0"/>
                <a:ea typeface="Calibri" pitchFamily="34" charset="-122"/>
                <a:cs typeface="Calibri" pitchFamily="34" charset="-120"/>
              </a:rPr>
              <a:t>GPT-5.1 · Gemini 2.5 Pro: correctness, difficulty, variability</a:t>
            </a:r>
            <a:endParaRPr lang="en-US" sz="1300" dirty="0"/>
          </a:p>
        </p:txBody>
      </p:sp>
      <p:sp>
        <p:nvSpPr>
          <p:cNvPr id="19" name="Shape 15"/>
          <p:cNvSpPr/>
          <p:nvPr/>
        </p:nvSpPr>
        <p:spPr>
          <a:xfrm>
            <a:off x="548640" y="5212080"/>
            <a:ext cx="5468112" cy="658368"/>
          </a:xfrm>
          <a:prstGeom prst="roundRect">
            <a:avLst>
              <a:gd name="adj" fmla="val 16667"/>
            </a:avLst>
          </a:prstGeom>
          <a:solidFill>
            <a:srgbClr val="F1F5F9"/>
          </a:solidFill>
          <a:ln w="12700">
            <a:solidFill>
              <a:srgbClr val="F1F5F9"/>
            </a:solidFill>
            <a:prstDash val="solid"/>
          </a:ln>
        </p:spPr>
      </p:sp>
      <p:sp>
        <p:nvSpPr>
          <p:cNvPr id="20" name="Text 16"/>
          <p:cNvSpPr txBox="1"/>
          <p:nvPr/>
        </p:nvSpPr>
        <p:spPr>
          <a:xfrm>
            <a:off x="731520" y="5212080"/>
            <a:ext cx="5120640" cy="658368"/>
          </a:xfrm>
          <a:prstGeom prst="rect">
            <a:avLst/>
          </a:prstGeom>
          <a:noFill/>
          <a:ln/>
        </p:spPr>
        <p:txBody>
          <a:bodyPr wrap="square" lIns="0" tIns="0" rIns="0" bIns="0"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Verification   </a:t>
            </a:r>
            <a:pPr indent="0" marL="0">
              <a:buNone/>
            </a:pPr>
            <a:r>
              <a:rPr lang="en-US" sz="1300" dirty="0">
                <a:solidFill>
                  <a:srgbClr val="1B2A41"/>
                </a:solidFill>
                <a:latin typeface="Calibri" pitchFamily="34" charset="0"/>
                <a:ea typeface="Calibri" pitchFamily="34" charset="-122"/>
                <a:cs typeface="Calibri" pitchFamily="34" charset="-120"/>
              </a:rPr>
              <a:t>manual check of every judge-flagged query and its gold tools</a:t>
            </a:r>
            <a:endParaRPr lang="en-US" sz="1300" dirty="0"/>
          </a:p>
        </p:txBody>
      </p:sp>
      <p:sp>
        <p:nvSpPr>
          <p:cNvPr id="21" name="Shape 17"/>
          <p:cNvSpPr/>
          <p:nvPr/>
        </p:nvSpPr>
        <p:spPr>
          <a:xfrm>
            <a:off x="6172200" y="5212080"/>
            <a:ext cx="5468112" cy="658368"/>
          </a:xfrm>
          <a:prstGeom prst="roundRect">
            <a:avLst>
              <a:gd name="adj" fmla="val 16667"/>
            </a:avLst>
          </a:prstGeom>
          <a:solidFill>
            <a:srgbClr val="F1F5F9"/>
          </a:solidFill>
          <a:ln w="12700">
            <a:solidFill>
              <a:srgbClr val="F1F5F9"/>
            </a:solidFill>
            <a:prstDash val="solid"/>
          </a:ln>
        </p:spPr>
      </p:sp>
      <p:sp>
        <p:nvSpPr>
          <p:cNvPr id="22" name="Text 18"/>
          <p:cNvSpPr txBox="1"/>
          <p:nvPr/>
        </p:nvSpPr>
        <p:spPr>
          <a:xfrm>
            <a:off x="6355080" y="5212080"/>
            <a:ext cx="5120640" cy="658368"/>
          </a:xfrm>
          <a:prstGeom prst="rect">
            <a:avLst/>
          </a:prstGeom>
          <a:noFill/>
          <a:ln/>
        </p:spPr>
        <p:txBody>
          <a:bodyPr wrap="square" lIns="0" tIns="0" rIns="0" bIns="0"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TTS   </a:t>
            </a:r>
            <a:pPr indent="0" marL="0">
              <a:buNone/>
            </a:pPr>
            <a:r>
              <a:rPr lang="en-US" sz="1300" dirty="0">
                <a:solidFill>
                  <a:srgbClr val="1B2A41"/>
                </a:solidFill>
                <a:latin typeface="Calibri" pitchFamily="34" charset="0"/>
                <a:ea typeface="Calibri" pitchFamily="34" charset="-122"/>
                <a:cs typeface="Calibri" pitchFamily="34" charset="-120"/>
              </a:rPr>
              <a:t>Qwen3-TTS · CosyVoice-3, zero-shot voice cloning; noise mixed per Algorithm 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Audio2Tool: Speak, Call, Act - Interspeech 2026 oral</dc:title>
  <dc:subject>PptxGenJS Presentation</dc:subject>
  <dc:creator>Ramit Pahwa</dc:creator>
  <cp:lastModifiedBy>Ramit Pahwa</cp:lastModifiedBy>
  <cp:revision>1</cp:revision>
  <dcterms:created xsi:type="dcterms:W3CDTF">2026-09-12T04:16:29Z</dcterms:created>
  <dcterms:modified xsi:type="dcterms:W3CDTF">2026-09-12T04:16:29Z</dcterms:modified>
</cp:coreProperties>
</file>